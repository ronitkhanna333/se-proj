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1.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8869680" y="1554480"/>
            <a:ext cx="2377440" cy="2377440"/>
          </a:xfrm>
          <a:prstGeom prst="ellipse">
            <a:avLst/>
          </a:prstGeom>
          <a:solidFill>
            <a:srgbClr val="16205A"/>
          </a:solidFill>
          <a:ln/>
        </p:spPr>
      </p:sp>
      <p:pic>
        <p:nvPicPr>
          <p:cNvPr id="4" name="Image 0" descr="/home/claude/govassist/icons/file_white.png">    </p:cNvPr>
          <p:cNvPicPr>
            <a:picLocks noChangeAspect="1"/>
          </p:cNvPicPr>
          <p:nvPr/>
        </p:nvPicPr>
        <p:blipFill>
          <a:blip r:embed="rId1"/>
          <a:stretch>
            <a:fillRect/>
          </a:stretch>
        </p:blipFill>
        <p:spPr>
          <a:xfrm>
            <a:off x="9487814" y="2172614"/>
            <a:ext cx="1141171" cy="1141171"/>
          </a:xfrm>
          <a:prstGeom prst="rect">
            <a:avLst/>
          </a:prstGeom>
        </p:spPr>
      </p:pic>
      <p:sp>
        <p:nvSpPr>
          <p:cNvPr id="5" name="Text 2"/>
          <p:cNvSpPr/>
          <p:nvPr/>
        </p:nvSpPr>
        <p:spPr>
          <a:xfrm>
            <a:off x="640080" y="1965960"/>
            <a:ext cx="7863840" cy="10972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GovAssist</a:t>
            </a:r>
            <a:endParaRPr lang="en-US" sz="4800" dirty="0"/>
          </a:p>
        </p:txBody>
      </p:sp>
      <p:sp>
        <p:nvSpPr>
          <p:cNvPr id="6" name="Text 3"/>
          <p:cNvSpPr/>
          <p:nvPr/>
        </p:nvSpPr>
        <p:spPr>
          <a:xfrm>
            <a:off x="640080" y="2971800"/>
            <a:ext cx="7863840" cy="731520"/>
          </a:xfrm>
          <a:prstGeom prst="rect">
            <a:avLst/>
          </a:prstGeom>
          <a:noFill/>
          <a:ln/>
        </p:spPr>
        <p:txBody>
          <a:bodyPr wrap="square" lIns="0" tIns="0" rIns="0" bIns="0" rtlCol="0" anchor="ctr"/>
          <a:lstStyle/>
          <a:p>
            <a:pPr indent="0" marL="0">
              <a:buNone/>
            </a:pPr>
            <a:r>
              <a:rPr lang="en-US" sz="1900" dirty="0">
                <a:solidFill>
                  <a:srgbClr val="CADCFC"/>
                </a:solidFill>
                <a:latin typeface="Calibri" pitchFamily="34" charset="0"/>
                <a:ea typeface="Calibri" pitchFamily="34" charset="-122"/>
                <a:cs typeface="Calibri" pitchFamily="34" charset="-120"/>
              </a:rPr>
              <a:t>A grounded copilot for tax filing, GST compliance, and scheme eligibility</a:t>
            </a:r>
            <a:endParaRPr lang="en-US" sz="1900" dirty="0"/>
          </a:p>
        </p:txBody>
      </p:sp>
      <p:sp>
        <p:nvSpPr>
          <p:cNvPr id="7" name="Text 4"/>
          <p:cNvSpPr/>
          <p:nvPr/>
        </p:nvSpPr>
        <p:spPr>
          <a:xfrm>
            <a:off x="640080" y="5120640"/>
            <a:ext cx="7315200" cy="320040"/>
          </a:xfrm>
          <a:prstGeom prst="rect">
            <a:avLst/>
          </a:prstGeom>
          <a:noFill/>
          <a:ln/>
        </p:spPr>
        <p:txBody>
          <a:bodyPr wrap="square" lIns="0" tIns="0" rIns="0" bIns="0" rtlCol="0" anchor="ctr"/>
          <a:lstStyle/>
          <a:p>
            <a:pPr indent="0" marL="0">
              <a:buNone/>
            </a:pPr>
            <a:r>
              <a:rPr lang="en-US" sz="1300" i="1" dirty="0">
                <a:solidFill>
                  <a:srgbClr val="9FB0DC"/>
                </a:solidFill>
                <a:latin typeface="Calibri" pitchFamily="34" charset="0"/>
                <a:ea typeface="Calibri" pitchFamily="34" charset="-122"/>
                <a:cs typeface="Calibri" pitchFamily="34" charset="-120"/>
              </a:rPr>
              <a:t>Software Engineering Course Project</a:t>
            </a:r>
            <a:endParaRPr lang="en-US" sz="1300" dirty="0"/>
          </a:p>
        </p:txBody>
      </p:sp>
      <p:sp>
        <p:nvSpPr>
          <p:cNvPr id="8" name="Text 5"/>
          <p:cNvSpPr/>
          <p:nvPr/>
        </p:nvSpPr>
        <p:spPr>
          <a:xfrm>
            <a:off x="640080" y="5468112"/>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Ronit   ·   Bhavneet   ·   Shreyas</a:t>
            </a:r>
            <a:endParaRPr lang="en-US" sz="1600" dirty="0"/>
          </a:p>
        </p:txBody>
      </p:sp>
      <p:sp>
        <p:nvSpPr>
          <p:cNvPr id="9" name="Text 6"/>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8FA3D9"/>
                </a:solidFill>
                <a:latin typeface="Calibri" pitchFamily="34" charset="0"/>
                <a:ea typeface="Calibri" pitchFamily="34" charset="-122"/>
                <a:cs typeface="Calibri" pitchFamily="34" charset="-120"/>
              </a:rPr>
              <a:t>GovAssist  |  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Our Team</a:t>
            </a:r>
            <a:endParaRPr lang="en-US" sz="3400" dirty="0"/>
          </a:p>
        </p:txBody>
      </p:sp>
      <p:sp>
        <p:nvSpPr>
          <p:cNvPr id="3" name="Text 1"/>
          <p:cNvSpPr/>
          <p:nvPr/>
        </p:nvSpPr>
        <p:spPr>
          <a:xfrm>
            <a:off x="640080" y="1051560"/>
            <a:ext cx="8229600" cy="365760"/>
          </a:xfrm>
          <a:prstGeom prst="rect">
            <a:avLst/>
          </a:prstGeom>
          <a:noFill/>
          <a:ln/>
        </p:spPr>
        <p:txBody>
          <a:bodyPr wrap="square" lIns="0" tIns="0" rIns="0" bIns="0"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Members, strengths, and what each of us needs to learn</a:t>
            </a:r>
            <a:endParaRPr lang="en-US" sz="1400" dirty="0"/>
          </a:p>
        </p:txBody>
      </p:sp>
      <p:sp>
        <p:nvSpPr>
          <p:cNvPr id="4" name="Shape 2"/>
          <p:cNvSpPr/>
          <p:nvPr/>
        </p:nvSpPr>
        <p:spPr>
          <a:xfrm>
            <a:off x="640080" y="1737360"/>
            <a:ext cx="3520440" cy="3383280"/>
          </a:xfrm>
          <a:prstGeom prst="roundRect">
            <a:avLst>
              <a:gd name="adj" fmla="val 3243"/>
            </a:avLst>
          </a:prstGeom>
          <a:solidFill>
            <a:srgbClr val="F7F9FC"/>
          </a:solidFill>
          <a:ln/>
        </p:spPr>
      </p:sp>
      <p:sp>
        <p:nvSpPr>
          <p:cNvPr id="5" name="Shape 3"/>
          <p:cNvSpPr/>
          <p:nvPr/>
        </p:nvSpPr>
        <p:spPr>
          <a:xfrm>
            <a:off x="1943100" y="2057400"/>
            <a:ext cx="914400" cy="914400"/>
          </a:xfrm>
          <a:prstGeom prst="ellipse">
            <a:avLst/>
          </a:prstGeom>
          <a:solidFill>
            <a:srgbClr val="1E2761"/>
          </a:solidFill>
          <a:ln/>
        </p:spPr>
      </p:sp>
      <p:pic>
        <p:nvPicPr>
          <p:cNvPr id="6" name="Image 0" descr="/home/claude/govassist/icons/users_white.png">    </p:cNvPr>
          <p:cNvPicPr>
            <a:picLocks noChangeAspect="1"/>
          </p:cNvPicPr>
          <p:nvPr/>
        </p:nvPicPr>
        <p:blipFill>
          <a:blip r:embed="rId1"/>
          <a:stretch>
            <a:fillRect/>
          </a:stretch>
        </p:blipFill>
        <p:spPr>
          <a:xfrm>
            <a:off x="2180844" y="2295144"/>
            <a:ext cx="438912" cy="438912"/>
          </a:xfrm>
          <a:prstGeom prst="rect">
            <a:avLst/>
          </a:prstGeom>
        </p:spPr>
      </p:pic>
      <p:sp>
        <p:nvSpPr>
          <p:cNvPr id="7" name="Text 4"/>
          <p:cNvSpPr/>
          <p:nvPr/>
        </p:nvSpPr>
        <p:spPr>
          <a:xfrm>
            <a:off x="868680" y="3154680"/>
            <a:ext cx="3063240" cy="36576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Ronit</a:t>
            </a:r>
            <a:endParaRPr lang="en-US" sz="1900" dirty="0"/>
          </a:p>
        </p:txBody>
      </p:sp>
      <p:sp>
        <p:nvSpPr>
          <p:cNvPr id="8" name="Text 5"/>
          <p:cNvSpPr/>
          <p:nvPr/>
        </p:nvSpPr>
        <p:spPr>
          <a:xfrm>
            <a:off x="914400" y="3566160"/>
            <a:ext cx="2971800" cy="777240"/>
          </a:xfrm>
          <a:prstGeom prst="rect">
            <a:avLst/>
          </a:prstGeom>
          <a:noFill/>
          <a:ln/>
        </p:spPr>
        <p:txBody>
          <a:bodyPr wrap="square" lIns="0" tIns="0" rIns="0" bIns="0" rtlCol="0" anchor="t"/>
          <a:lstStyle/>
          <a:p>
            <a:pPr algn="l" indent="0" marL="0">
              <a:buNone/>
            </a:pPr>
            <a:r>
              <a:rPr lang="en-US" sz="1200" b="1" dirty="0">
                <a:solidFill>
                  <a:srgbClr val="C9A227"/>
                </a:solidFill>
                <a:latin typeface="Calibri" pitchFamily="34" charset="0"/>
                <a:ea typeface="Calibri" pitchFamily="34" charset="-122"/>
                <a:cs typeface="Calibri" pitchFamily="34" charset="-120"/>
              </a:rPr>
              <a:t>Strength
</a:t>
            </a:r>
            <a:pPr algn="l" indent="0" marL="0">
              <a:buNone/>
            </a:pPr>
            <a:r>
              <a:rPr lang="en-US" sz="1250" dirty="0">
                <a:solidFill>
                  <a:srgbClr val="2B2B2B"/>
                </a:solidFill>
                <a:latin typeface="Calibri" pitchFamily="34" charset="0"/>
                <a:ea typeface="Calibri" pitchFamily="34" charset="-122"/>
                <a:cs typeface="Calibri" pitchFamily="34" charset="-120"/>
              </a:rPr>
              <a:t>AI and ML systems, agent design, retrieval pipelines</a:t>
            </a:r>
            <a:endParaRPr lang="en-US" sz="1200" dirty="0"/>
          </a:p>
        </p:txBody>
      </p:sp>
      <p:sp>
        <p:nvSpPr>
          <p:cNvPr id="9" name="Text 6"/>
          <p:cNvSpPr/>
          <p:nvPr/>
        </p:nvSpPr>
        <p:spPr>
          <a:xfrm>
            <a:off x="914400" y="4343400"/>
            <a:ext cx="2971800" cy="731520"/>
          </a:xfrm>
          <a:prstGeom prst="rect">
            <a:avLst/>
          </a:prstGeom>
          <a:noFill/>
          <a:ln/>
        </p:spPr>
        <p:txBody>
          <a:bodyPr wrap="square" lIns="0" tIns="0" rIns="0" bIns="0" rtlCol="0" anchor="t"/>
          <a:lstStyle/>
          <a:p>
            <a:pPr algn="l" indent="0" marL="0">
              <a:buNone/>
            </a:pPr>
            <a:r>
              <a:rPr lang="en-US" sz="1200" b="1" dirty="0">
                <a:solidFill>
                  <a:srgbClr val="C9A227"/>
                </a:solidFill>
                <a:latin typeface="Calibri" pitchFamily="34" charset="0"/>
                <a:ea typeface="Calibri" pitchFamily="34" charset="-122"/>
                <a:cs typeface="Calibri" pitchFamily="34" charset="-120"/>
              </a:rPr>
              <a:t>Learning goal
</a:t>
            </a:r>
            <a:pPr algn="l" indent="0" marL="0">
              <a:buNone/>
            </a:pPr>
            <a:r>
              <a:rPr lang="en-US" sz="1250" dirty="0">
                <a:solidFill>
                  <a:srgbClr val="2B2B2B"/>
                </a:solidFill>
                <a:latin typeface="Calibri" pitchFamily="34" charset="0"/>
                <a:ea typeface="Calibri" pitchFamily="34" charset="-122"/>
                <a:cs typeface="Calibri" pitchFamily="34" charset="-120"/>
              </a:rPr>
              <a:t>Web development, to connect the reasoning engine to a real interface</a:t>
            </a:r>
            <a:endParaRPr lang="en-US" sz="1200" dirty="0"/>
          </a:p>
        </p:txBody>
      </p:sp>
      <p:sp>
        <p:nvSpPr>
          <p:cNvPr id="10" name="Shape 7"/>
          <p:cNvSpPr/>
          <p:nvPr/>
        </p:nvSpPr>
        <p:spPr>
          <a:xfrm>
            <a:off x="4480560" y="1737360"/>
            <a:ext cx="3520440" cy="3383280"/>
          </a:xfrm>
          <a:prstGeom prst="roundRect">
            <a:avLst>
              <a:gd name="adj" fmla="val 3243"/>
            </a:avLst>
          </a:prstGeom>
          <a:solidFill>
            <a:srgbClr val="F7F9FC"/>
          </a:solidFill>
          <a:ln/>
        </p:spPr>
      </p:sp>
      <p:sp>
        <p:nvSpPr>
          <p:cNvPr id="11" name="Shape 8"/>
          <p:cNvSpPr/>
          <p:nvPr/>
        </p:nvSpPr>
        <p:spPr>
          <a:xfrm>
            <a:off x="5783580" y="2057400"/>
            <a:ext cx="914400" cy="914400"/>
          </a:xfrm>
          <a:prstGeom prst="ellipse">
            <a:avLst/>
          </a:prstGeom>
          <a:solidFill>
            <a:srgbClr val="1E2761"/>
          </a:solidFill>
          <a:ln/>
        </p:spPr>
      </p:sp>
      <p:pic>
        <p:nvPicPr>
          <p:cNvPr id="12" name="Image 1" descr="/home/claude/govassist/icons/users_white.png">    </p:cNvPr>
          <p:cNvPicPr>
            <a:picLocks noChangeAspect="1"/>
          </p:cNvPicPr>
          <p:nvPr/>
        </p:nvPicPr>
        <p:blipFill>
          <a:blip r:embed="rId2"/>
          <a:stretch>
            <a:fillRect/>
          </a:stretch>
        </p:blipFill>
        <p:spPr>
          <a:xfrm>
            <a:off x="6021324" y="2295144"/>
            <a:ext cx="438912" cy="438912"/>
          </a:xfrm>
          <a:prstGeom prst="rect">
            <a:avLst/>
          </a:prstGeom>
        </p:spPr>
      </p:pic>
      <p:sp>
        <p:nvSpPr>
          <p:cNvPr id="13" name="Text 9"/>
          <p:cNvSpPr/>
          <p:nvPr/>
        </p:nvSpPr>
        <p:spPr>
          <a:xfrm>
            <a:off x="4709160" y="3154680"/>
            <a:ext cx="3063240" cy="36576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Bhavneet</a:t>
            </a:r>
            <a:endParaRPr lang="en-US" sz="1900" dirty="0"/>
          </a:p>
        </p:txBody>
      </p:sp>
      <p:sp>
        <p:nvSpPr>
          <p:cNvPr id="14" name="Text 10"/>
          <p:cNvSpPr/>
          <p:nvPr/>
        </p:nvSpPr>
        <p:spPr>
          <a:xfrm>
            <a:off x="4754880" y="3566160"/>
            <a:ext cx="2971800" cy="777240"/>
          </a:xfrm>
          <a:prstGeom prst="rect">
            <a:avLst/>
          </a:prstGeom>
          <a:noFill/>
          <a:ln/>
        </p:spPr>
        <p:txBody>
          <a:bodyPr wrap="square" lIns="0" tIns="0" rIns="0" bIns="0" rtlCol="0" anchor="t"/>
          <a:lstStyle/>
          <a:p>
            <a:pPr algn="l" indent="0" marL="0">
              <a:buNone/>
            </a:pPr>
            <a:r>
              <a:rPr lang="en-US" sz="1200" b="1" dirty="0">
                <a:solidFill>
                  <a:srgbClr val="C9A227"/>
                </a:solidFill>
                <a:latin typeface="Calibri" pitchFamily="34" charset="0"/>
                <a:ea typeface="Calibri" pitchFamily="34" charset="-122"/>
                <a:cs typeface="Calibri" pitchFamily="34" charset="-120"/>
              </a:rPr>
              <a:t>Strength
</a:t>
            </a:r>
            <a:pPr algn="l" indent="0" marL="0">
              <a:buNone/>
            </a:pPr>
            <a:r>
              <a:rPr lang="en-US" sz="1250" dirty="0">
                <a:solidFill>
                  <a:srgbClr val="2B2B2B"/>
                </a:solidFill>
                <a:latin typeface="Calibri" pitchFamily="34" charset="0"/>
                <a:ea typeface="Calibri" pitchFamily="34" charset="-122"/>
                <a:cs typeface="Calibri" pitchFamily="34" charset="-120"/>
              </a:rPr>
              <a:t>Backend engineering and databases</a:t>
            </a:r>
            <a:endParaRPr lang="en-US" sz="1200" dirty="0"/>
          </a:p>
        </p:txBody>
      </p:sp>
      <p:sp>
        <p:nvSpPr>
          <p:cNvPr id="15" name="Text 11"/>
          <p:cNvSpPr/>
          <p:nvPr/>
        </p:nvSpPr>
        <p:spPr>
          <a:xfrm>
            <a:off x="4754880" y="4343400"/>
            <a:ext cx="2971800" cy="731520"/>
          </a:xfrm>
          <a:prstGeom prst="rect">
            <a:avLst/>
          </a:prstGeom>
          <a:noFill/>
          <a:ln/>
        </p:spPr>
        <p:txBody>
          <a:bodyPr wrap="square" lIns="0" tIns="0" rIns="0" bIns="0" rtlCol="0" anchor="t"/>
          <a:lstStyle/>
          <a:p>
            <a:pPr algn="l" indent="0" marL="0">
              <a:buNone/>
            </a:pPr>
            <a:r>
              <a:rPr lang="en-US" sz="1200" b="1" dirty="0">
                <a:solidFill>
                  <a:srgbClr val="C9A227"/>
                </a:solidFill>
                <a:latin typeface="Calibri" pitchFamily="34" charset="0"/>
                <a:ea typeface="Calibri" pitchFamily="34" charset="-122"/>
                <a:cs typeface="Calibri" pitchFamily="34" charset="-120"/>
              </a:rPr>
              <a:t>Learning goal
</a:t>
            </a:r>
            <a:pPr algn="l" indent="0" marL="0">
              <a:buNone/>
            </a:pPr>
            <a:r>
              <a:rPr lang="en-US" sz="1250" dirty="0">
                <a:solidFill>
                  <a:srgbClr val="2B2B2B"/>
                </a:solidFill>
                <a:latin typeface="Calibri" pitchFamily="34" charset="0"/>
                <a:ea typeface="Calibri" pitchFamily="34" charset="-122"/>
                <a:cs typeface="Calibri" pitchFamily="34" charset="-120"/>
              </a:rPr>
              <a:t>Cloud deployment and DevOps, to keep the system running outside a laptop</a:t>
            </a:r>
            <a:endParaRPr lang="en-US" sz="1200" dirty="0"/>
          </a:p>
        </p:txBody>
      </p:sp>
      <p:sp>
        <p:nvSpPr>
          <p:cNvPr id="16" name="Shape 12"/>
          <p:cNvSpPr/>
          <p:nvPr/>
        </p:nvSpPr>
        <p:spPr>
          <a:xfrm>
            <a:off x="8321040" y="1737360"/>
            <a:ext cx="3520440" cy="3383280"/>
          </a:xfrm>
          <a:prstGeom prst="roundRect">
            <a:avLst>
              <a:gd name="adj" fmla="val 3243"/>
            </a:avLst>
          </a:prstGeom>
          <a:solidFill>
            <a:srgbClr val="F7F9FC"/>
          </a:solidFill>
          <a:ln/>
        </p:spPr>
      </p:sp>
      <p:sp>
        <p:nvSpPr>
          <p:cNvPr id="17" name="Shape 13"/>
          <p:cNvSpPr/>
          <p:nvPr/>
        </p:nvSpPr>
        <p:spPr>
          <a:xfrm>
            <a:off x="9624060" y="2057400"/>
            <a:ext cx="914400" cy="914400"/>
          </a:xfrm>
          <a:prstGeom prst="ellipse">
            <a:avLst/>
          </a:prstGeom>
          <a:solidFill>
            <a:srgbClr val="1E2761"/>
          </a:solidFill>
          <a:ln/>
        </p:spPr>
      </p:sp>
      <p:pic>
        <p:nvPicPr>
          <p:cNvPr id="18" name="Image 2" descr="/home/claude/govassist/icons/users_white.png">    </p:cNvPr>
          <p:cNvPicPr>
            <a:picLocks noChangeAspect="1"/>
          </p:cNvPicPr>
          <p:nvPr/>
        </p:nvPicPr>
        <p:blipFill>
          <a:blip r:embed="rId3"/>
          <a:stretch>
            <a:fillRect/>
          </a:stretch>
        </p:blipFill>
        <p:spPr>
          <a:xfrm>
            <a:off x="9861804" y="2295144"/>
            <a:ext cx="438912" cy="438912"/>
          </a:xfrm>
          <a:prstGeom prst="rect">
            <a:avLst/>
          </a:prstGeom>
        </p:spPr>
      </p:pic>
      <p:sp>
        <p:nvSpPr>
          <p:cNvPr id="19" name="Text 14"/>
          <p:cNvSpPr/>
          <p:nvPr/>
        </p:nvSpPr>
        <p:spPr>
          <a:xfrm>
            <a:off x="8549640" y="3154680"/>
            <a:ext cx="3063240" cy="365760"/>
          </a:xfrm>
          <a:prstGeom prst="rect">
            <a:avLst/>
          </a:prstGeom>
          <a:noFill/>
          <a:ln/>
        </p:spPr>
        <p:txBody>
          <a:bodyPr wrap="square" lIns="0" tIns="0" rIns="0" bIns="0" rtlCol="0" anchor="ctr"/>
          <a:lstStyle/>
          <a:p>
            <a:pPr algn="ctr" indent="0" marL="0">
              <a:buNone/>
            </a:pPr>
            <a:r>
              <a:rPr lang="en-US" sz="1900" b="1" dirty="0">
                <a:solidFill>
                  <a:srgbClr val="1E2761"/>
                </a:solidFill>
                <a:latin typeface="Cambria" pitchFamily="34" charset="0"/>
                <a:ea typeface="Cambria" pitchFamily="34" charset="-122"/>
                <a:cs typeface="Cambria" pitchFamily="34" charset="-120"/>
              </a:rPr>
              <a:t>Shreyas</a:t>
            </a:r>
            <a:endParaRPr lang="en-US" sz="1900" dirty="0"/>
          </a:p>
        </p:txBody>
      </p:sp>
      <p:sp>
        <p:nvSpPr>
          <p:cNvPr id="20" name="Text 15"/>
          <p:cNvSpPr/>
          <p:nvPr/>
        </p:nvSpPr>
        <p:spPr>
          <a:xfrm>
            <a:off x="8595360" y="3566160"/>
            <a:ext cx="2971800" cy="777240"/>
          </a:xfrm>
          <a:prstGeom prst="rect">
            <a:avLst/>
          </a:prstGeom>
          <a:noFill/>
          <a:ln/>
        </p:spPr>
        <p:txBody>
          <a:bodyPr wrap="square" lIns="0" tIns="0" rIns="0" bIns="0" rtlCol="0" anchor="t"/>
          <a:lstStyle/>
          <a:p>
            <a:pPr algn="l" indent="0" marL="0">
              <a:buNone/>
            </a:pPr>
            <a:r>
              <a:rPr lang="en-US" sz="1200" b="1" dirty="0">
                <a:solidFill>
                  <a:srgbClr val="C9A227"/>
                </a:solidFill>
                <a:latin typeface="Calibri" pitchFamily="34" charset="0"/>
                <a:ea typeface="Calibri" pitchFamily="34" charset="-122"/>
                <a:cs typeface="Calibri" pitchFamily="34" charset="-120"/>
              </a:rPr>
              <a:t>Strength
</a:t>
            </a:r>
            <a:pPr algn="l" indent="0" marL="0">
              <a:buNone/>
            </a:pPr>
            <a:r>
              <a:rPr lang="en-US" sz="1250" dirty="0">
                <a:solidFill>
                  <a:srgbClr val="2B2B2B"/>
                </a:solidFill>
                <a:latin typeface="Calibri" pitchFamily="34" charset="0"/>
                <a:ea typeface="Calibri" pitchFamily="34" charset="-122"/>
                <a:cs typeface="Calibri" pitchFamily="34" charset="-120"/>
              </a:rPr>
              <a:t>Frontend development and UI design</a:t>
            </a:r>
            <a:endParaRPr lang="en-US" sz="1200" dirty="0"/>
          </a:p>
        </p:txBody>
      </p:sp>
      <p:sp>
        <p:nvSpPr>
          <p:cNvPr id="21" name="Text 16"/>
          <p:cNvSpPr/>
          <p:nvPr/>
        </p:nvSpPr>
        <p:spPr>
          <a:xfrm>
            <a:off x="8595360" y="4343400"/>
            <a:ext cx="2971800" cy="731520"/>
          </a:xfrm>
          <a:prstGeom prst="rect">
            <a:avLst/>
          </a:prstGeom>
          <a:noFill/>
          <a:ln/>
        </p:spPr>
        <p:txBody>
          <a:bodyPr wrap="square" lIns="0" tIns="0" rIns="0" bIns="0" rtlCol="0" anchor="t"/>
          <a:lstStyle/>
          <a:p>
            <a:pPr algn="l" indent="0" marL="0">
              <a:buNone/>
            </a:pPr>
            <a:r>
              <a:rPr lang="en-US" sz="1200" b="1" dirty="0">
                <a:solidFill>
                  <a:srgbClr val="C9A227"/>
                </a:solidFill>
                <a:latin typeface="Calibri" pitchFamily="34" charset="0"/>
                <a:ea typeface="Calibri" pitchFamily="34" charset="-122"/>
                <a:cs typeface="Calibri" pitchFamily="34" charset="-120"/>
              </a:rPr>
              <a:t>Learning goal
</a:t>
            </a:r>
            <a:pPr algn="l" indent="0" marL="0">
              <a:buNone/>
            </a:pPr>
            <a:r>
              <a:rPr lang="en-US" sz="1250" dirty="0">
                <a:solidFill>
                  <a:srgbClr val="2B2B2B"/>
                </a:solidFill>
                <a:latin typeface="Calibri" pitchFamily="34" charset="0"/>
                <a:ea typeface="Calibri" pitchFamily="34" charset="-122"/>
                <a:cs typeface="Calibri" pitchFamily="34" charset="-120"/>
              </a:rPr>
              <a:t>Document extraction and NLP basics, so the interface and the reasoning layer speak the same language</a:t>
            </a:r>
            <a:endParaRPr lang="en-US" sz="1200" dirty="0"/>
          </a:p>
        </p:txBody>
      </p:sp>
      <p:sp>
        <p:nvSpPr>
          <p:cNvPr id="22" name="Text 17"/>
          <p:cNvSpPr/>
          <p:nvPr/>
        </p:nvSpPr>
        <p:spPr>
          <a:xfrm>
            <a:off x="640080" y="6172200"/>
            <a:ext cx="10881360" cy="457200"/>
          </a:xfrm>
          <a:prstGeom prst="rect">
            <a:avLst/>
          </a:prstGeom>
          <a:noFill/>
          <a:ln/>
        </p:spPr>
        <p:txBody>
          <a:bodyPr wrap="square" lIns="0" tIns="0" rIns="0" bIns="0" rtlCol="0" anchor="ctr"/>
          <a:lstStyle/>
          <a:p>
            <a:pPr indent="0" marL="0">
              <a:buNone/>
            </a:pPr>
            <a:r>
              <a:rPr lang="en-US" sz="1300" i="1" dirty="0">
                <a:solidFill>
                  <a:srgbClr val="5B6472"/>
                </a:solidFill>
                <a:latin typeface="Calibri" pitchFamily="34" charset="0"/>
                <a:ea typeface="Calibri" pitchFamily="34" charset="-122"/>
                <a:cs typeface="Calibri" pitchFamily="34" charset="-120"/>
              </a:rPr>
              <a:t>Constraint: three of us, one semester, no dedicated GPU or paid API budget. The whole system has to work within free tier limits.</a:t>
            </a:r>
            <a:endParaRPr lang="en-US" sz="1300" dirty="0"/>
          </a:p>
        </p:txBody>
      </p:sp>
      <p:sp>
        <p:nvSpPr>
          <p:cNvPr id="23" name="Text 18"/>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GovAssist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731520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Who Has This Problem</a:t>
            </a:r>
            <a:endParaRPr lang="en-US" sz="3400" dirty="0"/>
          </a:p>
        </p:txBody>
      </p:sp>
      <p:sp>
        <p:nvSpPr>
          <p:cNvPr id="3" name="Text 1"/>
          <p:cNvSpPr/>
          <p:nvPr/>
        </p:nvSpPr>
        <p:spPr>
          <a:xfrm>
            <a:off x="640080" y="1371600"/>
            <a:ext cx="6217920" cy="4206240"/>
          </a:xfrm>
          <a:prstGeom prst="rect">
            <a:avLst/>
          </a:prstGeom>
          <a:noFill/>
          <a:ln/>
        </p:spPr>
        <p:txBody>
          <a:bodyPr wrap="square" lIns="0" tIns="0" rIns="0" bIns="0" rtlCol="0" anchor="t"/>
          <a:lstStyle/>
          <a:p>
            <a:pPr algn="l" indent="0" marL="0">
              <a:lnSpc>
                <a:spcPct val="125000"/>
              </a:lnSpc>
              <a:buNone/>
            </a:pPr>
            <a:r>
              <a:rPr lang="en-US" sz="1550" dirty="0">
                <a:solidFill>
                  <a:srgbClr val="2B2B2B"/>
                </a:solidFill>
                <a:latin typeface="Calibri" pitchFamily="34" charset="0"/>
                <a:ea typeface="Calibri" pitchFamily="34" charset="-122"/>
                <a:cs typeface="Calibri" pitchFamily="34" charset="-120"/>
              </a:rPr>
              <a:t>Millions of citizens and small business owners deal with government paperwork every year: filing income tax returns, filing GST returns, checking scheme eligibility, renewing licenses.
</a:t>
            </a:r>
            <a:pPr algn="l" indent="0" marL="0">
              <a:lnSpc>
                <a:spcPct val="125000"/>
              </a:lnSpc>
              <a:buNone/>
            </a:pPr>
            <a:r>
              <a:rPr lang="en-US" sz="1550" dirty="0">
                <a:solidFill>
                  <a:srgbClr val="2B2B2B"/>
                </a:solidFill>
                <a:latin typeface="Calibri" pitchFamily="34" charset="0"/>
                <a:ea typeface="Calibri" pitchFamily="34" charset="-122"/>
                <a:cs typeface="Calibri" pitchFamily="34" charset="-120"/>
              </a:rPr>
              <a:t>The problem shows up everywhere: a salaried employee unsure which ITR form applies to them, a shopkeeper who missed a GST deadline because a rule changed quietly, a family that never claimed a scheme they qualified for because the details were buried in a jargon heavy PDF.</a:t>
            </a:r>
            <a:endParaRPr lang="en-US" sz="1550" dirty="0"/>
          </a:p>
        </p:txBody>
      </p:sp>
      <p:sp>
        <p:nvSpPr>
          <p:cNvPr id="4" name="Shape 2"/>
          <p:cNvSpPr/>
          <p:nvPr/>
        </p:nvSpPr>
        <p:spPr>
          <a:xfrm>
            <a:off x="7223760" y="1371600"/>
            <a:ext cx="4297680" cy="1417320"/>
          </a:xfrm>
          <a:prstGeom prst="roundRect">
            <a:avLst>
              <a:gd name="adj" fmla="val 6452"/>
            </a:avLst>
          </a:prstGeom>
          <a:solidFill>
            <a:srgbClr val="F7F9FC"/>
          </a:solidFill>
          <a:ln/>
        </p:spPr>
      </p:sp>
      <p:sp>
        <p:nvSpPr>
          <p:cNvPr id="5" name="Shape 3"/>
          <p:cNvSpPr/>
          <p:nvPr/>
        </p:nvSpPr>
        <p:spPr>
          <a:xfrm>
            <a:off x="7452360" y="1673352"/>
            <a:ext cx="822960" cy="822960"/>
          </a:xfrm>
          <a:prstGeom prst="ellipse">
            <a:avLst/>
          </a:prstGeom>
          <a:solidFill>
            <a:srgbClr val="1E2761"/>
          </a:solidFill>
          <a:ln/>
        </p:spPr>
      </p:sp>
      <p:pic>
        <p:nvPicPr>
          <p:cNvPr id="6" name="Image 0" descr="/home/claude/govassist/icons/file_white.png">    </p:cNvPr>
          <p:cNvPicPr>
            <a:picLocks noChangeAspect="1"/>
          </p:cNvPicPr>
          <p:nvPr/>
        </p:nvPicPr>
        <p:blipFill>
          <a:blip r:embed="rId1"/>
          <a:stretch>
            <a:fillRect/>
          </a:stretch>
        </p:blipFill>
        <p:spPr>
          <a:xfrm>
            <a:off x="7666330" y="1887322"/>
            <a:ext cx="395021" cy="395021"/>
          </a:xfrm>
          <a:prstGeom prst="rect">
            <a:avLst/>
          </a:prstGeom>
        </p:spPr>
      </p:pic>
      <p:sp>
        <p:nvSpPr>
          <p:cNvPr id="7" name="Text 4"/>
          <p:cNvSpPr/>
          <p:nvPr/>
        </p:nvSpPr>
        <p:spPr>
          <a:xfrm>
            <a:off x="8458200" y="1508760"/>
            <a:ext cx="288036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300+</a:t>
            </a:r>
            <a:endParaRPr lang="en-US" sz="2200" dirty="0"/>
          </a:p>
        </p:txBody>
      </p:sp>
      <p:sp>
        <p:nvSpPr>
          <p:cNvPr id="8" name="Text 5"/>
          <p:cNvSpPr/>
          <p:nvPr/>
        </p:nvSpPr>
        <p:spPr>
          <a:xfrm>
            <a:off x="8458200" y="1993392"/>
            <a:ext cx="2880360" cy="68580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central government schemes, many with overlapping rules</a:t>
            </a:r>
            <a:endParaRPr lang="en-US" sz="1150" dirty="0"/>
          </a:p>
        </p:txBody>
      </p:sp>
      <p:sp>
        <p:nvSpPr>
          <p:cNvPr id="9" name="Shape 6"/>
          <p:cNvSpPr/>
          <p:nvPr/>
        </p:nvSpPr>
        <p:spPr>
          <a:xfrm>
            <a:off x="7223760" y="3044952"/>
            <a:ext cx="4297680" cy="1417320"/>
          </a:xfrm>
          <a:prstGeom prst="roundRect">
            <a:avLst>
              <a:gd name="adj" fmla="val 6452"/>
            </a:avLst>
          </a:prstGeom>
          <a:solidFill>
            <a:srgbClr val="F7F9FC"/>
          </a:solidFill>
          <a:ln/>
        </p:spPr>
      </p:sp>
      <p:sp>
        <p:nvSpPr>
          <p:cNvPr id="10" name="Shape 7"/>
          <p:cNvSpPr/>
          <p:nvPr/>
        </p:nvSpPr>
        <p:spPr>
          <a:xfrm>
            <a:off x="7452360" y="3346704"/>
            <a:ext cx="822960" cy="822960"/>
          </a:xfrm>
          <a:prstGeom prst="ellipse">
            <a:avLst/>
          </a:prstGeom>
          <a:solidFill>
            <a:srgbClr val="1E2761"/>
          </a:solidFill>
          <a:ln/>
        </p:spPr>
      </p:sp>
      <p:pic>
        <p:nvPicPr>
          <p:cNvPr id="11" name="Image 1" descr="/home/claude/govassist/icons/trend_white.png">    </p:cNvPr>
          <p:cNvPicPr>
            <a:picLocks noChangeAspect="1"/>
          </p:cNvPicPr>
          <p:nvPr/>
        </p:nvPicPr>
        <p:blipFill>
          <a:blip r:embed="rId2"/>
          <a:stretch>
            <a:fillRect/>
          </a:stretch>
        </p:blipFill>
        <p:spPr>
          <a:xfrm>
            <a:off x="7666330" y="3560674"/>
            <a:ext cx="395021" cy="395021"/>
          </a:xfrm>
          <a:prstGeom prst="rect">
            <a:avLst/>
          </a:prstGeom>
        </p:spPr>
      </p:pic>
      <p:sp>
        <p:nvSpPr>
          <p:cNvPr id="12" name="Text 8"/>
          <p:cNvSpPr/>
          <p:nvPr/>
        </p:nvSpPr>
        <p:spPr>
          <a:xfrm>
            <a:off x="8458200" y="3182112"/>
            <a:ext cx="288036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Crores</a:t>
            </a:r>
            <a:endParaRPr lang="en-US" sz="2200" dirty="0"/>
          </a:p>
        </p:txBody>
      </p:sp>
      <p:sp>
        <p:nvSpPr>
          <p:cNvPr id="13" name="Text 9"/>
          <p:cNvSpPr/>
          <p:nvPr/>
        </p:nvSpPr>
        <p:spPr>
          <a:xfrm>
            <a:off x="8458200" y="3666744"/>
            <a:ext cx="2880360" cy="68580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of taxpayers and businesses file returns every year</a:t>
            </a:r>
            <a:endParaRPr lang="en-US" sz="1150" dirty="0"/>
          </a:p>
        </p:txBody>
      </p:sp>
      <p:sp>
        <p:nvSpPr>
          <p:cNvPr id="14" name="Shape 10"/>
          <p:cNvSpPr/>
          <p:nvPr/>
        </p:nvSpPr>
        <p:spPr>
          <a:xfrm>
            <a:off x="7223760" y="4718304"/>
            <a:ext cx="4297680" cy="1417320"/>
          </a:xfrm>
          <a:prstGeom prst="roundRect">
            <a:avLst>
              <a:gd name="adj" fmla="val 6452"/>
            </a:avLst>
          </a:prstGeom>
          <a:solidFill>
            <a:srgbClr val="F7F9FC"/>
          </a:solidFill>
          <a:ln/>
        </p:spPr>
      </p:sp>
      <p:sp>
        <p:nvSpPr>
          <p:cNvPr id="15" name="Shape 11"/>
          <p:cNvSpPr/>
          <p:nvPr/>
        </p:nvSpPr>
        <p:spPr>
          <a:xfrm>
            <a:off x="7452360" y="5020056"/>
            <a:ext cx="822960" cy="822960"/>
          </a:xfrm>
          <a:prstGeom prst="ellipse">
            <a:avLst/>
          </a:prstGeom>
          <a:solidFill>
            <a:srgbClr val="1E2761"/>
          </a:solidFill>
          <a:ln/>
        </p:spPr>
      </p:sp>
      <p:pic>
        <p:nvPicPr>
          <p:cNvPr id="16" name="Image 2" descr="/home/claude/govassist/icons/alert_white.png">    </p:cNvPr>
          <p:cNvPicPr>
            <a:picLocks noChangeAspect="1"/>
          </p:cNvPicPr>
          <p:nvPr/>
        </p:nvPicPr>
        <p:blipFill>
          <a:blip r:embed="rId3"/>
          <a:stretch>
            <a:fillRect/>
          </a:stretch>
        </p:blipFill>
        <p:spPr>
          <a:xfrm>
            <a:off x="7666330" y="5234026"/>
            <a:ext cx="395021" cy="395021"/>
          </a:xfrm>
          <a:prstGeom prst="rect">
            <a:avLst/>
          </a:prstGeom>
        </p:spPr>
      </p:pic>
      <p:sp>
        <p:nvSpPr>
          <p:cNvPr id="17" name="Text 12"/>
          <p:cNvSpPr/>
          <p:nvPr/>
        </p:nvSpPr>
        <p:spPr>
          <a:xfrm>
            <a:off x="8458200" y="4855464"/>
            <a:ext cx="2880360" cy="45720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Most</a:t>
            </a:r>
            <a:endParaRPr lang="en-US" sz="2200" dirty="0"/>
          </a:p>
        </p:txBody>
      </p:sp>
      <p:sp>
        <p:nvSpPr>
          <p:cNvPr id="18" name="Text 13"/>
          <p:cNvSpPr/>
          <p:nvPr/>
        </p:nvSpPr>
        <p:spPr>
          <a:xfrm>
            <a:off x="8458200" y="5340096"/>
            <a:ext cx="2880360" cy="685800"/>
          </a:xfrm>
          <a:prstGeom prst="rect">
            <a:avLst/>
          </a:prstGeom>
          <a:noFill/>
          <a:ln/>
        </p:spPr>
        <p:txBody>
          <a:bodyPr wrap="square" lIns="0" tIns="0" rIns="0" bIns="0" rtlCol="0" anchor="t"/>
          <a:lstStyle/>
          <a:p>
            <a:pPr indent="0" marL="0">
              <a:buNone/>
            </a:pPr>
            <a:r>
              <a:rPr lang="en-US" sz="1150" dirty="0">
                <a:solidFill>
                  <a:srgbClr val="5B6472"/>
                </a:solidFill>
                <a:latin typeface="Calibri" pitchFamily="34" charset="0"/>
                <a:ea typeface="Calibri" pitchFamily="34" charset="-122"/>
                <a:cs typeface="Calibri" pitchFamily="34" charset="-120"/>
              </a:rPr>
              <a:t>eligible citizens never claim what they actually qualify for</a:t>
            </a:r>
            <a:endParaRPr lang="en-US" sz="1150" dirty="0"/>
          </a:p>
        </p:txBody>
      </p:sp>
      <p:sp>
        <p:nvSpPr>
          <p:cNvPr id="19" name="Text 14"/>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GovAssist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What We Will Do Better</a:t>
            </a:r>
            <a:endParaRPr lang="en-US" sz="3400" dirty="0"/>
          </a:p>
        </p:txBody>
      </p:sp>
      <p:sp>
        <p:nvSpPr>
          <p:cNvPr id="3" name="Shape 1"/>
          <p:cNvSpPr/>
          <p:nvPr/>
        </p:nvSpPr>
        <p:spPr>
          <a:xfrm>
            <a:off x="640080" y="1417320"/>
            <a:ext cx="5212080" cy="4846320"/>
          </a:xfrm>
          <a:prstGeom prst="roundRect">
            <a:avLst>
              <a:gd name="adj" fmla="val 2264"/>
            </a:avLst>
          </a:prstGeom>
          <a:solidFill>
            <a:srgbClr val="F7F9FC"/>
          </a:solidFill>
          <a:ln/>
        </p:spPr>
      </p:sp>
      <p:sp>
        <p:nvSpPr>
          <p:cNvPr id="4" name="Shape 2"/>
          <p:cNvSpPr/>
          <p:nvPr/>
        </p:nvSpPr>
        <p:spPr>
          <a:xfrm>
            <a:off x="6309360" y="1417320"/>
            <a:ext cx="5212080" cy="4846320"/>
          </a:xfrm>
          <a:prstGeom prst="roundRect">
            <a:avLst>
              <a:gd name="adj" fmla="val 2264"/>
            </a:avLst>
          </a:prstGeom>
          <a:solidFill>
            <a:srgbClr val="1E2761"/>
          </a:solidFill>
          <a:ln/>
        </p:spPr>
      </p:sp>
      <p:sp>
        <p:nvSpPr>
          <p:cNvPr id="5" name="Text 3"/>
          <p:cNvSpPr/>
          <p:nvPr/>
        </p:nvSpPr>
        <p:spPr>
          <a:xfrm>
            <a:off x="960120" y="1691640"/>
            <a:ext cx="457200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New engineering work</a:t>
            </a:r>
            <a:endParaRPr lang="en-US" sz="1800" dirty="0"/>
          </a:p>
        </p:txBody>
      </p:sp>
      <p:sp>
        <p:nvSpPr>
          <p:cNvPr id="6" name="Text 4"/>
          <p:cNvSpPr/>
          <p:nvPr/>
        </p:nvSpPr>
        <p:spPr>
          <a:xfrm>
            <a:off x="960120" y="2240280"/>
            <a:ext cx="4572000" cy="374904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A domain router that sends each question down the right reasoning path: income tax, GST, or scheme eligibility</a:t>
            </a:r>
            <a:endParaRPr lang="en-US" sz="1300" dirty="0"/>
          </a:p>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A self verification agent that rechecks every claim against the source rule before it reaches the user</a:t>
            </a:r>
            <a:endParaRPr lang="en-US" sz="1300" dirty="0"/>
          </a:p>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A document extraction pipeline built for real, messy uploads, not clean scans</a:t>
            </a:r>
            <a:endParaRPr lang="en-US" sz="1300" dirty="0"/>
          </a:p>
          <a:p>
            <a:pPr marL="342900" indent="-342900">
              <a:spcAft>
                <a:spcPts val="1000"/>
              </a:spcAft>
              <a:buSzPct val="100000"/>
              <a:buChar char="•"/>
            </a:pPr>
            <a:r>
              <a:rPr lang="en-US" sz="1300" dirty="0">
                <a:solidFill>
                  <a:srgbClr val="2B2B2B"/>
                </a:solidFill>
                <a:latin typeface="Calibri" pitchFamily="34" charset="0"/>
                <a:ea typeface="Calibri" pitchFamily="34" charset="-122"/>
                <a:cs typeface="Calibri" pitchFamily="34" charset="-120"/>
              </a:rPr>
              <a:t>A rule versioning layer that tracks when tax slabs, GST rates, or scheme deadlines change</a:t>
            </a:r>
            <a:endParaRPr lang="en-US" sz="1300" dirty="0"/>
          </a:p>
        </p:txBody>
      </p:sp>
      <p:sp>
        <p:nvSpPr>
          <p:cNvPr id="7" name="Text 5"/>
          <p:cNvSpPr/>
          <p:nvPr/>
        </p:nvSpPr>
        <p:spPr>
          <a:xfrm>
            <a:off x="6629400" y="1691640"/>
            <a:ext cx="4572000" cy="45720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Expected result</a:t>
            </a:r>
            <a:endParaRPr lang="en-US" sz="1800" dirty="0"/>
          </a:p>
        </p:txBody>
      </p:sp>
      <p:sp>
        <p:nvSpPr>
          <p:cNvPr id="8" name="Text 6"/>
          <p:cNvSpPr/>
          <p:nvPr/>
        </p:nvSpPr>
        <p:spPr>
          <a:xfrm>
            <a:off x="6629400" y="2240280"/>
            <a:ext cx="4572000" cy="374904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Tells a user exactly which ITR form applies to them, and why</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Flags which GST return is due, and when</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Gives a grounded eligibility answer for at least two real schemes, with the exact clause cited</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Catches unsupported answers before they reach the user, not after</a:t>
            </a:r>
            <a:endParaRPr lang="en-US" sz="1300" dirty="0"/>
          </a:p>
        </p:txBody>
      </p:sp>
      <p:sp>
        <p:nvSpPr>
          <p:cNvPr id="9" name="Text 7"/>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GovAssist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7315200" cy="59436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Proposed System</a:t>
            </a:r>
            <a:endParaRPr lang="en-US" sz="3400" dirty="0"/>
          </a:p>
        </p:txBody>
      </p:sp>
      <p:sp>
        <p:nvSpPr>
          <p:cNvPr id="3" name="Text 1"/>
          <p:cNvSpPr/>
          <p:nvPr/>
        </p:nvSpPr>
        <p:spPr>
          <a:xfrm>
            <a:off x="640080" y="960120"/>
            <a:ext cx="8229600" cy="365760"/>
          </a:xfrm>
          <a:prstGeom prst="rect">
            <a:avLst/>
          </a:prstGeom>
          <a:noFill/>
          <a:ln/>
        </p:spPr>
        <p:txBody>
          <a:bodyPr wrap="square" lIns="0" tIns="0" rIns="0" bIns="0" rtlCol="0" anchor="ctr"/>
          <a:lstStyle/>
          <a:p>
            <a:pPr indent="0" marL="0">
              <a:buNone/>
            </a:pPr>
            <a:r>
              <a:rPr lang="en-US" sz="1400" i="1" dirty="0">
                <a:solidFill>
                  <a:srgbClr val="5B6472"/>
                </a:solidFill>
                <a:latin typeface="Calibri" pitchFamily="34" charset="0"/>
                <a:ea typeface="Calibri" pitchFamily="34" charset="-122"/>
                <a:cs typeface="Calibri" pitchFamily="34" charset="-120"/>
              </a:rPr>
              <a:t>Components, roles, integrations, and deployment</a:t>
            </a:r>
            <a:endParaRPr lang="en-US" sz="1400" dirty="0"/>
          </a:p>
        </p:txBody>
      </p:sp>
      <p:sp>
        <p:nvSpPr>
          <p:cNvPr id="4" name="Shape 2"/>
          <p:cNvSpPr/>
          <p:nvPr/>
        </p:nvSpPr>
        <p:spPr>
          <a:xfrm>
            <a:off x="640080" y="1508760"/>
            <a:ext cx="2468880" cy="868680"/>
          </a:xfrm>
          <a:prstGeom prst="roundRect">
            <a:avLst>
              <a:gd name="adj" fmla="val 8421"/>
            </a:avLst>
          </a:prstGeom>
          <a:solidFill>
            <a:srgbClr val="1E2761"/>
          </a:solidFill>
          <a:ln/>
        </p:spPr>
      </p:sp>
      <p:sp>
        <p:nvSpPr>
          <p:cNvPr id="5" name="Text 3"/>
          <p:cNvSpPr/>
          <p:nvPr/>
        </p:nvSpPr>
        <p:spPr>
          <a:xfrm>
            <a:off x="640080" y="1508760"/>
            <a:ext cx="2468880"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Document intake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and extraction</a:t>
            </a:r>
            <a:endParaRPr lang="en-US" sz="1250" dirty="0"/>
          </a:p>
        </p:txBody>
      </p:sp>
      <p:sp>
        <p:nvSpPr>
          <p:cNvPr id="6" name="Text 4"/>
          <p:cNvSpPr/>
          <p:nvPr/>
        </p:nvSpPr>
        <p:spPr>
          <a:xfrm>
            <a:off x="3108960" y="1508760"/>
            <a:ext cx="365760" cy="868680"/>
          </a:xfrm>
          <a:prstGeom prst="rect">
            <a:avLst/>
          </a:prstGeom>
          <a:noFill/>
          <a:ln/>
        </p:spPr>
        <p:txBody>
          <a:bodyPr wrap="square" lIns="0" tIns="0" rIns="0" bIns="0" rtlCol="0" anchor="ctr"/>
          <a:lstStyle/>
          <a:p>
            <a:pPr algn="ctr" indent="0" marL="0">
              <a:buNone/>
            </a:pPr>
            <a:r>
              <a:rPr lang="en-US" sz="2000" dirty="0">
                <a:solidFill>
                  <a:srgbClr val="1E2761"/>
                </a:solidFill>
                <a:latin typeface="Arial" pitchFamily="34" charset="0"/>
                <a:ea typeface="Arial" pitchFamily="34" charset="-122"/>
                <a:cs typeface="Arial" pitchFamily="34" charset="-120"/>
              </a:rPr>
              <a:t>→</a:t>
            </a:r>
            <a:endParaRPr lang="en-US" sz="2000" dirty="0"/>
          </a:p>
        </p:txBody>
      </p:sp>
      <p:sp>
        <p:nvSpPr>
          <p:cNvPr id="7" name="Shape 5"/>
          <p:cNvSpPr/>
          <p:nvPr/>
        </p:nvSpPr>
        <p:spPr>
          <a:xfrm>
            <a:off x="3474720" y="1508760"/>
            <a:ext cx="1920240" cy="868680"/>
          </a:xfrm>
          <a:prstGeom prst="roundRect">
            <a:avLst>
              <a:gd name="adj" fmla="val 8421"/>
            </a:avLst>
          </a:prstGeom>
          <a:solidFill>
            <a:srgbClr val="1E2761"/>
          </a:solidFill>
          <a:ln/>
        </p:spPr>
      </p:sp>
      <p:sp>
        <p:nvSpPr>
          <p:cNvPr id="8" name="Text 6"/>
          <p:cNvSpPr/>
          <p:nvPr/>
        </p:nvSpPr>
        <p:spPr>
          <a:xfrm>
            <a:off x="3474720" y="1508760"/>
            <a:ext cx="1920240" cy="86868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Domain router</a:t>
            </a:r>
            <a:endParaRPr lang="en-US" sz="1250" dirty="0"/>
          </a:p>
        </p:txBody>
      </p:sp>
      <p:sp>
        <p:nvSpPr>
          <p:cNvPr id="9" name="Text 7"/>
          <p:cNvSpPr/>
          <p:nvPr/>
        </p:nvSpPr>
        <p:spPr>
          <a:xfrm>
            <a:off x="640080" y="2395728"/>
            <a:ext cx="4754880" cy="292608"/>
          </a:xfrm>
          <a:prstGeom prst="rect">
            <a:avLst/>
          </a:prstGeom>
          <a:noFill/>
          <a:ln/>
        </p:spPr>
        <p:txBody>
          <a:bodyPr wrap="square" lIns="0" tIns="0" rIns="0" bIns="0" rtlCol="0" anchor="ctr"/>
          <a:lstStyle/>
          <a:p>
            <a:pPr algn="ctr" indent="0" marL="0">
              <a:buNone/>
            </a:pPr>
            <a:r>
              <a:rPr lang="en-US" sz="1800" dirty="0">
                <a:solidFill>
                  <a:srgbClr val="1E2761"/>
                </a:solidFill>
                <a:latin typeface="Arial" pitchFamily="34" charset="0"/>
                <a:ea typeface="Arial" pitchFamily="34" charset="-122"/>
                <a:cs typeface="Arial" pitchFamily="34" charset="-120"/>
              </a:rPr>
              <a:t>↓</a:t>
            </a:r>
            <a:endParaRPr lang="en-US" sz="1800" dirty="0"/>
          </a:p>
        </p:txBody>
      </p:sp>
      <p:sp>
        <p:nvSpPr>
          <p:cNvPr id="10" name="Shape 8"/>
          <p:cNvSpPr/>
          <p:nvPr/>
        </p:nvSpPr>
        <p:spPr>
          <a:xfrm>
            <a:off x="640080" y="2743200"/>
            <a:ext cx="1517904" cy="777240"/>
          </a:xfrm>
          <a:prstGeom prst="roundRect">
            <a:avLst>
              <a:gd name="adj" fmla="val 9412"/>
            </a:avLst>
          </a:prstGeom>
          <a:solidFill>
            <a:srgbClr val="CADCFC"/>
          </a:solidFill>
          <a:ln/>
        </p:spPr>
      </p:sp>
      <p:sp>
        <p:nvSpPr>
          <p:cNvPr id="11" name="Text 9"/>
          <p:cNvSpPr/>
          <p:nvPr/>
        </p:nvSpPr>
        <p:spPr>
          <a:xfrm>
            <a:off x="640080" y="2743200"/>
            <a:ext cx="1517904" cy="777240"/>
          </a:xfrm>
          <a:prstGeom prst="rect">
            <a:avLst/>
          </a:prstGeom>
          <a:noFill/>
          <a:ln/>
        </p:spPr>
        <p:txBody>
          <a:bodyPr wrap="square" lIns="0" tIns="0" rIns="0" bIns="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ITR agent</a:t>
            </a:r>
            <a:endParaRPr lang="en-US" sz="1150" dirty="0"/>
          </a:p>
        </p:txBody>
      </p:sp>
      <p:sp>
        <p:nvSpPr>
          <p:cNvPr id="12" name="Shape 10"/>
          <p:cNvSpPr/>
          <p:nvPr/>
        </p:nvSpPr>
        <p:spPr>
          <a:xfrm>
            <a:off x="2267712" y="2743200"/>
            <a:ext cx="1517904" cy="777240"/>
          </a:xfrm>
          <a:prstGeom prst="roundRect">
            <a:avLst>
              <a:gd name="adj" fmla="val 9412"/>
            </a:avLst>
          </a:prstGeom>
          <a:solidFill>
            <a:srgbClr val="CADCFC"/>
          </a:solidFill>
          <a:ln/>
        </p:spPr>
      </p:sp>
      <p:sp>
        <p:nvSpPr>
          <p:cNvPr id="13" name="Text 11"/>
          <p:cNvSpPr/>
          <p:nvPr/>
        </p:nvSpPr>
        <p:spPr>
          <a:xfrm>
            <a:off x="2267712" y="2743200"/>
            <a:ext cx="1517904" cy="777240"/>
          </a:xfrm>
          <a:prstGeom prst="rect">
            <a:avLst/>
          </a:prstGeom>
          <a:noFill/>
          <a:ln/>
        </p:spPr>
        <p:txBody>
          <a:bodyPr wrap="square" lIns="0" tIns="0" rIns="0" bIns="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GST agent</a:t>
            </a:r>
            <a:endParaRPr lang="en-US" sz="1150" dirty="0"/>
          </a:p>
        </p:txBody>
      </p:sp>
      <p:sp>
        <p:nvSpPr>
          <p:cNvPr id="14" name="Shape 12"/>
          <p:cNvSpPr/>
          <p:nvPr/>
        </p:nvSpPr>
        <p:spPr>
          <a:xfrm>
            <a:off x="3895344" y="2743200"/>
            <a:ext cx="1517904" cy="777240"/>
          </a:xfrm>
          <a:prstGeom prst="roundRect">
            <a:avLst>
              <a:gd name="adj" fmla="val 9412"/>
            </a:avLst>
          </a:prstGeom>
          <a:solidFill>
            <a:srgbClr val="CADCFC"/>
          </a:solidFill>
          <a:ln/>
        </p:spPr>
      </p:sp>
      <p:sp>
        <p:nvSpPr>
          <p:cNvPr id="15" name="Text 13"/>
          <p:cNvSpPr/>
          <p:nvPr/>
        </p:nvSpPr>
        <p:spPr>
          <a:xfrm>
            <a:off x="3895344" y="2743200"/>
            <a:ext cx="1517904" cy="777240"/>
          </a:xfrm>
          <a:prstGeom prst="rect">
            <a:avLst/>
          </a:prstGeom>
          <a:noFill/>
          <a:ln/>
        </p:spPr>
        <p:txBody>
          <a:bodyPr wrap="square" lIns="0" tIns="0" rIns="0" bIns="0" rtlCol="0" anchor="ctr"/>
          <a:lstStyle/>
          <a:p>
            <a:pPr algn="ctr" indent="0" marL="0">
              <a:buNone/>
            </a:pPr>
            <a:r>
              <a:rPr lang="en-US" sz="1150" b="1" dirty="0">
                <a:solidFill>
                  <a:srgbClr val="1E2761"/>
                </a:solidFill>
                <a:latin typeface="Calibri" pitchFamily="34" charset="0"/>
                <a:ea typeface="Calibri" pitchFamily="34" charset="-122"/>
                <a:cs typeface="Calibri" pitchFamily="34" charset="-120"/>
              </a:rPr>
              <a:t>Scheme agent</a:t>
            </a:r>
            <a:endParaRPr lang="en-US" sz="1150" dirty="0"/>
          </a:p>
        </p:txBody>
      </p:sp>
      <p:sp>
        <p:nvSpPr>
          <p:cNvPr id="16" name="Text 14"/>
          <p:cNvSpPr/>
          <p:nvPr/>
        </p:nvSpPr>
        <p:spPr>
          <a:xfrm>
            <a:off x="640080" y="3538728"/>
            <a:ext cx="4754880" cy="292608"/>
          </a:xfrm>
          <a:prstGeom prst="rect">
            <a:avLst/>
          </a:prstGeom>
          <a:noFill/>
          <a:ln/>
        </p:spPr>
        <p:txBody>
          <a:bodyPr wrap="square" lIns="0" tIns="0" rIns="0" bIns="0" rtlCol="0" anchor="ctr"/>
          <a:lstStyle/>
          <a:p>
            <a:pPr algn="ctr" indent="0" marL="0">
              <a:buNone/>
            </a:pPr>
            <a:r>
              <a:rPr lang="en-US" sz="1800" dirty="0">
                <a:solidFill>
                  <a:srgbClr val="1E2761"/>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640080" y="3904488"/>
            <a:ext cx="2194560" cy="777240"/>
          </a:xfrm>
          <a:prstGeom prst="roundRect">
            <a:avLst>
              <a:gd name="adj" fmla="val 9412"/>
            </a:avLst>
          </a:prstGeom>
          <a:solidFill>
            <a:srgbClr val="C9A227"/>
          </a:solidFill>
          <a:ln/>
        </p:spPr>
      </p:sp>
      <p:sp>
        <p:nvSpPr>
          <p:cNvPr id="18" name="Text 16"/>
          <p:cNvSpPr/>
          <p:nvPr/>
        </p:nvSpPr>
        <p:spPr>
          <a:xfrm>
            <a:off x="640080" y="3904488"/>
            <a:ext cx="2194560"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Verification agent</a:t>
            </a:r>
            <a:endParaRPr lang="en-US" sz="1200" dirty="0"/>
          </a:p>
        </p:txBody>
      </p:sp>
      <p:sp>
        <p:nvSpPr>
          <p:cNvPr id="19" name="Text 17"/>
          <p:cNvSpPr/>
          <p:nvPr/>
        </p:nvSpPr>
        <p:spPr>
          <a:xfrm>
            <a:off x="2834640" y="3904488"/>
            <a:ext cx="365760" cy="777240"/>
          </a:xfrm>
          <a:prstGeom prst="rect">
            <a:avLst/>
          </a:prstGeom>
          <a:noFill/>
          <a:ln/>
        </p:spPr>
        <p:txBody>
          <a:bodyPr wrap="square" lIns="0" tIns="0" rIns="0" bIns="0" rtlCol="0" anchor="ctr"/>
          <a:lstStyle/>
          <a:p>
            <a:pPr algn="ctr" indent="0" marL="0">
              <a:buNone/>
            </a:pPr>
            <a:r>
              <a:rPr lang="en-US" sz="2000" dirty="0">
                <a:solidFill>
                  <a:srgbClr val="1E2761"/>
                </a:solidFill>
                <a:latin typeface="Arial" pitchFamily="34" charset="0"/>
                <a:ea typeface="Arial" pitchFamily="34" charset="-122"/>
                <a:cs typeface="Arial" pitchFamily="34" charset="-120"/>
              </a:rPr>
              <a:t>→</a:t>
            </a:r>
            <a:endParaRPr lang="en-US" sz="2000" dirty="0"/>
          </a:p>
        </p:txBody>
      </p:sp>
      <p:sp>
        <p:nvSpPr>
          <p:cNvPr id="20" name="Shape 18"/>
          <p:cNvSpPr/>
          <p:nvPr/>
        </p:nvSpPr>
        <p:spPr>
          <a:xfrm>
            <a:off x="3200400" y="3904488"/>
            <a:ext cx="2194560" cy="777240"/>
          </a:xfrm>
          <a:prstGeom prst="roundRect">
            <a:avLst>
              <a:gd name="adj" fmla="val 9412"/>
            </a:avLst>
          </a:prstGeom>
          <a:solidFill>
            <a:srgbClr val="1E2761"/>
          </a:solidFill>
          <a:ln/>
        </p:spPr>
      </p:sp>
      <p:sp>
        <p:nvSpPr>
          <p:cNvPr id="21" name="Text 19"/>
          <p:cNvSpPr/>
          <p:nvPr/>
        </p:nvSpPr>
        <p:spPr>
          <a:xfrm>
            <a:off x="3200400" y="3904488"/>
            <a:ext cx="2194560" cy="7772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 and voice</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interface</a:t>
            </a:r>
            <a:endParaRPr lang="en-US" sz="1200" dirty="0"/>
          </a:p>
        </p:txBody>
      </p:sp>
      <p:sp>
        <p:nvSpPr>
          <p:cNvPr id="22" name="Text 20"/>
          <p:cNvSpPr/>
          <p:nvPr/>
        </p:nvSpPr>
        <p:spPr>
          <a:xfrm>
            <a:off x="6309360" y="1508760"/>
            <a:ext cx="521208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Roles</a:t>
            </a:r>
            <a:endParaRPr lang="en-US" sz="1600" dirty="0"/>
          </a:p>
        </p:txBody>
      </p:sp>
      <p:sp>
        <p:nvSpPr>
          <p:cNvPr id="23" name="Text 21"/>
          <p:cNvSpPr/>
          <p:nvPr/>
        </p:nvSpPr>
        <p:spPr>
          <a:xfrm>
            <a:off x="6309360" y="1920240"/>
            <a:ext cx="5212080" cy="1051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Ronit: reasoning and verification agents</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Bhavneet: backend, database, deployment</a:t>
            </a:r>
            <a:endParaRPr lang="en-US" sz="1300" dirty="0"/>
          </a:p>
          <a:p>
            <a:pPr marL="342900" indent="-342900">
              <a:buSzPct val="100000"/>
              <a:buChar char="•"/>
            </a:pPr>
            <a:r>
              <a:rPr lang="en-US" sz="1300" dirty="0">
                <a:solidFill>
                  <a:srgbClr val="2B2B2B"/>
                </a:solidFill>
                <a:latin typeface="Calibri" pitchFamily="34" charset="0"/>
                <a:ea typeface="Calibri" pitchFamily="34" charset="-122"/>
                <a:cs typeface="Calibri" pitchFamily="34" charset="-120"/>
              </a:rPr>
              <a:t>Shreyas: interface and document upload flow</a:t>
            </a:r>
            <a:endParaRPr lang="en-US" sz="1300" dirty="0"/>
          </a:p>
        </p:txBody>
      </p:sp>
      <p:sp>
        <p:nvSpPr>
          <p:cNvPr id="24" name="Text 22"/>
          <p:cNvSpPr/>
          <p:nvPr/>
        </p:nvSpPr>
        <p:spPr>
          <a:xfrm>
            <a:off x="6309360" y="3108960"/>
            <a:ext cx="521208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Integrations</a:t>
            </a:r>
            <a:endParaRPr lang="en-US" sz="1600" dirty="0"/>
          </a:p>
        </p:txBody>
      </p:sp>
      <p:sp>
        <p:nvSpPr>
          <p:cNvPr id="25" name="Text 23"/>
          <p:cNvSpPr/>
          <p:nvPr/>
        </p:nvSpPr>
        <p:spPr>
          <a:xfrm>
            <a:off x="6309360" y="3520440"/>
            <a:ext cx="521208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OCR and document parsing library</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LLM API for reasoning and language understanding</a:t>
            </a:r>
            <a:endParaRPr lang="en-US" sz="1300" dirty="0"/>
          </a:p>
          <a:p>
            <a:pPr marL="342900" indent="-342900">
              <a:spcAft>
                <a:spcPts val="600"/>
              </a:spcAft>
              <a:buSzPct val="100000"/>
              <a:buChar char="•"/>
            </a:pPr>
            <a:r>
              <a:rPr lang="en-US" sz="1300" dirty="0">
                <a:solidFill>
                  <a:srgbClr val="2B2B2B"/>
                </a:solidFill>
                <a:latin typeface="Calibri" pitchFamily="34" charset="0"/>
                <a:ea typeface="Calibri" pitchFamily="34" charset="-122"/>
                <a:cs typeface="Calibri" pitchFamily="34" charset="-120"/>
              </a:rPr>
              <a:t>Vector database for rule and clause retrieval</a:t>
            </a:r>
            <a:endParaRPr lang="en-US" sz="1300" dirty="0"/>
          </a:p>
          <a:p>
            <a:pPr marL="342900" indent="-342900">
              <a:buSzPct val="100000"/>
              <a:buChar char="•"/>
            </a:pPr>
            <a:r>
              <a:rPr lang="en-US" sz="1300" dirty="0">
                <a:solidFill>
                  <a:srgbClr val="2B2B2B"/>
                </a:solidFill>
                <a:latin typeface="Calibri" pitchFamily="34" charset="0"/>
                <a:ea typeface="Calibri" pitchFamily="34" charset="-122"/>
                <a:cs typeface="Calibri" pitchFamily="34" charset="-120"/>
              </a:rPr>
              <a:t>Voice input and output for accessibility</a:t>
            </a:r>
            <a:endParaRPr lang="en-US" sz="1300" dirty="0"/>
          </a:p>
        </p:txBody>
      </p:sp>
      <p:sp>
        <p:nvSpPr>
          <p:cNvPr id="26" name="Text 24"/>
          <p:cNvSpPr/>
          <p:nvPr/>
        </p:nvSpPr>
        <p:spPr>
          <a:xfrm>
            <a:off x="6309360" y="5212080"/>
            <a:ext cx="5212080" cy="36576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Deployment</a:t>
            </a:r>
            <a:endParaRPr lang="en-US" sz="1600" dirty="0"/>
          </a:p>
        </p:txBody>
      </p:sp>
      <p:sp>
        <p:nvSpPr>
          <p:cNvPr id="27" name="Text 25"/>
          <p:cNvSpPr/>
          <p:nvPr/>
        </p:nvSpPr>
        <p:spPr>
          <a:xfrm>
            <a:off x="6309360" y="5596128"/>
            <a:ext cx="5212080" cy="640080"/>
          </a:xfrm>
          <a:prstGeom prst="rect">
            <a:avLst/>
          </a:prstGeom>
          <a:noFill/>
          <a:ln/>
        </p:spPr>
        <p:txBody>
          <a:bodyPr wrap="square" lIns="0" tIns="0" rIns="0" bIns="0" rtlCol="0" anchor="t"/>
          <a:lstStyle/>
          <a:p>
            <a:pPr indent="0" marL="0">
              <a:buNone/>
            </a:pPr>
            <a:r>
              <a:rPr lang="en-US" sz="1300" dirty="0">
                <a:solidFill>
                  <a:srgbClr val="2B2B2B"/>
                </a:solidFill>
                <a:latin typeface="Calibri" pitchFamily="34" charset="0"/>
                <a:ea typeface="Calibri" pitchFamily="34" charset="-122"/>
                <a:cs typeface="Calibri" pitchFamily="34" charset="-120"/>
              </a:rPr>
              <a:t>A cloud hosted web app, reachable from any phone browser, no install required.</a:t>
            </a:r>
            <a:endParaRPr lang="en-US" sz="1300" dirty="0"/>
          </a:p>
        </p:txBody>
      </p:sp>
      <p:sp>
        <p:nvSpPr>
          <p:cNvPr id="28" name="Text 26"/>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GovAssist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How We Will Validate It</a:t>
            </a:r>
            <a:endParaRPr lang="en-US" sz="3400" dirty="0"/>
          </a:p>
        </p:txBody>
      </p:sp>
      <p:sp>
        <p:nvSpPr>
          <p:cNvPr id="3" name="Shape 1"/>
          <p:cNvSpPr/>
          <p:nvPr/>
        </p:nvSpPr>
        <p:spPr>
          <a:xfrm>
            <a:off x="640080" y="1417320"/>
            <a:ext cx="5257800" cy="2148840"/>
          </a:xfrm>
          <a:prstGeom prst="roundRect">
            <a:avLst>
              <a:gd name="adj" fmla="val 4255"/>
            </a:avLst>
          </a:prstGeom>
          <a:solidFill>
            <a:srgbClr val="F7F9FC"/>
          </a:solidFill>
          <a:ln/>
        </p:spPr>
      </p:sp>
      <p:sp>
        <p:nvSpPr>
          <p:cNvPr id="4" name="Shape 2"/>
          <p:cNvSpPr/>
          <p:nvPr/>
        </p:nvSpPr>
        <p:spPr>
          <a:xfrm>
            <a:off x="896112" y="1673352"/>
            <a:ext cx="640080" cy="640080"/>
          </a:xfrm>
          <a:prstGeom prst="ellipse">
            <a:avLst/>
          </a:prstGeom>
          <a:solidFill>
            <a:srgbClr val="1E2761"/>
          </a:solidFill>
          <a:ln/>
        </p:spPr>
      </p:sp>
      <p:pic>
        <p:nvPicPr>
          <p:cNvPr id="5" name="Image 0" descr="/home/claude/govassist/icons/file_white.png">    </p:cNvPr>
          <p:cNvPicPr>
            <a:picLocks noChangeAspect="1"/>
          </p:cNvPicPr>
          <p:nvPr/>
        </p:nvPicPr>
        <p:blipFill>
          <a:blip r:embed="rId1"/>
          <a:stretch>
            <a:fillRect/>
          </a:stretch>
        </p:blipFill>
        <p:spPr>
          <a:xfrm>
            <a:off x="1062533" y="1839773"/>
            <a:ext cx="307238" cy="307238"/>
          </a:xfrm>
          <a:prstGeom prst="rect">
            <a:avLst/>
          </a:prstGeom>
        </p:spPr>
      </p:pic>
      <p:sp>
        <p:nvSpPr>
          <p:cNvPr id="6" name="Text 3"/>
          <p:cNvSpPr/>
          <p:nvPr/>
        </p:nvSpPr>
        <p:spPr>
          <a:xfrm>
            <a:off x="1691640" y="1673352"/>
            <a:ext cx="397764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Data</a:t>
            </a:r>
            <a:endParaRPr lang="en-US" sz="1600" dirty="0"/>
          </a:p>
        </p:txBody>
      </p:sp>
      <p:sp>
        <p:nvSpPr>
          <p:cNvPr id="7" name="Text 4"/>
          <p:cNvSpPr/>
          <p:nvPr/>
        </p:nvSpPr>
        <p:spPr>
          <a:xfrm>
            <a:off x="914400" y="2286000"/>
            <a:ext cx="4709160" cy="109728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Real tax slabs, GST rate tables, and two to three real scheme documents, plus a test set of realistic situations: a salaried person with freelance income, a small business near the GST threshold, a senior citizen checking scheme eligibility.</a:t>
            </a:r>
            <a:endParaRPr lang="en-US" sz="1200" dirty="0"/>
          </a:p>
        </p:txBody>
      </p:sp>
      <p:sp>
        <p:nvSpPr>
          <p:cNvPr id="8" name="Shape 5"/>
          <p:cNvSpPr/>
          <p:nvPr/>
        </p:nvSpPr>
        <p:spPr>
          <a:xfrm>
            <a:off x="6172200" y="1417320"/>
            <a:ext cx="5257800" cy="2148840"/>
          </a:xfrm>
          <a:prstGeom prst="roundRect">
            <a:avLst>
              <a:gd name="adj" fmla="val 4255"/>
            </a:avLst>
          </a:prstGeom>
          <a:solidFill>
            <a:srgbClr val="F7F9FC"/>
          </a:solidFill>
          <a:ln/>
        </p:spPr>
      </p:sp>
      <p:sp>
        <p:nvSpPr>
          <p:cNvPr id="9" name="Shape 6"/>
          <p:cNvSpPr/>
          <p:nvPr/>
        </p:nvSpPr>
        <p:spPr>
          <a:xfrm>
            <a:off x="6428232" y="1673352"/>
            <a:ext cx="640080" cy="640080"/>
          </a:xfrm>
          <a:prstGeom prst="ellipse">
            <a:avLst/>
          </a:prstGeom>
          <a:solidFill>
            <a:srgbClr val="1E2761"/>
          </a:solidFill>
          <a:ln/>
        </p:spPr>
      </p:sp>
      <p:pic>
        <p:nvPicPr>
          <p:cNvPr id="10" name="Image 1" descr="/home/claude/govassist/icons/users_white.png">    </p:cNvPr>
          <p:cNvPicPr>
            <a:picLocks noChangeAspect="1"/>
          </p:cNvPicPr>
          <p:nvPr/>
        </p:nvPicPr>
        <p:blipFill>
          <a:blip r:embed="rId2"/>
          <a:stretch>
            <a:fillRect/>
          </a:stretch>
        </p:blipFill>
        <p:spPr>
          <a:xfrm>
            <a:off x="6594653" y="1839773"/>
            <a:ext cx="307238" cy="307238"/>
          </a:xfrm>
          <a:prstGeom prst="rect">
            <a:avLst/>
          </a:prstGeom>
        </p:spPr>
      </p:pic>
      <p:sp>
        <p:nvSpPr>
          <p:cNvPr id="11" name="Text 7"/>
          <p:cNvSpPr/>
          <p:nvPr/>
        </p:nvSpPr>
        <p:spPr>
          <a:xfrm>
            <a:off x="7223760" y="1673352"/>
            <a:ext cx="397764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User checks</a:t>
            </a:r>
            <a:endParaRPr lang="en-US" sz="1600" dirty="0"/>
          </a:p>
        </p:txBody>
      </p:sp>
      <p:sp>
        <p:nvSpPr>
          <p:cNvPr id="12" name="Text 8"/>
          <p:cNvSpPr/>
          <p:nvPr/>
        </p:nvSpPr>
        <p:spPr>
          <a:xfrm>
            <a:off x="6446520" y="2286000"/>
            <a:ext cx="4709160" cy="109728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Classmates and family members try the system with their own documents, sensitive fields blacked out, and flag whatever confuses them.</a:t>
            </a:r>
            <a:endParaRPr lang="en-US" sz="1200" dirty="0"/>
          </a:p>
        </p:txBody>
      </p:sp>
      <p:sp>
        <p:nvSpPr>
          <p:cNvPr id="13" name="Shape 9"/>
          <p:cNvSpPr/>
          <p:nvPr/>
        </p:nvSpPr>
        <p:spPr>
          <a:xfrm>
            <a:off x="640080" y="3840480"/>
            <a:ext cx="5257800" cy="2148840"/>
          </a:xfrm>
          <a:prstGeom prst="roundRect">
            <a:avLst>
              <a:gd name="adj" fmla="val 4255"/>
            </a:avLst>
          </a:prstGeom>
          <a:solidFill>
            <a:srgbClr val="F7F9FC"/>
          </a:solidFill>
          <a:ln/>
        </p:spPr>
      </p:sp>
      <p:sp>
        <p:nvSpPr>
          <p:cNvPr id="14" name="Shape 10"/>
          <p:cNvSpPr/>
          <p:nvPr/>
        </p:nvSpPr>
        <p:spPr>
          <a:xfrm>
            <a:off x="896112" y="4096512"/>
            <a:ext cx="640080" cy="640080"/>
          </a:xfrm>
          <a:prstGeom prst="ellipse">
            <a:avLst/>
          </a:prstGeom>
          <a:solidFill>
            <a:srgbClr val="1E2761"/>
          </a:solidFill>
          <a:ln/>
        </p:spPr>
      </p:sp>
      <p:pic>
        <p:nvPicPr>
          <p:cNvPr id="15" name="Image 2" descr="/home/claude/govassist/icons/check_white.png">    </p:cNvPr>
          <p:cNvPicPr>
            <a:picLocks noChangeAspect="1"/>
          </p:cNvPicPr>
          <p:nvPr/>
        </p:nvPicPr>
        <p:blipFill>
          <a:blip r:embed="rId3"/>
          <a:stretch>
            <a:fillRect/>
          </a:stretch>
        </p:blipFill>
        <p:spPr>
          <a:xfrm>
            <a:off x="1062533" y="4262933"/>
            <a:ext cx="307238" cy="307238"/>
          </a:xfrm>
          <a:prstGeom prst="rect">
            <a:avLst/>
          </a:prstGeom>
        </p:spPr>
      </p:pic>
      <p:sp>
        <p:nvSpPr>
          <p:cNvPr id="16" name="Text 11"/>
          <p:cNvSpPr/>
          <p:nvPr/>
        </p:nvSpPr>
        <p:spPr>
          <a:xfrm>
            <a:off x="1691640" y="4096512"/>
            <a:ext cx="397764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Tests</a:t>
            </a:r>
            <a:endParaRPr lang="en-US" sz="1600" dirty="0"/>
          </a:p>
        </p:txBody>
      </p:sp>
      <p:sp>
        <p:nvSpPr>
          <p:cNvPr id="17" name="Text 12"/>
          <p:cNvSpPr/>
          <p:nvPr/>
        </p:nvSpPr>
        <p:spPr>
          <a:xfrm>
            <a:off x="914400" y="4709160"/>
            <a:ext cx="4709160" cy="109728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Precision and recall on eligibility calls, and accuracy of the recommended ITR form and GST return type.</a:t>
            </a:r>
            <a:endParaRPr lang="en-US" sz="1200" dirty="0"/>
          </a:p>
        </p:txBody>
      </p:sp>
      <p:sp>
        <p:nvSpPr>
          <p:cNvPr id="18" name="Shape 13"/>
          <p:cNvSpPr/>
          <p:nvPr/>
        </p:nvSpPr>
        <p:spPr>
          <a:xfrm>
            <a:off x="6172200" y="3840480"/>
            <a:ext cx="5257800" cy="2148840"/>
          </a:xfrm>
          <a:prstGeom prst="roundRect">
            <a:avLst>
              <a:gd name="adj" fmla="val 4255"/>
            </a:avLst>
          </a:prstGeom>
          <a:solidFill>
            <a:srgbClr val="F7F9FC"/>
          </a:solidFill>
          <a:ln/>
        </p:spPr>
      </p:sp>
      <p:sp>
        <p:nvSpPr>
          <p:cNvPr id="19" name="Shape 14"/>
          <p:cNvSpPr/>
          <p:nvPr/>
        </p:nvSpPr>
        <p:spPr>
          <a:xfrm>
            <a:off x="6428232" y="4096512"/>
            <a:ext cx="640080" cy="640080"/>
          </a:xfrm>
          <a:prstGeom prst="ellipse">
            <a:avLst/>
          </a:prstGeom>
          <a:solidFill>
            <a:srgbClr val="1E2761"/>
          </a:solidFill>
          <a:ln/>
        </p:spPr>
      </p:sp>
      <p:pic>
        <p:nvPicPr>
          <p:cNvPr id="20" name="Image 3" descr="/home/claude/govassist/icons/trend_white.png">    </p:cNvPr>
          <p:cNvPicPr>
            <a:picLocks noChangeAspect="1"/>
          </p:cNvPicPr>
          <p:nvPr/>
        </p:nvPicPr>
        <p:blipFill>
          <a:blip r:embed="rId4"/>
          <a:stretch>
            <a:fillRect/>
          </a:stretch>
        </p:blipFill>
        <p:spPr>
          <a:xfrm>
            <a:off x="6594653" y="4262933"/>
            <a:ext cx="307238" cy="307238"/>
          </a:xfrm>
          <a:prstGeom prst="rect">
            <a:avLst/>
          </a:prstGeom>
        </p:spPr>
      </p:pic>
      <p:sp>
        <p:nvSpPr>
          <p:cNvPr id="21" name="Text 15"/>
          <p:cNvSpPr/>
          <p:nvPr/>
        </p:nvSpPr>
        <p:spPr>
          <a:xfrm>
            <a:off x="7223760" y="4096512"/>
            <a:ext cx="3977640" cy="411480"/>
          </a:xfrm>
          <a:prstGeom prst="rect">
            <a:avLst/>
          </a:prstGeom>
          <a:noFill/>
          <a:ln/>
        </p:spPr>
        <p:txBody>
          <a:bodyPr wrap="square" lIns="0" tIns="0" rIns="0" bIns="0" rtlCol="0" anchor="ctr"/>
          <a:lstStyle/>
          <a:p>
            <a:pPr indent="0" marL="0">
              <a:buNone/>
            </a:pPr>
            <a:r>
              <a:rPr lang="en-US" sz="1600" b="1" dirty="0">
                <a:solidFill>
                  <a:srgbClr val="1E2761"/>
                </a:solidFill>
                <a:latin typeface="Cambria" pitchFamily="34" charset="0"/>
                <a:ea typeface="Cambria" pitchFamily="34" charset="-122"/>
                <a:cs typeface="Cambria" pitchFamily="34" charset="-120"/>
              </a:rPr>
              <a:t>Evaluation criteria</a:t>
            </a:r>
            <a:endParaRPr lang="en-US" sz="1600" dirty="0"/>
          </a:p>
        </p:txBody>
      </p:sp>
      <p:sp>
        <p:nvSpPr>
          <p:cNvPr id="22" name="Text 16"/>
          <p:cNvSpPr/>
          <p:nvPr/>
        </p:nvSpPr>
        <p:spPr>
          <a:xfrm>
            <a:off x="6446520" y="4709160"/>
            <a:ext cx="4709160" cy="1097280"/>
          </a:xfrm>
          <a:prstGeom prst="rect">
            <a:avLst/>
          </a:prstGeom>
          <a:noFill/>
          <a:ln/>
        </p:spPr>
        <p:txBody>
          <a:bodyPr wrap="square" lIns="0" tIns="0" rIns="0" bIns="0" rtlCol="0" anchor="t"/>
          <a:lstStyle/>
          <a:p>
            <a:pPr indent="0" marL="0">
              <a:lnSpc>
                <a:spcPct val="115000"/>
              </a:lnSpc>
              <a:buNone/>
            </a:pPr>
            <a:r>
              <a:rPr lang="en-US" sz="1200" dirty="0">
                <a:solidFill>
                  <a:srgbClr val="2B2B2B"/>
                </a:solidFill>
                <a:latin typeface="Calibri" pitchFamily="34" charset="0"/>
                <a:ea typeface="Calibri" pitchFamily="34" charset="-122"/>
                <a:cs typeface="Calibri" pitchFamily="34" charset="-120"/>
              </a:rPr>
              <a:t>Percentage of answers that are correct and clause grounded, and the drop in unsupported claims once the verification agent is switched on.</a:t>
            </a:r>
            <a:endParaRPr lang="en-US" sz="1200" dirty="0"/>
          </a:p>
        </p:txBody>
      </p:sp>
      <p:sp>
        <p:nvSpPr>
          <p:cNvPr id="23" name="Text 17"/>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GovAssist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lIns="0" tIns="0" rIns="0" bIns="0" rtlCol="0" anchor="ctr"/>
          <a:lstStyle/>
          <a:p>
            <a:pPr indent="0" marL="0">
              <a:buNone/>
            </a:pPr>
            <a:r>
              <a:rPr lang="en-US" sz="3400" b="1" dirty="0">
                <a:solidFill>
                  <a:srgbClr val="1E2761"/>
                </a:solidFill>
                <a:latin typeface="Cambria" pitchFamily="34" charset="0"/>
                <a:ea typeface="Cambria" pitchFamily="34" charset="-122"/>
                <a:cs typeface="Cambria" pitchFamily="34" charset="-120"/>
              </a:rPr>
              <a:t>Feasibility and Risk</a:t>
            </a:r>
            <a:endParaRPr lang="en-US" sz="3400" dirty="0"/>
          </a:p>
        </p:txBody>
      </p:sp>
      <p:sp>
        <p:nvSpPr>
          <p:cNvPr id="3" name="Shape 1"/>
          <p:cNvSpPr/>
          <p:nvPr/>
        </p:nvSpPr>
        <p:spPr>
          <a:xfrm>
            <a:off x="640080" y="1463040"/>
            <a:ext cx="685800" cy="685800"/>
          </a:xfrm>
          <a:prstGeom prst="ellipse">
            <a:avLst/>
          </a:prstGeom>
          <a:solidFill>
            <a:srgbClr val="1E2761"/>
          </a:solidFill>
          <a:ln/>
        </p:spPr>
      </p:sp>
      <p:pic>
        <p:nvPicPr>
          <p:cNvPr id="4" name="Image 0" descr="/home/claude/govassist/icons/alert_white.png">    </p:cNvPr>
          <p:cNvPicPr>
            <a:picLocks noChangeAspect="1"/>
          </p:cNvPicPr>
          <p:nvPr/>
        </p:nvPicPr>
        <p:blipFill>
          <a:blip r:embed="rId1"/>
          <a:stretch>
            <a:fillRect/>
          </a:stretch>
        </p:blipFill>
        <p:spPr>
          <a:xfrm>
            <a:off x="818388" y="1641348"/>
            <a:ext cx="329184" cy="329184"/>
          </a:xfrm>
          <a:prstGeom prst="rect">
            <a:avLst/>
          </a:prstGeom>
        </p:spPr>
      </p:pic>
      <p:sp>
        <p:nvSpPr>
          <p:cNvPr id="5" name="Text 2"/>
          <p:cNvSpPr/>
          <p:nvPr/>
        </p:nvSpPr>
        <p:spPr>
          <a:xfrm>
            <a:off x="1600200" y="1417320"/>
            <a:ext cx="987552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Unknowns and dependencies</a:t>
            </a:r>
            <a:endParaRPr lang="en-US" sz="1700" dirty="0"/>
          </a:p>
        </p:txBody>
      </p:sp>
      <p:sp>
        <p:nvSpPr>
          <p:cNvPr id="6" name="Text 3"/>
          <p:cNvSpPr/>
          <p:nvPr/>
        </p:nvSpPr>
        <p:spPr>
          <a:xfrm>
            <a:off x="1600200" y="1828800"/>
            <a:ext cx="9875520" cy="960120"/>
          </a:xfrm>
          <a:prstGeom prst="rect">
            <a:avLst/>
          </a:prstGeom>
          <a:noFill/>
          <a:ln/>
        </p:spPr>
        <p:txBody>
          <a:bodyPr wrap="square" lIns="0" tIns="0" rIns="0" bIns="0" rtlCol="0" anchor="t"/>
          <a:lstStyle/>
          <a:p>
            <a:pPr indent="0" marL="0">
              <a:lnSpc>
                <a:spcPct val="120000"/>
              </a:lnSpc>
              <a:buNone/>
            </a:pPr>
            <a:r>
              <a:rPr lang="en-US" sz="1300" dirty="0">
                <a:solidFill>
                  <a:srgbClr val="2B2B2B"/>
                </a:solidFill>
                <a:latin typeface="Calibri" pitchFamily="34" charset="0"/>
                <a:ea typeface="Calibri" pitchFamily="34" charset="-122"/>
                <a:cs typeface="Calibri" pitchFamily="34" charset="-120"/>
              </a:rPr>
              <a:t>How well extraction handles handwritten or low quality documents, and whether verification meaningfully cuts down wrong answers. We depend on continued LLM API access, a document parsing library, and rule documents we keep updated ourselves.</a:t>
            </a:r>
            <a:endParaRPr lang="en-US" sz="1300" dirty="0"/>
          </a:p>
        </p:txBody>
      </p:sp>
      <p:sp>
        <p:nvSpPr>
          <p:cNvPr id="7" name="Shape 4"/>
          <p:cNvSpPr/>
          <p:nvPr/>
        </p:nvSpPr>
        <p:spPr>
          <a:xfrm>
            <a:off x="640080" y="2880360"/>
            <a:ext cx="685800" cy="685800"/>
          </a:xfrm>
          <a:prstGeom prst="ellipse">
            <a:avLst/>
          </a:prstGeom>
          <a:solidFill>
            <a:srgbClr val="1E2761"/>
          </a:solidFill>
          <a:ln/>
        </p:spPr>
      </p:sp>
      <p:pic>
        <p:nvPicPr>
          <p:cNvPr id="8" name="Image 1" descr="/home/claude/govassist/icons/shield_white.png">    </p:cNvPr>
          <p:cNvPicPr>
            <a:picLocks noChangeAspect="1"/>
          </p:cNvPicPr>
          <p:nvPr/>
        </p:nvPicPr>
        <p:blipFill>
          <a:blip r:embed="rId2"/>
          <a:stretch>
            <a:fillRect/>
          </a:stretch>
        </p:blipFill>
        <p:spPr>
          <a:xfrm>
            <a:off x="818388" y="3058668"/>
            <a:ext cx="329184" cy="329184"/>
          </a:xfrm>
          <a:prstGeom prst="rect">
            <a:avLst/>
          </a:prstGeom>
        </p:spPr>
      </p:pic>
      <p:sp>
        <p:nvSpPr>
          <p:cNvPr id="9" name="Text 5"/>
          <p:cNvSpPr/>
          <p:nvPr/>
        </p:nvSpPr>
        <p:spPr>
          <a:xfrm>
            <a:off x="1600200" y="2834640"/>
            <a:ext cx="987552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Privacy and security</a:t>
            </a:r>
            <a:endParaRPr lang="en-US" sz="1700" dirty="0"/>
          </a:p>
        </p:txBody>
      </p:sp>
      <p:sp>
        <p:nvSpPr>
          <p:cNvPr id="10" name="Text 6"/>
          <p:cNvSpPr/>
          <p:nvPr/>
        </p:nvSpPr>
        <p:spPr>
          <a:xfrm>
            <a:off x="1600200" y="3246120"/>
            <a:ext cx="9875520" cy="960120"/>
          </a:xfrm>
          <a:prstGeom prst="rect">
            <a:avLst/>
          </a:prstGeom>
          <a:noFill/>
          <a:ln/>
        </p:spPr>
        <p:txBody>
          <a:bodyPr wrap="square" lIns="0" tIns="0" rIns="0" bIns="0" rtlCol="0" anchor="t"/>
          <a:lstStyle/>
          <a:p>
            <a:pPr indent="0" marL="0">
              <a:lnSpc>
                <a:spcPct val="120000"/>
              </a:lnSpc>
              <a:buNone/>
            </a:pPr>
            <a:r>
              <a:rPr lang="en-US" sz="1300" dirty="0">
                <a:solidFill>
                  <a:srgbClr val="2B2B2B"/>
                </a:solidFill>
                <a:latin typeface="Calibri" pitchFamily="34" charset="0"/>
                <a:ea typeface="Calibri" pitchFamily="34" charset="-122"/>
                <a:cs typeface="Calibri" pitchFamily="34" charset="-120"/>
              </a:rPr>
              <a:t>Sensitive documents, income data, ID numbers, are processed and then discarded, never stored permanently. The system never files anything on its own, it only prepares a draft the user submits themselves.</a:t>
            </a:r>
            <a:endParaRPr lang="en-US" sz="1300" dirty="0"/>
          </a:p>
        </p:txBody>
      </p:sp>
      <p:sp>
        <p:nvSpPr>
          <p:cNvPr id="11" name="Shape 7"/>
          <p:cNvSpPr/>
          <p:nvPr/>
        </p:nvSpPr>
        <p:spPr>
          <a:xfrm>
            <a:off x="640080" y="4297680"/>
            <a:ext cx="685800" cy="685800"/>
          </a:xfrm>
          <a:prstGeom prst="ellipse">
            <a:avLst/>
          </a:prstGeom>
          <a:solidFill>
            <a:srgbClr val="1E2761"/>
          </a:solidFill>
          <a:ln/>
        </p:spPr>
      </p:sp>
      <p:pic>
        <p:nvPicPr>
          <p:cNvPr id="12" name="Image 2" descr="/home/claude/govassist/icons/check_white.png">    </p:cNvPr>
          <p:cNvPicPr>
            <a:picLocks noChangeAspect="1"/>
          </p:cNvPicPr>
          <p:nvPr/>
        </p:nvPicPr>
        <p:blipFill>
          <a:blip r:embed="rId3"/>
          <a:stretch>
            <a:fillRect/>
          </a:stretch>
        </p:blipFill>
        <p:spPr>
          <a:xfrm>
            <a:off x="818388" y="4475988"/>
            <a:ext cx="329184" cy="329184"/>
          </a:xfrm>
          <a:prstGeom prst="rect">
            <a:avLst/>
          </a:prstGeom>
        </p:spPr>
      </p:pic>
      <p:sp>
        <p:nvSpPr>
          <p:cNvPr id="13" name="Text 8"/>
          <p:cNvSpPr/>
          <p:nvPr/>
        </p:nvSpPr>
        <p:spPr>
          <a:xfrm>
            <a:off x="1600200" y="4251960"/>
            <a:ext cx="9875520" cy="36576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Fallback</a:t>
            </a:r>
            <a:endParaRPr lang="en-US" sz="1700" dirty="0"/>
          </a:p>
        </p:txBody>
      </p:sp>
      <p:sp>
        <p:nvSpPr>
          <p:cNvPr id="14" name="Text 9"/>
          <p:cNvSpPr/>
          <p:nvPr/>
        </p:nvSpPr>
        <p:spPr>
          <a:xfrm>
            <a:off x="1600200" y="4663440"/>
            <a:ext cx="9875520" cy="960120"/>
          </a:xfrm>
          <a:prstGeom prst="rect">
            <a:avLst/>
          </a:prstGeom>
          <a:noFill/>
          <a:ln/>
        </p:spPr>
        <p:txBody>
          <a:bodyPr wrap="square" lIns="0" tIns="0" rIns="0" bIns="0" rtlCol="0" anchor="t"/>
          <a:lstStyle/>
          <a:p>
            <a:pPr indent="0" marL="0">
              <a:lnSpc>
                <a:spcPct val="120000"/>
              </a:lnSpc>
              <a:buNone/>
            </a:pPr>
            <a:r>
              <a:rPr lang="en-US" sz="1300" dirty="0">
                <a:solidFill>
                  <a:srgbClr val="2B2B2B"/>
                </a:solidFill>
                <a:latin typeface="Calibri" pitchFamily="34" charset="0"/>
                <a:ea typeface="Calibri" pitchFamily="34" charset="-122"/>
                <a:cs typeface="Calibri" pitchFamily="34" charset="-120"/>
              </a:rPr>
              <a:t>When the verification agent is not confident, the system says so plainly instead of guessing, and points the user to the official portal or a professional.</a:t>
            </a:r>
            <a:endParaRPr lang="en-US" sz="1300" dirty="0"/>
          </a:p>
        </p:txBody>
      </p:sp>
      <p:sp>
        <p:nvSpPr>
          <p:cNvPr id="15" name="Text 10"/>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9AA5B1"/>
                </a:solidFill>
                <a:latin typeface="Calibri" pitchFamily="34" charset="0"/>
                <a:ea typeface="Calibri" pitchFamily="34" charset="-122"/>
                <a:cs typeface="Calibri" pitchFamily="34" charset="-120"/>
              </a:rPr>
              <a:t>GovAssist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Shape 1"/>
          <p:cNvSpPr/>
          <p:nvPr/>
        </p:nvSpPr>
        <p:spPr>
          <a:xfrm>
            <a:off x="640080" y="502920"/>
            <a:ext cx="914400" cy="914400"/>
          </a:xfrm>
          <a:prstGeom prst="ellipse">
            <a:avLst/>
          </a:prstGeom>
          <a:solidFill>
            <a:srgbClr val="16205A"/>
          </a:solidFill>
          <a:ln/>
        </p:spPr>
      </p:sp>
      <p:pic>
        <p:nvPicPr>
          <p:cNvPr id="4" name="Image 0" descr="/home/claude/govassist/icons/award_white.png">    </p:cNvPr>
          <p:cNvPicPr>
            <a:picLocks noChangeAspect="1"/>
          </p:cNvPicPr>
          <p:nvPr/>
        </p:nvPicPr>
        <p:blipFill>
          <a:blip r:embed="rId1"/>
          <a:stretch>
            <a:fillRect/>
          </a:stretch>
        </p:blipFill>
        <p:spPr>
          <a:xfrm>
            <a:off x="877824" y="740664"/>
            <a:ext cx="438912" cy="438912"/>
          </a:xfrm>
          <a:prstGeom prst="rect">
            <a:avLst/>
          </a:prstGeom>
        </p:spPr>
      </p:pic>
      <p:sp>
        <p:nvSpPr>
          <p:cNvPr id="5" name="Text 2"/>
          <p:cNvSpPr/>
          <p:nvPr/>
        </p:nvSpPr>
        <p:spPr>
          <a:xfrm>
            <a:off x="1828800" y="548640"/>
            <a:ext cx="822960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Why This One</a:t>
            </a:r>
            <a:endParaRPr lang="en-US" sz="3400" dirty="0"/>
          </a:p>
        </p:txBody>
      </p:sp>
      <p:sp>
        <p:nvSpPr>
          <p:cNvPr id="6" name="Text 3"/>
          <p:cNvSpPr/>
          <p:nvPr/>
        </p:nvSpPr>
        <p:spPr>
          <a:xfrm>
            <a:off x="640080" y="1554480"/>
            <a:ext cx="1088136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We considered three other directions before settling on this one.</a:t>
            </a:r>
            <a:endParaRPr lang="en-US" sz="1500" dirty="0"/>
          </a:p>
        </p:txBody>
      </p:sp>
      <p:sp>
        <p:nvSpPr>
          <p:cNvPr id="7" name="Shape 4"/>
          <p:cNvSpPr/>
          <p:nvPr/>
        </p:nvSpPr>
        <p:spPr>
          <a:xfrm>
            <a:off x="640080" y="2148840"/>
            <a:ext cx="640080" cy="640080"/>
          </a:xfrm>
          <a:prstGeom prst="ellipse">
            <a:avLst/>
          </a:prstGeom>
          <a:solidFill>
            <a:srgbClr val="16205A"/>
          </a:solidFill>
          <a:ln/>
        </p:spPr>
      </p:sp>
      <p:pic>
        <p:nvPicPr>
          <p:cNvPr id="8" name="Image 1" descr="/home/claude/govassist/icons/trend_white.png">    </p:cNvPr>
          <p:cNvPicPr>
            <a:picLocks noChangeAspect="1"/>
          </p:cNvPicPr>
          <p:nvPr/>
        </p:nvPicPr>
        <p:blipFill>
          <a:blip r:embed="rId2"/>
          <a:stretch>
            <a:fillRect/>
          </a:stretch>
        </p:blipFill>
        <p:spPr>
          <a:xfrm>
            <a:off x="806501" y="2315261"/>
            <a:ext cx="307238" cy="307238"/>
          </a:xfrm>
          <a:prstGeom prst="rect">
            <a:avLst/>
          </a:prstGeom>
        </p:spPr>
      </p:pic>
      <p:sp>
        <p:nvSpPr>
          <p:cNvPr id="9" name="Text 5"/>
          <p:cNvSpPr/>
          <p:nvPr/>
        </p:nvSpPr>
        <p:spPr>
          <a:xfrm>
            <a:off x="1463040" y="2148840"/>
            <a:ext cx="10058400" cy="822960"/>
          </a:xfrm>
          <a:prstGeom prst="rect">
            <a:avLst/>
          </a:prstGeom>
          <a:noFill/>
          <a:ln/>
        </p:spPr>
        <p:txBody>
          <a:bodyPr wrap="square" lIns="0" tIns="0" rIns="0" bIns="0" rtlCol="0" anchor="ctr"/>
          <a:lstStyle/>
          <a:p>
            <a:pPr indent="0" marL="0">
              <a:lnSpc>
                <a:spcPct val="120000"/>
              </a:lnSpc>
              <a:buNone/>
            </a:pPr>
            <a:r>
              <a:rPr lang="en-US" sz="1350" b="1" dirty="0">
                <a:solidFill>
                  <a:srgbClr val="FFFFFF"/>
                </a:solidFill>
                <a:latin typeface="Calibri" pitchFamily="34" charset="0"/>
                <a:ea typeface="Calibri" pitchFamily="34" charset="-122"/>
                <a:cs typeface="Calibri" pitchFamily="34" charset="-120"/>
              </a:rPr>
              <a:t>Foresight: </a:t>
            </a:r>
            <a:pPr indent="0" marL="0">
              <a:lnSpc>
                <a:spcPct val="120000"/>
              </a:lnSpc>
              <a:buNone/>
            </a:pPr>
            <a:r>
              <a:rPr lang="en-US" sz="1350" dirty="0">
                <a:solidFill>
                  <a:srgbClr val="CADCFC"/>
                </a:solidFill>
                <a:latin typeface="Calibri" pitchFamily="34" charset="0"/>
                <a:ea typeface="Calibri" pitchFamily="34" charset="-122"/>
                <a:cs typeface="Calibri" pitchFamily="34" charset="-120"/>
              </a:rPr>
              <a:t>a semester workload balancer. Strong requirements angle, but it only helps at one narrow moment each term.</a:t>
            </a:r>
            <a:endParaRPr lang="en-US" sz="1350" dirty="0"/>
          </a:p>
        </p:txBody>
      </p:sp>
      <p:sp>
        <p:nvSpPr>
          <p:cNvPr id="10" name="Shape 6"/>
          <p:cNvSpPr/>
          <p:nvPr/>
        </p:nvSpPr>
        <p:spPr>
          <a:xfrm>
            <a:off x="640080" y="3063240"/>
            <a:ext cx="640080" cy="640080"/>
          </a:xfrm>
          <a:prstGeom prst="ellipse">
            <a:avLst/>
          </a:prstGeom>
          <a:solidFill>
            <a:srgbClr val="16205A"/>
          </a:solidFill>
          <a:ln/>
        </p:spPr>
      </p:sp>
      <p:pic>
        <p:nvPicPr>
          <p:cNvPr id="11" name="Image 2" descr="/home/claude/govassist/icons/check_white.png">    </p:cNvPr>
          <p:cNvPicPr>
            <a:picLocks noChangeAspect="1"/>
          </p:cNvPicPr>
          <p:nvPr/>
        </p:nvPicPr>
        <p:blipFill>
          <a:blip r:embed="rId3"/>
          <a:stretch>
            <a:fillRect/>
          </a:stretch>
        </p:blipFill>
        <p:spPr>
          <a:xfrm>
            <a:off x="806501" y="3229661"/>
            <a:ext cx="307238" cy="307238"/>
          </a:xfrm>
          <a:prstGeom prst="rect">
            <a:avLst/>
          </a:prstGeom>
        </p:spPr>
      </p:pic>
      <p:sp>
        <p:nvSpPr>
          <p:cNvPr id="12" name="Text 7"/>
          <p:cNvSpPr/>
          <p:nvPr/>
        </p:nvSpPr>
        <p:spPr>
          <a:xfrm>
            <a:off x="1463040" y="3063240"/>
            <a:ext cx="10058400" cy="822960"/>
          </a:xfrm>
          <a:prstGeom prst="rect">
            <a:avLst/>
          </a:prstGeom>
          <a:noFill/>
          <a:ln/>
        </p:spPr>
        <p:txBody>
          <a:bodyPr wrap="square" lIns="0" tIns="0" rIns="0" bIns="0" rtlCol="0" anchor="ctr"/>
          <a:lstStyle/>
          <a:p>
            <a:pPr indent="0" marL="0">
              <a:lnSpc>
                <a:spcPct val="120000"/>
              </a:lnSpc>
              <a:buNone/>
            </a:pPr>
            <a:r>
              <a:rPr lang="en-US" sz="1350" b="1" dirty="0">
                <a:solidFill>
                  <a:srgbClr val="FFFFFF"/>
                </a:solidFill>
                <a:latin typeface="Calibri" pitchFamily="34" charset="0"/>
                <a:ea typeface="Calibri" pitchFamily="34" charset="-122"/>
                <a:cs typeface="Calibri" pitchFamily="34" charset="-120"/>
              </a:rPr>
              <a:t>FoundIt: </a:t>
            </a:r>
            <a:pPr indent="0" marL="0">
              <a:lnSpc>
                <a:spcPct val="120000"/>
              </a:lnSpc>
              <a:buNone/>
            </a:pPr>
            <a:r>
              <a:rPr lang="en-US" sz="1350" dirty="0">
                <a:solidFill>
                  <a:srgbClr val="CADCFC"/>
                </a:solidFill>
                <a:latin typeface="Calibri" pitchFamily="34" charset="0"/>
                <a:ea typeface="Calibri" pitchFamily="34" charset="-122"/>
                <a:cs typeface="Calibri" pitchFamily="34" charset="-120"/>
              </a:rPr>
              <a:t>a campus lost and found portal. Clean and testable, but its value depends on campus adoption over WhatsApp groups.</a:t>
            </a:r>
            <a:endParaRPr lang="en-US" sz="1350" dirty="0"/>
          </a:p>
        </p:txBody>
      </p:sp>
      <p:sp>
        <p:nvSpPr>
          <p:cNvPr id="13" name="Shape 8"/>
          <p:cNvSpPr/>
          <p:nvPr/>
        </p:nvSpPr>
        <p:spPr>
          <a:xfrm>
            <a:off x="640080" y="3977640"/>
            <a:ext cx="640080" cy="640080"/>
          </a:xfrm>
          <a:prstGeom prst="ellipse">
            <a:avLst/>
          </a:prstGeom>
          <a:solidFill>
            <a:srgbClr val="16205A"/>
          </a:solidFill>
          <a:ln/>
        </p:spPr>
      </p:sp>
      <p:pic>
        <p:nvPicPr>
          <p:cNvPr id="14" name="Image 3" descr="/home/claude/govassist/icons/award_white.png">    </p:cNvPr>
          <p:cNvPicPr>
            <a:picLocks noChangeAspect="1"/>
          </p:cNvPicPr>
          <p:nvPr/>
        </p:nvPicPr>
        <p:blipFill>
          <a:blip r:embed="rId4"/>
          <a:stretch>
            <a:fillRect/>
          </a:stretch>
        </p:blipFill>
        <p:spPr>
          <a:xfrm>
            <a:off x="806501" y="4144061"/>
            <a:ext cx="307238" cy="307238"/>
          </a:xfrm>
          <a:prstGeom prst="rect">
            <a:avLst/>
          </a:prstGeom>
        </p:spPr>
      </p:pic>
      <p:sp>
        <p:nvSpPr>
          <p:cNvPr id="15" name="Text 9"/>
          <p:cNvSpPr/>
          <p:nvPr/>
        </p:nvSpPr>
        <p:spPr>
          <a:xfrm>
            <a:off x="1463040" y="3977640"/>
            <a:ext cx="10058400" cy="822960"/>
          </a:xfrm>
          <a:prstGeom prst="rect">
            <a:avLst/>
          </a:prstGeom>
          <a:noFill/>
          <a:ln/>
        </p:spPr>
        <p:txBody>
          <a:bodyPr wrap="square" lIns="0" tIns="0" rIns="0" bIns="0" rtlCol="0" anchor="ctr"/>
          <a:lstStyle/>
          <a:p>
            <a:pPr indent="0" marL="0">
              <a:lnSpc>
                <a:spcPct val="120000"/>
              </a:lnSpc>
              <a:buNone/>
            </a:pPr>
            <a:r>
              <a:rPr lang="en-US" sz="1350" b="1" dirty="0">
                <a:solidFill>
                  <a:srgbClr val="FFFFFF"/>
                </a:solidFill>
                <a:latin typeface="Calibri" pitchFamily="34" charset="0"/>
                <a:ea typeface="Calibri" pitchFamily="34" charset="-122"/>
                <a:cs typeface="Calibri" pitchFamily="34" charset="-120"/>
              </a:rPr>
              <a:t>LaunchPad: </a:t>
            </a:r>
            <a:pPr indent="0" marL="0">
              <a:lnSpc>
                <a:spcPct val="120000"/>
              </a:lnSpc>
              <a:buNone/>
            </a:pPr>
            <a:r>
              <a:rPr lang="en-US" sz="1350" dirty="0">
                <a:solidFill>
                  <a:srgbClr val="CADCFC"/>
                </a:solidFill>
                <a:latin typeface="Calibri" pitchFamily="34" charset="0"/>
                <a:ea typeface="Calibri" pitchFamily="34" charset="-122"/>
                <a:cs typeface="Calibri" pitchFamily="34" charset="-120"/>
              </a:rPr>
              <a:t>a placement readiness platform. Great measurable innovation, but seven features is a lot to build well in one semester, and it leans on the placement cell sharing real data.</a:t>
            </a:r>
            <a:endParaRPr lang="en-US" sz="1350" dirty="0"/>
          </a:p>
        </p:txBody>
      </p:sp>
      <p:sp>
        <p:nvSpPr>
          <p:cNvPr id="16" name="Text 10"/>
          <p:cNvSpPr/>
          <p:nvPr/>
        </p:nvSpPr>
        <p:spPr>
          <a:xfrm>
            <a:off x="640080" y="5029200"/>
            <a:ext cx="10881360" cy="1005840"/>
          </a:xfrm>
          <a:prstGeom prst="rect">
            <a:avLst/>
          </a:prstGeom>
          <a:noFill/>
          <a:ln/>
        </p:spPr>
        <p:txBody>
          <a:bodyPr wrap="square" lIns="0" tIns="0" rIns="0" bIns="0" rtlCol="0" anchor="t"/>
          <a:lstStyle/>
          <a:p>
            <a:pPr indent="0" marL="0">
              <a:lnSpc>
                <a:spcPct val="125000"/>
              </a:lnSpc>
              <a:buNone/>
            </a:pPr>
            <a:r>
              <a:rPr lang="en-US" sz="1450" dirty="0">
                <a:solidFill>
                  <a:srgbClr val="CADCFC"/>
                </a:solidFill>
                <a:latin typeface="Calibri" pitchFamily="34" charset="0"/>
                <a:ea typeface="Calibri" pitchFamily="34" charset="-122"/>
                <a:cs typeface="Calibri" pitchFamily="34" charset="-120"/>
              </a:rPr>
              <a:t>GovAssist reaches the widest group of real users, forces genuine engineering work across reasoning, verification, and multi domain knowledge, and gives us something we can demo with real documents in front of anyone, not just another engineer.</a:t>
            </a:r>
            <a:endParaRPr lang="en-US" sz="1450" dirty="0"/>
          </a:p>
        </p:txBody>
      </p:sp>
      <p:sp>
        <p:nvSpPr>
          <p:cNvPr id="17" name="Text 11"/>
          <p:cNvSpPr/>
          <p:nvPr/>
        </p:nvSpPr>
        <p:spPr>
          <a:xfrm>
            <a:off x="10085832" y="6473952"/>
            <a:ext cx="1828800" cy="274320"/>
          </a:xfrm>
          <a:prstGeom prst="rect">
            <a:avLst/>
          </a:prstGeom>
          <a:noFill/>
          <a:ln/>
        </p:spPr>
        <p:txBody>
          <a:bodyPr wrap="square" lIns="0" tIns="0" rIns="0" bIns="0" rtlCol="0" anchor="ctr"/>
          <a:lstStyle/>
          <a:p>
            <a:pPr algn="r" indent="0" marL="0">
              <a:buNone/>
            </a:pPr>
            <a:r>
              <a:rPr lang="en-US" sz="900" dirty="0">
                <a:solidFill>
                  <a:srgbClr val="8FA3D9"/>
                </a:solidFill>
                <a:latin typeface="Calibri" pitchFamily="34" charset="0"/>
                <a:ea typeface="Calibri" pitchFamily="34" charset="-122"/>
                <a:cs typeface="Calibri" pitchFamily="34" charset="-120"/>
              </a:rPr>
              <a:t>GovAssist  |  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2026-08-04T19:42:23Z</dcterms:created>
  <dcterms:modified xsi:type="dcterms:W3CDTF">2026-08-04T19:42:23Z</dcterms:modified>
</cp:coreProperties>
</file>