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6"/>
  </p:notesMasterIdLst>
  <p:sldIdLst>
    <p:sldId id="256" r:id="rId3"/>
    <p:sldId id="258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</p:sldIdLst>
  <p:sldSz cx="9144000" cy="5143500" type="screen16x9"/>
  <p:notesSz cx="6858000" cy="9144000"/>
  <p:embeddedFontLst>
    <p:embeddedFont>
      <p:font typeface="Catamaran Light" panose="020B0604020202020204" charset="0"/>
      <p:regular r:id="rId27"/>
      <p:bold r:id="rId28"/>
    </p:embeddedFont>
    <p:embeddedFont>
      <p:font typeface="Fira Sans Extra Condensed Medium" panose="020B0604020202020204" charset="0"/>
      <p:regular r:id="rId29"/>
      <p:bold r:id="rId30"/>
      <p:italic r:id="rId31"/>
      <p:boldItalic r:id="rId32"/>
    </p:embeddedFont>
    <p:embeddedFont>
      <p:font typeface="Livvic" pitchFamily="2" charset="0"/>
      <p:regular r:id="rId33"/>
      <p:bold r:id="rId34"/>
      <p:italic r:id="rId35"/>
      <p:boldItalic r:id="rId36"/>
    </p:embeddedFont>
    <p:embeddedFont>
      <p:font typeface="Montserrat" pitchFamily="2" charset="0"/>
      <p:regular r:id="rId37"/>
      <p:bold r:id="rId38"/>
      <p:italic r:id="rId39"/>
      <p:boldItalic r:id="rId40"/>
    </p:embeddedFont>
    <p:embeddedFont>
      <p:font typeface="Montserrat Light" pitchFamily="2" charset="0"/>
      <p:regular r:id="rId41"/>
      <p:italic r:id="rId42"/>
    </p:embeddedFont>
    <p:embeddedFont>
      <p:font typeface="Montserrat SemiBold" pitchFamily="2" charset="0"/>
      <p:bold r:id="rId43"/>
      <p:boldItalic r:id="rId44"/>
    </p:embeddedFont>
    <p:embeddedFont>
      <p:font typeface="Proxima Nova" panose="020B0604020202020204" charset="0"/>
      <p:regular r:id="rId45"/>
      <p:bold r:id="rId46"/>
      <p:italic r:id="rId47"/>
      <p:boldItalic r:id="rId48"/>
    </p:embeddedFont>
    <p:embeddedFont>
      <p:font typeface="Proxima Nova Semibold" panose="020B0604020202020204" charset="0"/>
      <p:regular r:id="rId49"/>
      <p:bold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F43CE9-786E-499A-A3BB-C5442C21AA37}">
  <a:tblStyle styleId="{4AF43CE9-786E-499A-A3BB-C5442C21AA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font" Target="fonts/font24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3.fntdata"/><Relationship Id="rId11" Type="http://schemas.openxmlformats.org/officeDocument/2006/relationships/slide" Target="slides/slide9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8" Type="http://schemas.openxmlformats.org/officeDocument/2006/relationships/slide" Target="slides/slide6.xml"/><Relationship Id="rId51" Type="http://schemas.openxmlformats.org/officeDocument/2006/relationships/font" Target="fonts/font2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41" Type="http://schemas.openxmlformats.org/officeDocument/2006/relationships/font" Target="fonts/font15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e13d9a7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e13d9a7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40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 idx="3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4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 idx="6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7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 rot="5400000">
            <a:off x="6601629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ctrTitle" idx="13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 hasCustomPrompt="1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7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title" idx="18" hasCustomPrompt="1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8/19/2024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28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73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6"/>
          <p:cNvPicPr preferRelativeResize="0"/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12110" r="12110"/>
          <a:stretch/>
        </p:blipFill>
        <p:spPr>
          <a:xfrm flipH="1">
            <a:off x="2687192" y="0"/>
            <a:ext cx="692940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/>
          <p:nvPr/>
        </p:nvSpPr>
        <p:spPr>
          <a:xfrm rot="5400000">
            <a:off x="2558543" y="-1476792"/>
            <a:ext cx="2358166" cy="7495953"/>
          </a:xfrm>
          <a:prstGeom prst="rect">
            <a:avLst/>
          </a:prstGeom>
          <a:solidFill>
            <a:schemeClr val="accent1">
              <a:alpha val="861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ctrTitle"/>
          </p:nvPr>
        </p:nvSpPr>
        <p:spPr>
          <a:xfrm>
            <a:off x="0" y="1165671"/>
            <a:ext cx="7485603" cy="2157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 dirty="0">
                <a:solidFill>
                  <a:schemeClr val="lt1"/>
                </a:solidFill>
                <a:latin typeface="Montserrat SemiBold" pitchFamily="2" charset="0"/>
              </a:rPr>
              <a:t>UCS503</a:t>
            </a:r>
            <a:endParaRPr sz="4400" dirty="0">
              <a:solidFill>
                <a:schemeClr val="lt1"/>
              </a:solidFill>
              <a:latin typeface="Montserrat SemiBold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>
                <a:solidFill>
                  <a:schemeClr val="lt1"/>
                </a:solidFill>
                <a:latin typeface="Montserrat SemiBold" pitchFamily="2" charset="0"/>
                <a:sym typeface="Livvic"/>
              </a:rPr>
              <a:t>GovAssist</a:t>
            </a:r>
            <a:br>
              <a:rPr lang="en-IN" sz="1800" dirty="0">
                <a:solidFill>
                  <a:schemeClr val="lt1"/>
                </a:solidFill>
                <a:latin typeface="Montserrat SemiBold" pitchFamily="2" charset="0"/>
                <a:sym typeface="Livvic"/>
              </a:rPr>
            </a:br>
            <a:r>
              <a:rPr lang="en-IN" sz="1800" dirty="0">
                <a:solidFill>
                  <a:schemeClr val="lt1"/>
                </a:solidFill>
                <a:latin typeface="Montserrat Light" pitchFamily="2" charset="0"/>
                <a:sym typeface="Livvic"/>
              </a:rPr>
              <a:t>Multilingual Grounded Copilot for Government Scheme Eligibility</a:t>
            </a:r>
            <a:endParaRPr lang="en-IN" sz="4400" dirty="0">
              <a:solidFill>
                <a:schemeClr val="lt1"/>
              </a:solidFill>
              <a:latin typeface="Montserrat SemiBold" pitchFamily="2" charset="0"/>
              <a:sym typeface="Livvic"/>
            </a:endParaRPr>
          </a:p>
        </p:txBody>
      </p:sp>
      <p:sp>
        <p:nvSpPr>
          <p:cNvPr id="129" name="Google Shape;129;p26"/>
          <p:cNvSpPr txBox="1">
            <a:spLocks noGrp="1"/>
          </p:cNvSpPr>
          <p:nvPr>
            <p:ph type="subTitle" idx="1"/>
          </p:nvPr>
        </p:nvSpPr>
        <p:spPr>
          <a:xfrm>
            <a:off x="137371" y="3450268"/>
            <a:ext cx="2402100" cy="5275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Ronit, Bhavneet, Shreyas</a:t>
            </a:r>
            <a:endParaRPr b="1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Table of Contents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rner Accent TL"/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Corner Accent BR"/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TOC List"/>
          <p:cNvSpPr txBox="1"/>
          <p:nvPr/>
        </p:nvSpPr>
        <p:spPr>
          <a:xfrm>
            <a:off x="954657" y="1300000"/>
            <a:ext cx="3550000" cy="360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01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Introduction</a:t>
            </a:r>
          </a:p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02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Project Scope</a:t>
            </a:r>
          </a:p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03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Proposed Functions</a:t>
            </a:r>
          </a:p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04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Target Users</a:t>
            </a:r>
          </a:p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05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System Features</a:t>
            </a:r>
          </a:p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06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Interfaces</a:t>
            </a:r>
          </a:p>
        </p:txBody>
      </p:sp>
      <p:sp>
        <p:nvSpPr>
          <p:cNvPr id="201" name="TOC List 2"/>
          <p:cNvSpPr txBox="1"/>
          <p:nvPr/>
        </p:nvSpPr>
        <p:spPr>
          <a:xfrm>
            <a:off x="4900000" y="1300000"/>
            <a:ext cx="3550000" cy="360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07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Performance Goals</a:t>
            </a:r>
          </a:p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08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Security Measures</a:t>
            </a:r>
          </a:p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09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Quality Attributes</a:t>
            </a:r>
          </a:p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10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Initial Planning</a:t>
            </a:r>
          </a:p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11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Conclusion</a:t>
            </a:r>
          </a:p>
          <a:p>
            <a:pPr marL="457200" indent="-457200">
              <a:spcAft>
                <a:spcPts val="1800"/>
              </a:spcAft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2" charset="0"/>
              </a:rPr>
              <a:t>12  </a:t>
            </a:r>
            <a:r>
              <a:rPr lang="en-US" sz="1800" dirty="0">
                <a:solidFill>
                  <a:schemeClr val="tx1"/>
                </a:solidFill>
                <a:latin typeface="Montserrat" pitchFamily="2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Introduction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Overview: </a:t>
            </a:r>
            <a:r>
              <a:rPr lang="en-US" sz="2000" dirty="0">
                <a:latin typeface="Montserrat" pitchFamily="2" charset="0"/>
              </a:rPr>
              <a:t>GovAssist is a multilingual, grounded copilot that answers government-paperwork questions with the exact rule clause cited, instead of a confident guess. It is our UCS503 Software Engineering course project.</a:t>
            </a:r>
          </a:p>
          <a:p>
            <a:endParaRPr lang="en-US" sz="2000" b="1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Importance: </a:t>
            </a:r>
            <a:r>
              <a:rPr lang="en-US" sz="2000" dirty="0">
                <a:latin typeface="Montserrat" pitchFamily="2" charset="0"/>
              </a:rPr>
              <a:t>Millions of eligible citizens miss government schemes because rules sit in jargon-heavy English PDFs — the people most likely to qualify are least likely to read them, making trustworthy multilingual access a real need.</a:t>
            </a:r>
          </a:p>
          <a:p>
            <a:endParaRPr lang="en-US" sz="2000" b="1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Presentation Objectives: </a:t>
            </a:r>
            <a:r>
              <a:rPr lang="en-US" sz="2000" dirty="0">
                <a:latin typeface="Montserrat" pitchFamily="2" charset="0"/>
              </a:rPr>
              <a:t>We cover our system architecture, the multilingual and grounding design decisions, the scheme-eligibility MVP scope, and our sprint-wise implementation plan.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2013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Project Scope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Project Aims: </a:t>
            </a:r>
            <a:r>
              <a:rPr lang="en-US" sz="2000" dirty="0">
                <a:latin typeface="Montserrat" pitchFamily="2" charset="0"/>
              </a:rPr>
              <a:t>Give citizens an exact, cited answer to “am I eligible?” in their own language, by voice or text, instead of an unverifiable guess from an LLM.</a:t>
            </a:r>
          </a:p>
          <a:p>
            <a:endParaRPr lang="en-US" sz="2000" b="1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Deliverables: </a:t>
            </a:r>
            <a:r>
              <a:rPr lang="en-US" sz="2000" dirty="0">
                <a:latin typeface="Montserrat" pitchFamily="2" charset="0"/>
              </a:rPr>
              <a:t>A working web app (chat + voice) covering three hand-curated government schemes, a deterministic rule engine, a claim-verification agent, and a span-validated scheme corpus.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Functionality: </a:t>
            </a:r>
            <a:r>
              <a:rPr lang="en-US" sz="2000" dirty="0">
                <a:latin typeface="Montserrat" pitchFamily="2" charset="0"/>
              </a:rPr>
              <a:t>Users ask eligibility questions in English, Hindi, Punjabi, or Tamil by typing or speaking; the system asks for missing details, gives a verdict, and shows the exact government clause it relied on.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56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Proposed Functions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Major Functions: </a:t>
            </a:r>
            <a:r>
              <a:rPr lang="en-US" sz="2000" dirty="0">
                <a:latin typeface="Montserrat" pitchFamily="2" charset="0"/>
              </a:rPr>
              <a:t>Voice/text eligibility Q&amp;A, a deterministic rule engine (ELIGIBLE / NOT_ELIGIBLE / INSUFFICIENT_INFO), document upload with field extraction, and a self-verification agent that checks every claim against source clauses.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User Needs: </a:t>
            </a:r>
            <a:r>
              <a:rPr lang="en-US" sz="2000" dirty="0">
                <a:latin typeface="Montserrat" pitchFamily="2" charset="0"/>
              </a:rPr>
              <a:t>Directly answers “do I qualify and why” in the citizen’s own language and script, with a traceable government source instead of a plausible-sounding guess.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Visualization: </a:t>
            </a:r>
            <a:r>
              <a:rPr lang="en-US" sz="2000" dirty="0">
                <a:latin typeface="Montserrat" pitchFamily="2" charset="0"/>
              </a:rPr>
              <a:t>Voice or text input flows through translation, domain routing, retrieval and rule evaluation, verification, and back-translation to the final response.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531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Target Users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Audience Description: </a:t>
            </a:r>
            <a:r>
              <a:rPr lang="en-US" sz="2000" dirty="0">
                <a:latin typeface="Montserrat" pitchFamily="2" charset="0"/>
              </a:rPr>
              <a:t>Citizens applying for government welfare schemes (e.g. PM-KISAN, Ayushman Bharat, NSAP pension) who are more comfortable in a regional language than in English.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User Characteristics: </a:t>
            </a:r>
            <a:r>
              <a:rPr lang="en-US" sz="2000" dirty="0">
                <a:latin typeface="Montserrat" pitchFamily="2" charset="0"/>
              </a:rPr>
              <a:t>Often limited English text literacy, primarily mobile users, and more comfortable speaking than typing — exactly the people least likely to read a ministry PDF unaided.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User Needs Impact: </a:t>
            </a:r>
            <a:r>
              <a:rPr lang="en-US" sz="2000" dirty="0">
                <a:latin typeface="Montserrat" pitchFamily="2" charset="0"/>
              </a:rPr>
              <a:t>This is why the interface is voice-first and multilingual by design, and why every answer surfaces its verbatim source clause rather than a paraphrase.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730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 System Features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Feature List: </a:t>
            </a:r>
            <a:r>
              <a:rPr lang="en-US" sz="2000" dirty="0">
                <a:latin typeface="Montserrat" pitchFamily="2" charset="0"/>
              </a:rPr>
              <a:t>Multilingual voice + text chat, domain router, deterministic rule engine, claim-verification agent, document OCR with field extraction, and a hand-curated span-validated scheme corpus toolchain.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Functionality Details: </a:t>
            </a:r>
            <a:r>
              <a:rPr lang="en-US" sz="2000" dirty="0">
                <a:latin typeface="Montserrat" pitchFamily="2" charset="0"/>
              </a:rPr>
              <a:t>The rule engine decides eligibility; retrieval and the verifier ground every explanation in a specific clause; translation happens only at the boundary, keeping all reasoning in English.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Feature Diagram: </a:t>
            </a:r>
            <a:r>
              <a:rPr lang="en-US" sz="2000" dirty="0">
                <a:latin typeface="Montserrat" pitchFamily="2" charset="0"/>
              </a:rPr>
              <a:t>Voice/text input → domain router → scheme agent (retrieval + rule engine) → verification agent → translated, cited response.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083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Interfaces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User Interface (UI): </a:t>
            </a:r>
            <a:r>
              <a:rPr lang="en-US" sz="2000" dirty="0">
                <a:latin typeface="Montserrat" pitchFamily="2" charset="0"/>
              </a:rPr>
              <a:t>A chat-style web app with a prominent mic button, a listening/waveform indicator, and a language switcher showing native scripts (ਪੰਜਾਬੀ, தமிழ், हिन्दी).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Hardware/Software Interfaces: </a:t>
            </a:r>
            <a:r>
              <a:rPr lang="en-US" sz="2000" dirty="0">
                <a:latin typeface="Montserrat" pitchFamily="2" charset="0"/>
              </a:rPr>
              <a:t>Browser microphone/speaker via the Web Speech API as fallback, and the Bhashini/ULCA API for translation, text-to-speech, and speech recognition.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Communication Interfaces: </a:t>
            </a:r>
            <a:r>
              <a:rPr lang="en-US" sz="2000" dirty="0">
                <a:latin typeface="Montserrat" pitchFamily="2" charset="0"/>
              </a:rPr>
              <a:t>REST calls between the Next.js frontend and a FastAPI backend, with the backend calling Bhashini and the LLM provider over HTTPS.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7830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Performance Goals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Requirements</a:t>
            </a:r>
            <a:r>
              <a:rPr lang="en-US" sz="2000" dirty="0">
                <a:latin typeface="Montserrat" pitchFamily="2" charset="0"/>
              </a:rPr>
              <a:t>: Time-to-first-audio under 3 seconds, round-trip translation similarity above 0.85, and 100% preservation of amounts, dates, and scheme names through translation.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Importance</a:t>
            </a:r>
            <a:r>
              <a:rPr lang="en-US" sz="2000" dirty="0">
                <a:latin typeface="Montserrat" pitchFamily="2" charset="0"/>
              </a:rPr>
              <a:t>: A citizen deciding whether to apply needs a fast, trustworthy answer — a slow or mistranslated number, like a garbled income limit, directly harms the user.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Achievement Strategies: </a:t>
            </a:r>
            <a:r>
              <a:rPr lang="en-US" sz="2000" dirty="0">
                <a:latin typeface="Montserrat" pitchFamily="2" charset="0"/>
              </a:rPr>
              <a:t>Sentence-level TTS streaming, translation/audio caching with pre-baked demo data, and entity protection that shields numbers and names from the translator.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121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Security Measures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Security Overview: </a:t>
            </a:r>
            <a:r>
              <a:rPr lang="en-US" sz="2000" dirty="0">
                <a:latin typeface="Montserrat" pitchFamily="2" charset="0"/>
              </a:rPr>
              <a:t>Documents are processed and never stored; only extracted fields live briefly in a session-scoped store, and no eligibility determination is ever filed on the user’s behalf.</a:t>
            </a:r>
          </a:p>
          <a:p>
            <a:endParaRPr lang="en-US" sz="2000" b="1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Data Protection: </a:t>
            </a:r>
            <a:r>
              <a:rPr lang="en-US" sz="2000" dirty="0">
                <a:latin typeface="Montserrat" pitchFamily="2" charset="0"/>
              </a:rPr>
              <a:t>Uploads are processed in memory/tmpfs and deleted; extracted fields expire after a 60-minute TTL; PII such as Aadhaar/PAN numbers is redacted before reaching any LLM provider or log.</a:t>
            </a:r>
          </a:p>
          <a:p>
            <a:endParaRPr lang="en-US" sz="2000" b="1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Access Control: </a:t>
            </a:r>
            <a:r>
              <a:rPr lang="en-US" sz="2000" dirty="0">
                <a:latin typeface="Montserrat" pitchFamily="2" charset="0"/>
              </a:rPr>
              <a:t>Session-scoped opaque IDs gate access to extracted data, and structured logging enforces a redaction filter so sensitive fields never appear in captured output.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47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Quality Attributes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Reliability: </a:t>
            </a:r>
            <a:r>
              <a:rPr lang="en-US" sz="2000" dirty="0">
                <a:latin typeface="Montserrat" pitchFamily="2" charset="0"/>
              </a:rPr>
              <a:t>A deterministic rule engine, not LLM judgment, decides eligibility, and a circuit breaker with a Web Speech fallback keeps voice working through a translation-provider outage.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Usability: </a:t>
            </a:r>
            <a:r>
              <a:rPr lang="en-US" sz="2000" dirty="0">
                <a:latin typeface="Montserrat" pitchFamily="2" charset="0"/>
              </a:rPr>
              <a:t>Voice-first design, endonym language names, sentence-level playback with highlighting, and pseudo-locale testing to catch UI text that doesn’t fit in Hindi or Tamil.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Maintainability: </a:t>
            </a:r>
            <a:r>
              <a:rPr lang="en-US" sz="2000" dirty="0">
                <a:latin typeface="Montserrat" pitchFamily="2" charset="0"/>
              </a:rPr>
              <a:t>One source of truth per scheme (scheme.md), versioned prompts, and a rule pack that generates both the rule engine and the retrieval graph so the two can never drift apart.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9455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Initial Planning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Gantt Chart: </a:t>
            </a:r>
            <a:r>
              <a:rPr lang="en-US" sz="2000" dirty="0">
                <a:latin typeface="Montserrat" pitchFamily="2" charset="0"/>
              </a:rPr>
              <a:t>Seven two-week sprints across ~14 weeks: repo skeleton (Sprint 1) → multilingual text Q&amp;A (Sprint 3) → voice round-trip (Sprint 5) → final demo and deployment (Sprint 7).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Feasibility Report: </a:t>
            </a:r>
            <a:r>
              <a:rPr lang="en-US" sz="2000" dirty="0">
                <a:latin typeface="Montserrat" pitchFamily="2" charset="0"/>
              </a:rPr>
              <a:t>Free-tier services (Bhashini, Gemini/Groq, Postgres+pgvector) cover the full pipeline with no GPU or paid API budget needed for a three-person team in one semester.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Milestones: </a:t>
            </a:r>
            <a:r>
              <a:rPr lang="en-US" sz="2000" dirty="0">
                <a:latin typeface="Montserrat" pitchFamily="2" charset="0"/>
              </a:rPr>
              <a:t>Mid-sem demo (Sprint 4) speaks all four languages; Sprint 5 completes the full voice round-trip; Sprint 6 adds document upload and a metrics table; Sprint 7 delivers the final demo.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5893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Conclusion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Summary: </a:t>
            </a:r>
            <a:r>
              <a:rPr lang="en-US" sz="2000" dirty="0">
                <a:latin typeface="Montserrat" pitchFamily="2" charset="0"/>
              </a:rPr>
              <a:t>GovAssist grounds every eligibility answer in a cited government clause and makes that answer accessible by voice in a citizen’s own language, rather than trading one for the other.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Next Steps: </a:t>
            </a:r>
            <a:r>
              <a:rPr lang="en-US" sz="2000" dirty="0">
                <a:latin typeface="Montserrat" pitchFamily="2" charset="0"/>
              </a:rPr>
              <a:t>Hand-author the first scheme corpus, stand up the rule engine and verifier, and get text Q&amp;A working end-to-end in English before layering on translation and voice.</a:t>
            </a:r>
          </a:p>
          <a:p>
            <a:endParaRPr lang="en-US" sz="2000" dirty="0">
              <a:latin typeface="Montserrat" pitchFamily="2" charset="0"/>
            </a:endParaRPr>
          </a:p>
          <a:p>
            <a:r>
              <a:rPr lang="en-US" sz="2000" b="1" dirty="0">
                <a:latin typeface="Montserrat" pitchFamily="2" charset="0"/>
              </a:rPr>
              <a:t>Feedback Invitation: </a:t>
            </a:r>
            <a:r>
              <a:rPr lang="en-US" sz="2000" dirty="0">
                <a:latin typeface="Montserrat" pitchFamily="2" charset="0"/>
              </a:rPr>
              <a:t>We’d welcome feedback on our scheme prioritization and on the citation-vs-fluency tradeoff in how translated answers are displayed.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809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35725-079E-87A0-0F68-C858DB39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656" y="274200"/>
            <a:ext cx="7625752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Montserrat" pitchFamily="2" charset="0"/>
              </a:rPr>
              <a:t>References</a:t>
            </a:r>
            <a:endParaRPr lang="en-IN" dirty="0">
              <a:solidFill>
                <a:schemeClr val="tx1">
                  <a:lumMod val="5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0C7F74-6B43-EE30-24F8-FE6B37E985E8}"/>
              </a:ext>
            </a:extLst>
          </p:cNvPr>
          <p:cNvCxnSpPr/>
          <p:nvPr/>
        </p:nvCxnSpPr>
        <p:spPr>
          <a:xfrm>
            <a:off x="954657" y="884783"/>
            <a:ext cx="762575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843D5-EB8C-F854-0A0E-9E3DA1AA0BFF}"/>
              </a:ext>
            </a:extLst>
          </p:cNvPr>
          <p:cNvSpPr txBox="1">
            <a:spLocks/>
          </p:cNvSpPr>
          <p:nvPr/>
        </p:nvSpPr>
        <p:spPr>
          <a:xfrm>
            <a:off x="954657" y="1108409"/>
            <a:ext cx="7625751" cy="3760891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Montserrat" pitchFamily="2" charset="0"/>
              </a:rPr>
              <a:t>Sources: </a:t>
            </a:r>
            <a:r>
              <a:rPr lang="en-US" sz="2000" dirty="0">
                <a:latin typeface="Montserrat" pitchFamily="2" charset="0"/>
              </a:rPr>
              <a:t>Bhashini/ULCA API (Digital India); PM-KISAN, Ayushman Bharat PM-JAY and NSAP scheme guidelines; pgvector for PostgreSQL; Next.js and FastAPI documentation; shrijayan/gov_myscheme and AgriGov open datasets.</a:t>
            </a:r>
          </a:p>
        </p:txBody>
      </p:sp>
      <p:sp>
        <p:nvSpPr>
          <p:cNvPr id="10" name="Google Shape;138;p27">
            <a:extLst>
              <a:ext uri="{FF2B5EF4-FFF2-40B4-BE49-F238E27FC236}">
                <a16:creationId xmlns:a16="http://schemas.microsoft.com/office/drawing/2014/main" id="{71DA0BCC-2AC3-620E-9DAD-A5FB9CAF0B6B}"/>
              </a:ext>
            </a:extLst>
          </p:cNvPr>
          <p:cNvSpPr/>
          <p:nvPr/>
        </p:nvSpPr>
        <p:spPr>
          <a:xfrm rot="-5400000" flipH="1">
            <a:off x="83000" y="-829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8;p27">
            <a:extLst>
              <a:ext uri="{FF2B5EF4-FFF2-40B4-BE49-F238E27FC236}">
                <a16:creationId xmlns:a16="http://schemas.microsoft.com/office/drawing/2014/main" id="{DACF0831-382A-D025-F331-B663CD28D599}"/>
              </a:ext>
            </a:extLst>
          </p:cNvPr>
          <p:cNvSpPr/>
          <p:nvPr/>
        </p:nvSpPr>
        <p:spPr>
          <a:xfrm rot="-5400000" flipH="1">
            <a:off x="8512650" y="4512150"/>
            <a:ext cx="548400" cy="714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9785401"/>
      </p:ext>
    </p:extLst>
  </p:cSld>
  <p:clrMapOvr>
    <a:masterClrMapping/>
  </p:clrMapOvr>
</p:sld>
</file>

<file path=ppt/theme/theme1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387771"/>
      </a:accent1>
      <a:accent2>
        <a:srgbClr val="212121"/>
      </a:accent2>
      <a:accent3>
        <a:srgbClr val="9ECFCB"/>
      </a:accent3>
      <a:accent4>
        <a:srgbClr val="289C91"/>
      </a:accent4>
      <a:accent5>
        <a:srgbClr val="619792"/>
      </a:accent5>
      <a:accent6>
        <a:srgbClr val="384C4B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3CAB93-A709-4F24-8FE0-AD29C3B0469C}">
  <we:reference id="wa104379997" version="3.0.0.0" store="en-U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795</Words>
  <Application>Microsoft Office PowerPoint</Application>
  <PresentationFormat>On-screen Show (16:9)</PresentationFormat>
  <Paragraphs>99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Montserrat</vt:lpstr>
      <vt:lpstr>Proxima Nova Semibold</vt:lpstr>
      <vt:lpstr>Fira Sans Extra Condensed Medium</vt:lpstr>
      <vt:lpstr>Montserrat Light</vt:lpstr>
      <vt:lpstr>Arial</vt:lpstr>
      <vt:lpstr>Catamaran Light</vt:lpstr>
      <vt:lpstr>Proxima Nova</vt:lpstr>
      <vt:lpstr>Montserrat SemiBold</vt:lpstr>
      <vt:lpstr>Livvic</vt:lpstr>
      <vt:lpstr>Engineering Project Proposal by Slidesgo</vt:lpstr>
      <vt:lpstr>SlidesGo Final Pages</vt:lpstr>
      <vt:lpstr>UCS503 Project Name Team Name</vt:lpstr>
      <vt:lpstr>TABLE OF CONTENTS</vt:lpstr>
      <vt:lpstr> Introduction</vt:lpstr>
      <vt:lpstr>Project Scope</vt:lpstr>
      <vt:lpstr>Proposed Functions</vt:lpstr>
      <vt:lpstr>Target Users</vt:lpstr>
      <vt:lpstr> System Features</vt:lpstr>
      <vt:lpstr>Interfaces</vt:lpstr>
      <vt:lpstr>Performance Goals</vt:lpstr>
      <vt:lpstr>Security Measures</vt:lpstr>
      <vt:lpstr>Quality Attributes</vt:lpstr>
      <vt:lpstr>Initial Planning</vt:lpstr>
      <vt:lpstr>Conclusion</vt:lpstr>
      <vt:lpstr>References</vt:lpstr>
      <vt:lpstr>PowerPoint Presentation</vt:lpstr>
      <vt:lpstr>Use our editable graphic resources...</vt:lpstr>
      <vt:lpstr>...and our set of editable icons</vt:lpstr>
      <vt:lpstr>Educational Icons</vt:lpstr>
      <vt:lpstr>Business Icons</vt:lpstr>
      <vt:lpstr>Help &amp; Support Icons</vt:lpstr>
      <vt:lpstr>Creative Process Icons</vt:lpstr>
      <vt:lpstr>Nature Icons</vt:lpstr>
      <vt:lpstr>SEO &amp; Marketing Icons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Sukhpal Singh</dc:creator>
  <cp:lastModifiedBy>Sukhpal Singh</cp:lastModifiedBy>
  <cp:revision>7</cp:revision>
  <dcterms:modified xsi:type="dcterms:W3CDTF">2024-08-19T08:17:12Z</dcterms:modified>
</cp:coreProperties>
</file>