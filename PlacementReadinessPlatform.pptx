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F3C7E"/>
          </a:solidFill>
          <a:ln/>
        </p:spPr>
      </p:sp>
      <p:sp>
        <p:nvSpPr>
          <p:cNvPr id="3" name="Shape 1"/>
          <p:cNvSpPr/>
          <p:nvPr/>
        </p:nvSpPr>
        <p:spPr>
          <a:xfrm>
            <a:off x="8869680" y="1554480"/>
            <a:ext cx="2377440" cy="2377440"/>
          </a:xfrm>
          <a:prstGeom prst="ellipse">
            <a:avLst/>
          </a:prstGeom>
          <a:solidFill>
            <a:srgbClr val="1F2A5C"/>
          </a:solidFill>
          <a:ln/>
        </p:spPr>
      </p:sp>
      <p:pic>
        <p:nvPicPr>
          <p:cNvPr id="4" name="Image 0" descr="/home/claude/govassist/icons/award_white.png">    </p:cNvPr>
          <p:cNvPicPr>
            <a:picLocks noChangeAspect="1"/>
          </p:cNvPicPr>
          <p:nvPr/>
        </p:nvPicPr>
        <p:blipFill>
          <a:blip r:embed="rId1"/>
          <a:stretch>
            <a:fillRect/>
          </a:stretch>
        </p:blipFill>
        <p:spPr>
          <a:xfrm>
            <a:off x="9487814" y="2172614"/>
            <a:ext cx="1141171" cy="1141171"/>
          </a:xfrm>
          <a:prstGeom prst="rect">
            <a:avLst/>
          </a:prstGeom>
        </p:spPr>
      </p:pic>
      <p:sp>
        <p:nvSpPr>
          <p:cNvPr id="5" name="Text 2"/>
          <p:cNvSpPr/>
          <p:nvPr/>
        </p:nvSpPr>
        <p:spPr>
          <a:xfrm>
            <a:off x="640080" y="1965960"/>
            <a:ext cx="786384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LaunchPad</a:t>
            </a:r>
            <a:endParaRPr lang="en-US" sz="4400" dirty="0"/>
          </a:p>
        </p:txBody>
      </p:sp>
      <p:sp>
        <p:nvSpPr>
          <p:cNvPr id="6" name="Text 3"/>
          <p:cNvSpPr/>
          <p:nvPr/>
        </p:nvSpPr>
        <p:spPr>
          <a:xfrm>
            <a:off x="640080" y="2971800"/>
            <a:ext cx="7863840" cy="731520"/>
          </a:xfrm>
          <a:prstGeom prst="rect">
            <a:avLst/>
          </a:prstGeom>
          <a:noFill/>
          <a:ln/>
        </p:spPr>
        <p:txBody>
          <a:bodyPr wrap="square" lIns="0" tIns="0" rIns="0" bIns="0" rtlCol="0" anchor="ctr"/>
          <a:lstStyle/>
          <a:p>
            <a:pPr indent="0" marL="0">
              <a:buNone/>
            </a:pPr>
            <a:r>
              <a:rPr lang="en-US" sz="1800" dirty="0">
                <a:solidFill>
                  <a:srgbClr val="C9D0F0"/>
                </a:solidFill>
                <a:latin typeface="Calibri" pitchFamily="34" charset="0"/>
                <a:ea typeface="Calibri" pitchFamily="34" charset="-122"/>
                <a:cs typeface="Calibri" pitchFamily="34" charset="-120"/>
              </a:rPr>
              <a:t>Measurable placement readiness, not another chatbot</a:t>
            </a:r>
            <a:endParaRPr lang="en-US" sz="1800" dirty="0"/>
          </a:p>
        </p:txBody>
      </p:sp>
      <p:sp>
        <p:nvSpPr>
          <p:cNvPr id="7" name="Text 4"/>
          <p:cNvSpPr/>
          <p:nvPr/>
        </p:nvSpPr>
        <p:spPr>
          <a:xfrm>
            <a:off x="640080" y="5120640"/>
            <a:ext cx="7315200" cy="320040"/>
          </a:xfrm>
          <a:prstGeom prst="rect">
            <a:avLst/>
          </a:prstGeom>
          <a:noFill/>
          <a:ln/>
        </p:spPr>
        <p:txBody>
          <a:bodyPr wrap="square" lIns="0" tIns="0" rIns="0" bIns="0" rtlCol="0" anchor="ctr"/>
          <a:lstStyle/>
          <a:p>
            <a:pPr indent="0" marL="0">
              <a:buNone/>
            </a:pPr>
            <a:r>
              <a:rPr lang="en-US" sz="1300" i="1" dirty="0">
                <a:solidFill>
                  <a:srgbClr val="C9D0F0"/>
                </a:solidFill>
                <a:latin typeface="Calibri" pitchFamily="34" charset="0"/>
                <a:ea typeface="Calibri" pitchFamily="34" charset="-122"/>
                <a:cs typeface="Calibri" pitchFamily="34" charset="-120"/>
              </a:rPr>
              <a:t>Software Engineering Course Project — Alternative Considered</a:t>
            </a:r>
            <a:endParaRPr lang="en-US" sz="1300" dirty="0"/>
          </a:p>
        </p:txBody>
      </p:sp>
      <p:sp>
        <p:nvSpPr>
          <p:cNvPr id="8" name="Text 5"/>
          <p:cNvSpPr/>
          <p:nvPr/>
        </p:nvSpPr>
        <p:spPr>
          <a:xfrm>
            <a:off x="640080" y="5468112"/>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Ronit   ·   Bhavneet   ·   Shreyas</a:t>
            </a:r>
            <a:endParaRPr lang="en-US" sz="1600" dirty="0"/>
          </a:p>
        </p:txBody>
      </p:sp>
      <p:sp>
        <p:nvSpPr>
          <p:cNvPr id="9" name="Text 6"/>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C9D0F0"/>
                </a:solidFill>
                <a:latin typeface="Calibri" pitchFamily="34" charset="0"/>
                <a:ea typeface="Calibri" pitchFamily="34" charset="-122"/>
                <a:cs typeface="Calibri" pitchFamily="34" charset="-120"/>
              </a:rPr>
              <a:t>LaunchPad  |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Our Team</a:t>
            </a:r>
            <a:endParaRPr lang="en-US" sz="3400" dirty="0"/>
          </a:p>
        </p:txBody>
      </p:sp>
      <p:sp>
        <p:nvSpPr>
          <p:cNvPr id="3" name="Text 1"/>
          <p:cNvSpPr/>
          <p:nvPr/>
        </p:nvSpPr>
        <p:spPr>
          <a:xfrm>
            <a:off x="640080" y="1051560"/>
            <a:ext cx="8229600" cy="36576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Members, strengths, and what each of us needs to learn</a:t>
            </a:r>
            <a:endParaRPr lang="en-US" sz="1400" dirty="0"/>
          </a:p>
        </p:txBody>
      </p:sp>
      <p:sp>
        <p:nvSpPr>
          <p:cNvPr id="4" name="Shape 2"/>
          <p:cNvSpPr/>
          <p:nvPr/>
        </p:nvSpPr>
        <p:spPr>
          <a:xfrm>
            <a:off x="640080" y="1737360"/>
            <a:ext cx="3520440" cy="3383280"/>
          </a:xfrm>
          <a:prstGeom prst="roundRect">
            <a:avLst>
              <a:gd name="adj" fmla="val 3243"/>
            </a:avLst>
          </a:prstGeom>
          <a:solidFill>
            <a:srgbClr val="EFF1FA"/>
          </a:solidFill>
          <a:ln/>
        </p:spPr>
      </p:sp>
      <p:sp>
        <p:nvSpPr>
          <p:cNvPr id="5" name="Shape 3"/>
          <p:cNvSpPr/>
          <p:nvPr/>
        </p:nvSpPr>
        <p:spPr>
          <a:xfrm>
            <a:off x="1943100" y="2057400"/>
            <a:ext cx="914400" cy="914400"/>
          </a:xfrm>
          <a:prstGeom prst="ellipse">
            <a:avLst/>
          </a:prstGeom>
          <a:solidFill>
            <a:srgbClr val="2F3C7E"/>
          </a:solidFill>
          <a:ln/>
        </p:spPr>
      </p:sp>
      <p:pic>
        <p:nvPicPr>
          <p:cNvPr id="6" name="Image 0" descr="/home/claude/govassist/icons/users_white.png">    </p:cNvPr>
          <p:cNvPicPr>
            <a:picLocks noChangeAspect="1"/>
          </p:cNvPicPr>
          <p:nvPr/>
        </p:nvPicPr>
        <p:blipFill>
          <a:blip r:embed="rId1"/>
          <a:stretch>
            <a:fillRect/>
          </a:stretch>
        </p:blipFill>
        <p:spPr>
          <a:xfrm>
            <a:off x="2180844" y="2295144"/>
            <a:ext cx="438912" cy="438912"/>
          </a:xfrm>
          <a:prstGeom prst="rect">
            <a:avLst/>
          </a:prstGeom>
        </p:spPr>
      </p:pic>
      <p:sp>
        <p:nvSpPr>
          <p:cNvPr id="7" name="Text 4"/>
          <p:cNvSpPr/>
          <p:nvPr/>
        </p:nvSpPr>
        <p:spPr>
          <a:xfrm>
            <a:off x="868680" y="3154680"/>
            <a:ext cx="3063240" cy="365760"/>
          </a:xfrm>
          <a:prstGeom prst="rect">
            <a:avLst/>
          </a:prstGeom>
          <a:noFill/>
          <a:ln/>
        </p:spPr>
        <p:txBody>
          <a:bodyPr wrap="square" lIns="0" tIns="0" rIns="0" bIns="0" rtlCol="0" anchor="ctr"/>
          <a:lstStyle/>
          <a:p>
            <a:pPr algn="ctr" indent="0" marL="0">
              <a:buNone/>
            </a:pPr>
            <a:r>
              <a:rPr lang="en-US" sz="1900" b="1" dirty="0">
                <a:solidFill>
                  <a:srgbClr val="2F3C7E"/>
                </a:solidFill>
                <a:latin typeface="Cambria" pitchFamily="34" charset="0"/>
                <a:ea typeface="Cambria" pitchFamily="34" charset="-122"/>
                <a:cs typeface="Cambria" pitchFamily="34" charset="-120"/>
              </a:rPr>
              <a:t>Ronit</a:t>
            </a:r>
            <a:endParaRPr lang="en-US" sz="1900" dirty="0"/>
          </a:p>
        </p:txBody>
      </p:sp>
      <p:sp>
        <p:nvSpPr>
          <p:cNvPr id="8" name="Text 5"/>
          <p:cNvSpPr/>
          <p:nvPr/>
        </p:nvSpPr>
        <p:spPr>
          <a:xfrm>
            <a:off x="914400" y="3566160"/>
            <a:ext cx="2971800" cy="777240"/>
          </a:xfrm>
          <a:prstGeom prst="rect">
            <a:avLst/>
          </a:prstGeom>
          <a:noFill/>
          <a:ln/>
        </p:spPr>
        <p:txBody>
          <a:bodyPr wrap="square" lIns="0" tIns="0" rIns="0" bIns="0" rtlCol="0" anchor="t"/>
          <a:lstStyle/>
          <a:p>
            <a:pPr algn="l" indent="0" marL="0">
              <a:buNone/>
            </a:pPr>
            <a:r>
              <a:rPr lang="en-US" sz="1200" b="1" dirty="0">
                <a:solidFill>
                  <a:srgbClr val="F2A93B"/>
                </a:solidFill>
                <a:latin typeface="Calibri" pitchFamily="34" charset="0"/>
                <a:ea typeface="Calibri" pitchFamily="34" charset="-122"/>
                <a:cs typeface="Calibri" pitchFamily="34" charset="-120"/>
              </a:rPr>
              <a:t>Strength
</a:t>
            </a:r>
            <a:pPr algn="l" indent="0" marL="0">
              <a:buNone/>
            </a:pPr>
            <a:r>
              <a:rPr lang="en-US" sz="1250" dirty="0">
                <a:solidFill>
                  <a:srgbClr val="2B2B2B"/>
                </a:solidFill>
                <a:latin typeface="Calibri" pitchFamily="34" charset="0"/>
                <a:ea typeface="Calibri" pitchFamily="34" charset="-122"/>
                <a:cs typeface="Calibri" pitchFamily="34" charset="-120"/>
              </a:rPr>
              <a:t>AI and ML systems, agent design, retrieval pipelines</a:t>
            </a:r>
            <a:endParaRPr lang="en-US" sz="1200" dirty="0"/>
          </a:p>
        </p:txBody>
      </p:sp>
      <p:sp>
        <p:nvSpPr>
          <p:cNvPr id="9" name="Text 6"/>
          <p:cNvSpPr/>
          <p:nvPr/>
        </p:nvSpPr>
        <p:spPr>
          <a:xfrm>
            <a:off x="914400" y="4343400"/>
            <a:ext cx="2971800" cy="731520"/>
          </a:xfrm>
          <a:prstGeom prst="rect">
            <a:avLst/>
          </a:prstGeom>
          <a:noFill/>
          <a:ln/>
        </p:spPr>
        <p:txBody>
          <a:bodyPr wrap="square" lIns="0" tIns="0" rIns="0" bIns="0" rtlCol="0" anchor="t"/>
          <a:lstStyle/>
          <a:p>
            <a:pPr algn="l" indent="0" marL="0">
              <a:buNone/>
            </a:pPr>
            <a:r>
              <a:rPr lang="en-US" sz="1200" b="1" dirty="0">
                <a:solidFill>
                  <a:srgbClr val="F2A93B"/>
                </a:solidFill>
                <a:latin typeface="Calibri" pitchFamily="34" charset="0"/>
                <a:ea typeface="Calibri" pitchFamily="34" charset="-122"/>
                <a:cs typeface="Calibri" pitchFamily="34" charset="-120"/>
              </a:rPr>
              <a:t>Learning goal
</a:t>
            </a:r>
            <a:pPr algn="l" indent="0" marL="0">
              <a:buNone/>
            </a:pPr>
            <a:r>
              <a:rPr lang="en-US" sz="1250" dirty="0">
                <a:solidFill>
                  <a:srgbClr val="2B2B2B"/>
                </a:solidFill>
                <a:latin typeface="Calibri" pitchFamily="34" charset="0"/>
                <a:ea typeface="Calibri" pitchFamily="34" charset="-122"/>
                <a:cs typeface="Calibri" pitchFamily="34" charset="-120"/>
              </a:rPr>
              <a:t>Web development, to connect the reasoning engine to a real interface</a:t>
            </a:r>
            <a:endParaRPr lang="en-US" sz="1200" dirty="0"/>
          </a:p>
        </p:txBody>
      </p:sp>
      <p:sp>
        <p:nvSpPr>
          <p:cNvPr id="10" name="Shape 7"/>
          <p:cNvSpPr/>
          <p:nvPr/>
        </p:nvSpPr>
        <p:spPr>
          <a:xfrm>
            <a:off x="4480560" y="1737360"/>
            <a:ext cx="3520440" cy="3383280"/>
          </a:xfrm>
          <a:prstGeom prst="roundRect">
            <a:avLst>
              <a:gd name="adj" fmla="val 3243"/>
            </a:avLst>
          </a:prstGeom>
          <a:solidFill>
            <a:srgbClr val="EFF1FA"/>
          </a:solidFill>
          <a:ln/>
        </p:spPr>
      </p:sp>
      <p:sp>
        <p:nvSpPr>
          <p:cNvPr id="11" name="Shape 8"/>
          <p:cNvSpPr/>
          <p:nvPr/>
        </p:nvSpPr>
        <p:spPr>
          <a:xfrm>
            <a:off x="5783580" y="2057400"/>
            <a:ext cx="914400" cy="914400"/>
          </a:xfrm>
          <a:prstGeom prst="ellipse">
            <a:avLst/>
          </a:prstGeom>
          <a:solidFill>
            <a:srgbClr val="2F3C7E"/>
          </a:solidFill>
          <a:ln/>
        </p:spPr>
      </p:sp>
      <p:pic>
        <p:nvPicPr>
          <p:cNvPr id="12" name="Image 1" descr="/home/claude/govassist/icons/users_white.png">    </p:cNvPr>
          <p:cNvPicPr>
            <a:picLocks noChangeAspect="1"/>
          </p:cNvPicPr>
          <p:nvPr/>
        </p:nvPicPr>
        <p:blipFill>
          <a:blip r:embed="rId2"/>
          <a:stretch>
            <a:fillRect/>
          </a:stretch>
        </p:blipFill>
        <p:spPr>
          <a:xfrm>
            <a:off x="6021324" y="2295144"/>
            <a:ext cx="438912" cy="438912"/>
          </a:xfrm>
          <a:prstGeom prst="rect">
            <a:avLst/>
          </a:prstGeom>
        </p:spPr>
      </p:pic>
      <p:sp>
        <p:nvSpPr>
          <p:cNvPr id="13" name="Text 9"/>
          <p:cNvSpPr/>
          <p:nvPr/>
        </p:nvSpPr>
        <p:spPr>
          <a:xfrm>
            <a:off x="4709160" y="3154680"/>
            <a:ext cx="3063240" cy="365760"/>
          </a:xfrm>
          <a:prstGeom prst="rect">
            <a:avLst/>
          </a:prstGeom>
          <a:noFill/>
          <a:ln/>
        </p:spPr>
        <p:txBody>
          <a:bodyPr wrap="square" lIns="0" tIns="0" rIns="0" bIns="0" rtlCol="0" anchor="ctr"/>
          <a:lstStyle/>
          <a:p>
            <a:pPr algn="ctr" indent="0" marL="0">
              <a:buNone/>
            </a:pPr>
            <a:r>
              <a:rPr lang="en-US" sz="1900" b="1" dirty="0">
                <a:solidFill>
                  <a:srgbClr val="2F3C7E"/>
                </a:solidFill>
                <a:latin typeface="Cambria" pitchFamily="34" charset="0"/>
                <a:ea typeface="Cambria" pitchFamily="34" charset="-122"/>
                <a:cs typeface="Cambria" pitchFamily="34" charset="-120"/>
              </a:rPr>
              <a:t>Bhavneet</a:t>
            </a:r>
            <a:endParaRPr lang="en-US" sz="1900" dirty="0"/>
          </a:p>
        </p:txBody>
      </p:sp>
      <p:sp>
        <p:nvSpPr>
          <p:cNvPr id="14" name="Text 10"/>
          <p:cNvSpPr/>
          <p:nvPr/>
        </p:nvSpPr>
        <p:spPr>
          <a:xfrm>
            <a:off x="4754880" y="3566160"/>
            <a:ext cx="2971800" cy="777240"/>
          </a:xfrm>
          <a:prstGeom prst="rect">
            <a:avLst/>
          </a:prstGeom>
          <a:noFill/>
          <a:ln/>
        </p:spPr>
        <p:txBody>
          <a:bodyPr wrap="square" lIns="0" tIns="0" rIns="0" bIns="0" rtlCol="0" anchor="t"/>
          <a:lstStyle/>
          <a:p>
            <a:pPr algn="l" indent="0" marL="0">
              <a:buNone/>
            </a:pPr>
            <a:r>
              <a:rPr lang="en-US" sz="1200" b="1" dirty="0">
                <a:solidFill>
                  <a:srgbClr val="F2A93B"/>
                </a:solidFill>
                <a:latin typeface="Calibri" pitchFamily="34" charset="0"/>
                <a:ea typeface="Calibri" pitchFamily="34" charset="-122"/>
                <a:cs typeface="Calibri" pitchFamily="34" charset="-120"/>
              </a:rPr>
              <a:t>Strength
</a:t>
            </a:r>
            <a:pPr algn="l" indent="0" marL="0">
              <a:buNone/>
            </a:pPr>
            <a:r>
              <a:rPr lang="en-US" sz="1250" dirty="0">
                <a:solidFill>
                  <a:srgbClr val="2B2B2B"/>
                </a:solidFill>
                <a:latin typeface="Calibri" pitchFamily="34" charset="0"/>
                <a:ea typeface="Calibri" pitchFamily="34" charset="-122"/>
                <a:cs typeface="Calibri" pitchFamily="34" charset="-120"/>
              </a:rPr>
              <a:t>Backend engineering and databases</a:t>
            </a:r>
            <a:endParaRPr lang="en-US" sz="1200" dirty="0"/>
          </a:p>
        </p:txBody>
      </p:sp>
      <p:sp>
        <p:nvSpPr>
          <p:cNvPr id="15" name="Text 11"/>
          <p:cNvSpPr/>
          <p:nvPr/>
        </p:nvSpPr>
        <p:spPr>
          <a:xfrm>
            <a:off x="4754880" y="4343400"/>
            <a:ext cx="2971800" cy="731520"/>
          </a:xfrm>
          <a:prstGeom prst="rect">
            <a:avLst/>
          </a:prstGeom>
          <a:noFill/>
          <a:ln/>
        </p:spPr>
        <p:txBody>
          <a:bodyPr wrap="square" lIns="0" tIns="0" rIns="0" bIns="0" rtlCol="0" anchor="t"/>
          <a:lstStyle/>
          <a:p>
            <a:pPr algn="l" indent="0" marL="0">
              <a:buNone/>
            </a:pPr>
            <a:r>
              <a:rPr lang="en-US" sz="1200" b="1" dirty="0">
                <a:solidFill>
                  <a:srgbClr val="F2A93B"/>
                </a:solidFill>
                <a:latin typeface="Calibri" pitchFamily="34" charset="0"/>
                <a:ea typeface="Calibri" pitchFamily="34" charset="-122"/>
                <a:cs typeface="Calibri" pitchFamily="34" charset="-120"/>
              </a:rPr>
              <a:t>Learning goal
</a:t>
            </a:r>
            <a:pPr algn="l" indent="0" marL="0">
              <a:buNone/>
            </a:pPr>
            <a:r>
              <a:rPr lang="en-US" sz="1250" dirty="0">
                <a:solidFill>
                  <a:srgbClr val="2B2B2B"/>
                </a:solidFill>
                <a:latin typeface="Calibri" pitchFamily="34" charset="0"/>
                <a:ea typeface="Calibri" pitchFamily="34" charset="-122"/>
                <a:cs typeface="Calibri" pitchFamily="34" charset="-120"/>
              </a:rPr>
              <a:t>Cloud deployment and DevOps, to keep the system running outside a laptop</a:t>
            </a:r>
            <a:endParaRPr lang="en-US" sz="1200" dirty="0"/>
          </a:p>
        </p:txBody>
      </p:sp>
      <p:sp>
        <p:nvSpPr>
          <p:cNvPr id="16" name="Shape 12"/>
          <p:cNvSpPr/>
          <p:nvPr/>
        </p:nvSpPr>
        <p:spPr>
          <a:xfrm>
            <a:off x="8321040" y="1737360"/>
            <a:ext cx="3520440" cy="3383280"/>
          </a:xfrm>
          <a:prstGeom prst="roundRect">
            <a:avLst>
              <a:gd name="adj" fmla="val 3243"/>
            </a:avLst>
          </a:prstGeom>
          <a:solidFill>
            <a:srgbClr val="EFF1FA"/>
          </a:solidFill>
          <a:ln/>
        </p:spPr>
      </p:sp>
      <p:sp>
        <p:nvSpPr>
          <p:cNvPr id="17" name="Shape 13"/>
          <p:cNvSpPr/>
          <p:nvPr/>
        </p:nvSpPr>
        <p:spPr>
          <a:xfrm>
            <a:off x="9624060" y="2057400"/>
            <a:ext cx="914400" cy="914400"/>
          </a:xfrm>
          <a:prstGeom prst="ellipse">
            <a:avLst/>
          </a:prstGeom>
          <a:solidFill>
            <a:srgbClr val="2F3C7E"/>
          </a:solidFill>
          <a:ln/>
        </p:spPr>
      </p:sp>
      <p:pic>
        <p:nvPicPr>
          <p:cNvPr id="18" name="Image 2" descr="/home/claude/govassist/icons/users_white.png">    </p:cNvPr>
          <p:cNvPicPr>
            <a:picLocks noChangeAspect="1"/>
          </p:cNvPicPr>
          <p:nvPr/>
        </p:nvPicPr>
        <p:blipFill>
          <a:blip r:embed="rId3"/>
          <a:stretch>
            <a:fillRect/>
          </a:stretch>
        </p:blipFill>
        <p:spPr>
          <a:xfrm>
            <a:off x="9861804" y="2295144"/>
            <a:ext cx="438912" cy="438912"/>
          </a:xfrm>
          <a:prstGeom prst="rect">
            <a:avLst/>
          </a:prstGeom>
        </p:spPr>
      </p:pic>
      <p:sp>
        <p:nvSpPr>
          <p:cNvPr id="19" name="Text 14"/>
          <p:cNvSpPr/>
          <p:nvPr/>
        </p:nvSpPr>
        <p:spPr>
          <a:xfrm>
            <a:off x="8549640" y="3154680"/>
            <a:ext cx="3063240" cy="365760"/>
          </a:xfrm>
          <a:prstGeom prst="rect">
            <a:avLst/>
          </a:prstGeom>
          <a:noFill/>
          <a:ln/>
        </p:spPr>
        <p:txBody>
          <a:bodyPr wrap="square" lIns="0" tIns="0" rIns="0" bIns="0" rtlCol="0" anchor="ctr"/>
          <a:lstStyle/>
          <a:p>
            <a:pPr algn="ctr" indent="0" marL="0">
              <a:buNone/>
            </a:pPr>
            <a:r>
              <a:rPr lang="en-US" sz="1900" b="1" dirty="0">
                <a:solidFill>
                  <a:srgbClr val="2F3C7E"/>
                </a:solidFill>
                <a:latin typeface="Cambria" pitchFamily="34" charset="0"/>
                <a:ea typeface="Cambria" pitchFamily="34" charset="-122"/>
                <a:cs typeface="Cambria" pitchFamily="34" charset="-120"/>
              </a:rPr>
              <a:t>Shreyas</a:t>
            </a:r>
            <a:endParaRPr lang="en-US" sz="1900" dirty="0"/>
          </a:p>
        </p:txBody>
      </p:sp>
      <p:sp>
        <p:nvSpPr>
          <p:cNvPr id="20" name="Text 15"/>
          <p:cNvSpPr/>
          <p:nvPr/>
        </p:nvSpPr>
        <p:spPr>
          <a:xfrm>
            <a:off x="8595360" y="3566160"/>
            <a:ext cx="2971800" cy="777240"/>
          </a:xfrm>
          <a:prstGeom prst="rect">
            <a:avLst/>
          </a:prstGeom>
          <a:noFill/>
          <a:ln/>
        </p:spPr>
        <p:txBody>
          <a:bodyPr wrap="square" lIns="0" tIns="0" rIns="0" bIns="0" rtlCol="0" anchor="t"/>
          <a:lstStyle/>
          <a:p>
            <a:pPr algn="l" indent="0" marL="0">
              <a:buNone/>
            </a:pPr>
            <a:r>
              <a:rPr lang="en-US" sz="1200" b="1" dirty="0">
                <a:solidFill>
                  <a:srgbClr val="F2A93B"/>
                </a:solidFill>
                <a:latin typeface="Calibri" pitchFamily="34" charset="0"/>
                <a:ea typeface="Calibri" pitchFamily="34" charset="-122"/>
                <a:cs typeface="Calibri" pitchFamily="34" charset="-120"/>
              </a:rPr>
              <a:t>Strength
</a:t>
            </a:r>
            <a:pPr algn="l" indent="0" marL="0">
              <a:buNone/>
            </a:pPr>
            <a:r>
              <a:rPr lang="en-US" sz="1250" dirty="0">
                <a:solidFill>
                  <a:srgbClr val="2B2B2B"/>
                </a:solidFill>
                <a:latin typeface="Calibri" pitchFamily="34" charset="0"/>
                <a:ea typeface="Calibri" pitchFamily="34" charset="-122"/>
                <a:cs typeface="Calibri" pitchFamily="34" charset="-120"/>
              </a:rPr>
              <a:t>Frontend development and UI design</a:t>
            </a:r>
            <a:endParaRPr lang="en-US" sz="1200" dirty="0"/>
          </a:p>
        </p:txBody>
      </p:sp>
      <p:sp>
        <p:nvSpPr>
          <p:cNvPr id="21" name="Text 16"/>
          <p:cNvSpPr/>
          <p:nvPr/>
        </p:nvSpPr>
        <p:spPr>
          <a:xfrm>
            <a:off x="8595360" y="4343400"/>
            <a:ext cx="2971800" cy="731520"/>
          </a:xfrm>
          <a:prstGeom prst="rect">
            <a:avLst/>
          </a:prstGeom>
          <a:noFill/>
          <a:ln/>
        </p:spPr>
        <p:txBody>
          <a:bodyPr wrap="square" lIns="0" tIns="0" rIns="0" bIns="0" rtlCol="0" anchor="t"/>
          <a:lstStyle/>
          <a:p>
            <a:pPr algn="l" indent="0" marL="0">
              <a:buNone/>
            </a:pPr>
            <a:r>
              <a:rPr lang="en-US" sz="1200" b="1" dirty="0">
                <a:solidFill>
                  <a:srgbClr val="F2A93B"/>
                </a:solidFill>
                <a:latin typeface="Calibri" pitchFamily="34" charset="0"/>
                <a:ea typeface="Calibri" pitchFamily="34" charset="-122"/>
                <a:cs typeface="Calibri" pitchFamily="34" charset="-120"/>
              </a:rPr>
              <a:t>Learning goal
</a:t>
            </a:r>
            <a:pPr algn="l" indent="0" marL="0">
              <a:buNone/>
            </a:pPr>
            <a:r>
              <a:rPr lang="en-US" sz="1250" dirty="0">
                <a:solidFill>
                  <a:srgbClr val="2B2B2B"/>
                </a:solidFill>
                <a:latin typeface="Calibri" pitchFamily="34" charset="0"/>
                <a:ea typeface="Calibri" pitchFamily="34" charset="-122"/>
                <a:cs typeface="Calibri" pitchFamily="34" charset="-120"/>
              </a:rPr>
              <a:t>Document extraction and NLP basics, so the interface and the reasoning layer speak the same language</a:t>
            </a:r>
            <a:endParaRPr lang="en-US" sz="1200" dirty="0"/>
          </a:p>
        </p:txBody>
      </p:sp>
      <p:sp>
        <p:nvSpPr>
          <p:cNvPr id="22" name="Text 17"/>
          <p:cNvSpPr/>
          <p:nvPr/>
        </p:nvSpPr>
        <p:spPr>
          <a:xfrm>
            <a:off x="640080" y="6172200"/>
            <a:ext cx="10881360" cy="45720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Constraint: three of us, one semester, no dedicated GPU or paid API budget. The whole system has to work within free tier limits.</a:t>
            </a:r>
            <a:endParaRPr lang="en-US" sz="1300" dirty="0"/>
          </a:p>
        </p:txBody>
      </p:sp>
      <p:sp>
        <p:nvSpPr>
          <p:cNvPr id="23" name="Text 18"/>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LaunchPad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Who Has This Problem</a:t>
            </a:r>
            <a:endParaRPr lang="en-US" sz="3400" dirty="0"/>
          </a:p>
        </p:txBody>
      </p:sp>
      <p:sp>
        <p:nvSpPr>
          <p:cNvPr id="3" name="Text 1"/>
          <p:cNvSpPr/>
          <p:nvPr/>
        </p:nvSpPr>
        <p:spPr>
          <a:xfrm>
            <a:off x="640080" y="1371600"/>
            <a:ext cx="6217920" cy="4206240"/>
          </a:xfrm>
          <a:prstGeom prst="rect">
            <a:avLst/>
          </a:prstGeom>
          <a:noFill/>
          <a:ln/>
        </p:spPr>
        <p:txBody>
          <a:bodyPr wrap="square" lIns="0" tIns="0" rIns="0" bIns="0" rtlCol="0" anchor="t"/>
          <a:lstStyle/>
          <a:p>
            <a:pPr algn="l" indent="0" marL="0">
              <a:lnSpc>
                <a:spcPct val="125000"/>
              </a:lnSpc>
              <a:buNone/>
            </a:pPr>
            <a:r>
              <a:rPr lang="en-US" sz="1550" dirty="0">
                <a:solidFill>
                  <a:srgbClr val="2B2B2B"/>
                </a:solidFill>
                <a:latin typeface="Calibri" pitchFamily="34" charset="0"/>
                <a:ea typeface="Calibri" pitchFamily="34" charset="-122"/>
                <a:cs typeface="Calibri" pitchFamily="34" charset="-120"/>
              </a:rPr>
              <a:t>Students heading into placement season do not actually know where they stand. They cannot say what skills they are missing, which companies they realistically qualify for, or how interview ready they really are.
</a:t>
            </a:r>
            <a:pPr algn="l" indent="0" marL="0">
              <a:lnSpc>
                <a:spcPct val="125000"/>
              </a:lnSpc>
              <a:buNone/>
            </a:pPr>
            <a:r>
              <a:rPr lang="en-US" sz="1550" dirty="0">
                <a:solidFill>
                  <a:srgbClr val="2B2B2B"/>
                </a:solidFill>
                <a:latin typeface="Calibri" pitchFamily="34" charset="0"/>
                <a:ea typeface="Calibri" pitchFamily="34" charset="-122"/>
                <a:cs typeface="Calibri" pitchFamily="34" charset="-120"/>
              </a:rPr>
              <a:t>Placement cells and recruiters face the same fog from the other side, with no measurable, up to date picture of a student's real readiness beyond a resume and a gut feeling.</a:t>
            </a:r>
            <a:endParaRPr lang="en-US" sz="1550" dirty="0"/>
          </a:p>
        </p:txBody>
      </p:sp>
      <p:sp>
        <p:nvSpPr>
          <p:cNvPr id="4" name="Shape 2"/>
          <p:cNvSpPr/>
          <p:nvPr/>
        </p:nvSpPr>
        <p:spPr>
          <a:xfrm>
            <a:off x="7223760" y="1371600"/>
            <a:ext cx="4297680" cy="1417320"/>
          </a:xfrm>
          <a:prstGeom prst="roundRect">
            <a:avLst>
              <a:gd name="adj" fmla="val 6452"/>
            </a:avLst>
          </a:prstGeom>
          <a:solidFill>
            <a:srgbClr val="EFF1FA"/>
          </a:solidFill>
          <a:ln/>
        </p:spPr>
      </p:sp>
      <p:sp>
        <p:nvSpPr>
          <p:cNvPr id="5" name="Shape 3"/>
          <p:cNvSpPr/>
          <p:nvPr/>
        </p:nvSpPr>
        <p:spPr>
          <a:xfrm>
            <a:off x="7452360" y="1673352"/>
            <a:ext cx="822960" cy="822960"/>
          </a:xfrm>
          <a:prstGeom prst="ellipse">
            <a:avLst/>
          </a:prstGeom>
          <a:solidFill>
            <a:srgbClr val="2F3C7E"/>
          </a:solidFill>
          <a:ln/>
        </p:spPr>
      </p:sp>
      <p:pic>
        <p:nvPicPr>
          <p:cNvPr id="6" name="Image 0" descr="/home/claude/govassist/icons/users_white.png">    </p:cNvPr>
          <p:cNvPicPr>
            <a:picLocks noChangeAspect="1"/>
          </p:cNvPicPr>
          <p:nvPr/>
        </p:nvPicPr>
        <p:blipFill>
          <a:blip r:embed="rId1"/>
          <a:stretch>
            <a:fillRect/>
          </a:stretch>
        </p:blipFill>
        <p:spPr>
          <a:xfrm>
            <a:off x="7666330" y="1887322"/>
            <a:ext cx="395021" cy="395021"/>
          </a:xfrm>
          <a:prstGeom prst="rect">
            <a:avLst/>
          </a:prstGeom>
        </p:spPr>
      </p:pic>
      <p:sp>
        <p:nvSpPr>
          <p:cNvPr id="7" name="Text 4"/>
          <p:cNvSpPr/>
          <p:nvPr/>
        </p:nvSpPr>
        <p:spPr>
          <a:xfrm>
            <a:off x="8458200" y="1508760"/>
            <a:ext cx="2880360" cy="457200"/>
          </a:xfrm>
          <a:prstGeom prst="rect">
            <a:avLst/>
          </a:prstGeom>
          <a:noFill/>
          <a:ln/>
        </p:spPr>
        <p:txBody>
          <a:bodyPr wrap="square" lIns="0" tIns="0" rIns="0" bIns="0" rtlCol="0" anchor="ctr"/>
          <a:lstStyle/>
          <a:p>
            <a:pPr indent="0" marL="0">
              <a:buNone/>
            </a:pPr>
            <a:r>
              <a:rPr lang="en-US" sz="2100" b="1" dirty="0">
                <a:solidFill>
                  <a:srgbClr val="2F3C7E"/>
                </a:solidFill>
                <a:latin typeface="Cambria" pitchFamily="34" charset="0"/>
                <a:ea typeface="Cambria" pitchFamily="34" charset="-122"/>
                <a:cs typeface="Cambria" pitchFamily="34" charset="-120"/>
              </a:rPr>
              <a:t>3 groups</a:t>
            </a:r>
            <a:endParaRPr lang="en-US" sz="2100" dirty="0"/>
          </a:p>
        </p:txBody>
      </p:sp>
      <p:sp>
        <p:nvSpPr>
          <p:cNvPr id="8" name="Text 5"/>
          <p:cNvSpPr/>
          <p:nvPr/>
        </p:nvSpPr>
        <p:spPr>
          <a:xfrm>
            <a:off x="8458200" y="1993392"/>
            <a:ext cx="2880360" cy="6858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students, the placement cell, and recruiters, all missing the same picture</a:t>
            </a:r>
            <a:endParaRPr lang="en-US" sz="1150" dirty="0"/>
          </a:p>
        </p:txBody>
      </p:sp>
      <p:sp>
        <p:nvSpPr>
          <p:cNvPr id="9" name="Shape 6"/>
          <p:cNvSpPr/>
          <p:nvPr/>
        </p:nvSpPr>
        <p:spPr>
          <a:xfrm>
            <a:off x="7223760" y="3044952"/>
            <a:ext cx="4297680" cy="1417320"/>
          </a:xfrm>
          <a:prstGeom prst="roundRect">
            <a:avLst>
              <a:gd name="adj" fmla="val 6452"/>
            </a:avLst>
          </a:prstGeom>
          <a:solidFill>
            <a:srgbClr val="EFF1FA"/>
          </a:solidFill>
          <a:ln/>
        </p:spPr>
      </p:sp>
      <p:sp>
        <p:nvSpPr>
          <p:cNvPr id="10" name="Shape 7"/>
          <p:cNvSpPr/>
          <p:nvPr/>
        </p:nvSpPr>
        <p:spPr>
          <a:xfrm>
            <a:off x="7452360" y="3346704"/>
            <a:ext cx="822960" cy="822960"/>
          </a:xfrm>
          <a:prstGeom prst="ellipse">
            <a:avLst/>
          </a:prstGeom>
          <a:solidFill>
            <a:srgbClr val="2F3C7E"/>
          </a:solidFill>
          <a:ln/>
        </p:spPr>
      </p:sp>
      <p:pic>
        <p:nvPicPr>
          <p:cNvPr id="11" name="Image 1" descr="/home/claude/govassist/icons/alert_white.png">    </p:cNvPr>
          <p:cNvPicPr>
            <a:picLocks noChangeAspect="1"/>
          </p:cNvPicPr>
          <p:nvPr/>
        </p:nvPicPr>
        <p:blipFill>
          <a:blip r:embed="rId2"/>
          <a:stretch>
            <a:fillRect/>
          </a:stretch>
        </p:blipFill>
        <p:spPr>
          <a:xfrm>
            <a:off x="7666330" y="3560674"/>
            <a:ext cx="395021" cy="395021"/>
          </a:xfrm>
          <a:prstGeom prst="rect">
            <a:avLst/>
          </a:prstGeom>
        </p:spPr>
      </p:pic>
      <p:sp>
        <p:nvSpPr>
          <p:cNvPr id="12" name="Text 8"/>
          <p:cNvSpPr/>
          <p:nvPr/>
        </p:nvSpPr>
        <p:spPr>
          <a:xfrm>
            <a:off x="8458200" y="3182112"/>
            <a:ext cx="2880360" cy="457200"/>
          </a:xfrm>
          <a:prstGeom prst="rect">
            <a:avLst/>
          </a:prstGeom>
          <a:noFill/>
          <a:ln/>
        </p:spPr>
        <p:txBody>
          <a:bodyPr wrap="square" lIns="0" tIns="0" rIns="0" bIns="0" rtlCol="0" anchor="ctr"/>
          <a:lstStyle/>
          <a:p>
            <a:pPr indent="0" marL="0">
              <a:buNone/>
            </a:pPr>
            <a:r>
              <a:rPr lang="en-US" sz="2100" b="1" dirty="0">
                <a:solidFill>
                  <a:srgbClr val="2F3C7E"/>
                </a:solidFill>
                <a:latin typeface="Cambria" pitchFamily="34" charset="0"/>
                <a:ea typeface="Cambria" pitchFamily="34" charset="-122"/>
                <a:cs typeface="Cambria" pitchFamily="34" charset="-120"/>
              </a:rPr>
              <a:t>No score</a:t>
            </a:r>
            <a:endParaRPr lang="en-US" sz="2100" dirty="0"/>
          </a:p>
        </p:txBody>
      </p:sp>
      <p:sp>
        <p:nvSpPr>
          <p:cNvPr id="13" name="Text 9"/>
          <p:cNvSpPr/>
          <p:nvPr/>
        </p:nvSpPr>
        <p:spPr>
          <a:xfrm>
            <a:off x="8458200" y="3666744"/>
            <a:ext cx="2880360" cy="6858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for interview readiness beyond a gut feeling from a mock session</a:t>
            </a:r>
            <a:endParaRPr lang="en-US" sz="1150" dirty="0"/>
          </a:p>
        </p:txBody>
      </p:sp>
      <p:sp>
        <p:nvSpPr>
          <p:cNvPr id="14" name="Shape 10"/>
          <p:cNvSpPr/>
          <p:nvPr/>
        </p:nvSpPr>
        <p:spPr>
          <a:xfrm>
            <a:off x="7223760" y="4718304"/>
            <a:ext cx="4297680" cy="1417320"/>
          </a:xfrm>
          <a:prstGeom prst="roundRect">
            <a:avLst>
              <a:gd name="adj" fmla="val 6452"/>
            </a:avLst>
          </a:prstGeom>
          <a:solidFill>
            <a:srgbClr val="EFF1FA"/>
          </a:solidFill>
          <a:ln/>
        </p:spPr>
      </p:sp>
      <p:sp>
        <p:nvSpPr>
          <p:cNvPr id="15" name="Shape 11"/>
          <p:cNvSpPr/>
          <p:nvPr/>
        </p:nvSpPr>
        <p:spPr>
          <a:xfrm>
            <a:off x="7452360" y="5020056"/>
            <a:ext cx="822960" cy="822960"/>
          </a:xfrm>
          <a:prstGeom prst="ellipse">
            <a:avLst/>
          </a:prstGeom>
          <a:solidFill>
            <a:srgbClr val="2F3C7E"/>
          </a:solidFill>
          <a:ln/>
        </p:spPr>
      </p:sp>
      <p:pic>
        <p:nvPicPr>
          <p:cNvPr id="16" name="Image 2" descr="/home/claude/govassist/icons/layers_white.png">    </p:cNvPr>
          <p:cNvPicPr>
            <a:picLocks noChangeAspect="1"/>
          </p:cNvPicPr>
          <p:nvPr/>
        </p:nvPicPr>
        <p:blipFill>
          <a:blip r:embed="rId3"/>
          <a:stretch>
            <a:fillRect/>
          </a:stretch>
        </p:blipFill>
        <p:spPr>
          <a:xfrm>
            <a:off x="7666330" y="5234026"/>
            <a:ext cx="395021" cy="395021"/>
          </a:xfrm>
          <a:prstGeom prst="rect">
            <a:avLst/>
          </a:prstGeom>
        </p:spPr>
      </p:pic>
      <p:sp>
        <p:nvSpPr>
          <p:cNvPr id="17" name="Text 12"/>
          <p:cNvSpPr/>
          <p:nvPr/>
        </p:nvSpPr>
        <p:spPr>
          <a:xfrm>
            <a:off x="8458200" y="4855464"/>
            <a:ext cx="2880360" cy="457200"/>
          </a:xfrm>
          <a:prstGeom prst="rect">
            <a:avLst/>
          </a:prstGeom>
          <a:noFill/>
          <a:ln/>
        </p:spPr>
        <p:txBody>
          <a:bodyPr wrap="square" lIns="0" tIns="0" rIns="0" bIns="0" rtlCol="0" anchor="ctr"/>
          <a:lstStyle/>
          <a:p>
            <a:pPr indent="0" marL="0">
              <a:buNone/>
            </a:pPr>
            <a:r>
              <a:rPr lang="en-US" sz="2100" b="1" dirty="0">
                <a:solidFill>
                  <a:srgbClr val="2F3C7E"/>
                </a:solidFill>
                <a:latin typeface="Cambria" pitchFamily="34" charset="0"/>
                <a:ea typeface="Cambria" pitchFamily="34" charset="-122"/>
                <a:cs typeface="Cambria" pitchFamily="34" charset="-120"/>
              </a:rPr>
              <a:t>One resume</a:t>
            </a:r>
            <a:endParaRPr lang="en-US" sz="2100" dirty="0"/>
          </a:p>
        </p:txBody>
      </p:sp>
      <p:sp>
        <p:nvSpPr>
          <p:cNvPr id="18" name="Text 13"/>
          <p:cNvSpPr/>
          <p:nvPr/>
        </p:nvSpPr>
        <p:spPr>
          <a:xfrm>
            <a:off x="8458200" y="5340096"/>
            <a:ext cx="2880360" cy="6858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is usually all a student's eligibility is judged on, nothing measurable behind it</a:t>
            </a:r>
            <a:endParaRPr lang="en-US" sz="1150" dirty="0"/>
          </a:p>
        </p:txBody>
      </p:sp>
      <p:sp>
        <p:nvSpPr>
          <p:cNvPr id="19" name="Text 14"/>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LaunchPad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What We Will Do Better</a:t>
            </a:r>
            <a:endParaRPr lang="en-US" sz="3400" dirty="0"/>
          </a:p>
        </p:txBody>
      </p:sp>
      <p:sp>
        <p:nvSpPr>
          <p:cNvPr id="3" name="Shape 1"/>
          <p:cNvSpPr/>
          <p:nvPr/>
        </p:nvSpPr>
        <p:spPr>
          <a:xfrm>
            <a:off x="640080" y="1417320"/>
            <a:ext cx="5212080" cy="4846320"/>
          </a:xfrm>
          <a:prstGeom prst="roundRect">
            <a:avLst>
              <a:gd name="adj" fmla="val 2264"/>
            </a:avLst>
          </a:prstGeom>
          <a:solidFill>
            <a:srgbClr val="EFF1FA"/>
          </a:solidFill>
          <a:ln/>
        </p:spPr>
      </p:sp>
      <p:sp>
        <p:nvSpPr>
          <p:cNvPr id="4" name="Shape 2"/>
          <p:cNvSpPr/>
          <p:nvPr/>
        </p:nvSpPr>
        <p:spPr>
          <a:xfrm>
            <a:off x="6309360" y="1417320"/>
            <a:ext cx="5212080" cy="4846320"/>
          </a:xfrm>
          <a:prstGeom prst="roundRect">
            <a:avLst>
              <a:gd name="adj" fmla="val 2264"/>
            </a:avLst>
          </a:prstGeom>
          <a:solidFill>
            <a:srgbClr val="2F3C7E"/>
          </a:solidFill>
          <a:ln/>
        </p:spPr>
      </p:sp>
      <p:sp>
        <p:nvSpPr>
          <p:cNvPr id="5" name="Text 3"/>
          <p:cNvSpPr/>
          <p:nvPr/>
        </p:nvSpPr>
        <p:spPr>
          <a:xfrm>
            <a:off x="960120" y="1691640"/>
            <a:ext cx="4572000" cy="457200"/>
          </a:xfrm>
          <a:prstGeom prst="rect">
            <a:avLst/>
          </a:prstGeom>
          <a:noFill/>
          <a:ln/>
        </p:spPr>
        <p:txBody>
          <a:bodyPr wrap="square" lIns="0" tIns="0" rIns="0" bIns="0" rtlCol="0" anchor="ctr"/>
          <a:lstStyle/>
          <a:p>
            <a:pPr indent="0" marL="0">
              <a:buNone/>
            </a:pPr>
            <a:r>
              <a:rPr lang="en-US" sz="1800" b="1" dirty="0">
                <a:solidFill>
                  <a:srgbClr val="2F3C7E"/>
                </a:solidFill>
                <a:latin typeface="Cambria" pitchFamily="34" charset="0"/>
                <a:ea typeface="Cambria" pitchFamily="34" charset="-122"/>
                <a:cs typeface="Cambria" pitchFamily="34" charset="-120"/>
              </a:rPr>
              <a:t>New engineering work</a:t>
            </a:r>
            <a:endParaRPr lang="en-US" sz="1800" dirty="0"/>
          </a:p>
        </p:txBody>
      </p:sp>
      <p:sp>
        <p:nvSpPr>
          <p:cNvPr id="6" name="Text 4"/>
          <p:cNvSpPr/>
          <p:nvPr/>
        </p:nvSpPr>
        <p:spPr>
          <a:xfrm>
            <a:off x="960120" y="2240280"/>
            <a:ext cx="4572000" cy="37490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resume analyzer that extracts real skills and experience instead of keyword matching</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skill gap detection engine comparing a student's profile against real company requirements</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company eligibility checker grounded in actual past placement criteria</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mock interview evaluator that scores responses against a rubric, not just a transcript</a:t>
            </a:r>
            <a:endParaRPr lang="en-US" sz="1300" dirty="0"/>
          </a:p>
        </p:txBody>
      </p:sp>
      <p:sp>
        <p:nvSpPr>
          <p:cNvPr id="7" name="Text 5"/>
          <p:cNvSpPr/>
          <p:nvPr/>
        </p:nvSpPr>
        <p:spPr>
          <a:xfrm>
            <a:off x="6629400" y="1691640"/>
            <a:ext cx="45720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Expected result</a:t>
            </a:r>
            <a:endParaRPr lang="en-US" sz="1800" dirty="0"/>
          </a:p>
        </p:txBody>
      </p:sp>
      <p:sp>
        <p:nvSpPr>
          <p:cNvPr id="8" name="Text 6"/>
          <p:cNvSpPr/>
          <p:nvPr/>
        </p:nvSpPr>
        <p:spPr>
          <a:xfrm>
            <a:off x="6629400" y="2240280"/>
            <a:ext cx="4572000" cy="37490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C9D0F0"/>
                </a:solidFill>
                <a:latin typeface="Calibri" pitchFamily="34" charset="0"/>
                <a:ea typeface="Calibri" pitchFamily="34" charset="-122"/>
                <a:cs typeface="Calibri" pitchFamily="34" charset="-120"/>
              </a:rPr>
              <a:t>A student sees exactly which companies they qualify for right now, and what is missing for the rest</a:t>
            </a:r>
            <a:endParaRPr lang="en-US" sz="1300" dirty="0"/>
          </a:p>
          <a:p>
            <a:pPr marL="342900" indent="-342900">
              <a:spcAft>
                <a:spcPts val="1000"/>
              </a:spcAft>
              <a:buSzPct val="100000"/>
              <a:buChar char="•"/>
            </a:pPr>
            <a:r>
              <a:rPr lang="en-US" sz="1300" dirty="0">
                <a:solidFill>
                  <a:srgbClr val="C9D0F0"/>
                </a:solidFill>
                <a:latin typeface="Calibri" pitchFamily="34" charset="0"/>
                <a:ea typeface="Calibri" pitchFamily="34" charset="-122"/>
                <a:cs typeface="Calibri" pitchFamily="34" charset="-120"/>
              </a:rPr>
              <a:t>Interview readiness is tracked as a score that improves over time, not a vague impression</a:t>
            </a:r>
            <a:endParaRPr lang="en-US" sz="1300" dirty="0"/>
          </a:p>
          <a:p>
            <a:pPr marL="342900" indent="-342900">
              <a:spcAft>
                <a:spcPts val="1000"/>
              </a:spcAft>
              <a:buSzPct val="100000"/>
              <a:buChar char="•"/>
            </a:pPr>
            <a:r>
              <a:rPr lang="en-US" sz="1300" dirty="0">
                <a:solidFill>
                  <a:srgbClr val="C9D0F0"/>
                </a:solidFill>
                <a:latin typeface="Calibri" pitchFamily="34" charset="0"/>
                <a:ea typeface="Calibri" pitchFamily="34" charset="-122"/>
                <a:cs typeface="Calibri" pitchFamily="34" charset="-120"/>
              </a:rPr>
              <a:t>A personalized learning roadmap is generated directly from the gaps that were found</a:t>
            </a:r>
            <a:endParaRPr lang="en-US" sz="1300" dirty="0"/>
          </a:p>
          <a:p>
            <a:pPr marL="342900" indent="-342900">
              <a:spcAft>
                <a:spcPts val="1000"/>
              </a:spcAft>
              <a:buSzPct val="100000"/>
              <a:buChar char="•"/>
            </a:pPr>
            <a:r>
              <a:rPr lang="en-US" sz="1300" dirty="0">
                <a:solidFill>
                  <a:srgbClr val="C9D0F0"/>
                </a:solidFill>
                <a:latin typeface="Calibri" pitchFamily="34" charset="0"/>
                <a:ea typeface="Calibri" pitchFamily="34" charset="-122"/>
                <a:cs typeface="Calibri" pitchFamily="34" charset="-120"/>
              </a:rPr>
              <a:t>The placement cell gets aggregate analytics across the whole student body</a:t>
            </a:r>
            <a:endParaRPr lang="en-US" sz="1300" dirty="0"/>
          </a:p>
        </p:txBody>
      </p:sp>
      <p:sp>
        <p:nvSpPr>
          <p:cNvPr id="9" name="Text 7"/>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LaunchPad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9436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Proposed System</a:t>
            </a:r>
            <a:endParaRPr lang="en-US" sz="3400" dirty="0"/>
          </a:p>
        </p:txBody>
      </p:sp>
      <p:sp>
        <p:nvSpPr>
          <p:cNvPr id="3" name="Text 1"/>
          <p:cNvSpPr/>
          <p:nvPr/>
        </p:nvSpPr>
        <p:spPr>
          <a:xfrm>
            <a:off x="640080" y="960120"/>
            <a:ext cx="8229600" cy="36576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Components, roles, integrations, and deployment</a:t>
            </a:r>
            <a:endParaRPr lang="en-US" sz="1400" dirty="0"/>
          </a:p>
        </p:txBody>
      </p:sp>
      <p:sp>
        <p:nvSpPr>
          <p:cNvPr id="4" name="Shape 2"/>
          <p:cNvSpPr/>
          <p:nvPr/>
        </p:nvSpPr>
        <p:spPr>
          <a:xfrm>
            <a:off x="640080" y="1554480"/>
            <a:ext cx="2384298" cy="1005840"/>
          </a:xfrm>
          <a:prstGeom prst="roundRect">
            <a:avLst>
              <a:gd name="adj" fmla="val 7273"/>
            </a:avLst>
          </a:prstGeom>
          <a:solidFill>
            <a:srgbClr val="2F3C7E"/>
          </a:solidFill>
          <a:ln/>
        </p:spPr>
      </p:sp>
      <p:sp>
        <p:nvSpPr>
          <p:cNvPr id="5" name="Text 3"/>
          <p:cNvSpPr/>
          <p:nvPr/>
        </p:nvSpPr>
        <p:spPr>
          <a:xfrm>
            <a:off x="640080" y="1554480"/>
            <a:ext cx="2384298" cy="1005840"/>
          </a:xfrm>
          <a:prstGeom prst="rect">
            <a:avLst/>
          </a:prstGeom>
          <a:noFill/>
          <a:ln/>
        </p:spPr>
        <p:txBody>
          <a:bodyPr wrap="square" lIns="762" tIns="762" rIns="762" bIns="762"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Resume &amp; profile input</a:t>
            </a:r>
            <a:endParaRPr lang="en-US" sz="1250" dirty="0"/>
          </a:p>
        </p:txBody>
      </p:sp>
      <p:sp>
        <p:nvSpPr>
          <p:cNvPr id="6" name="Text 4"/>
          <p:cNvSpPr/>
          <p:nvPr/>
        </p:nvSpPr>
        <p:spPr>
          <a:xfrm>
            <a:off x="3024378" y="1554480"/>
            <a:ext cx="457200" cy="1005840"/>
          </a:xfrm>
          <a:prstGeom prst="rect">
            <a:avLst/>
          </a:prstGeom>
          <a:noFill/>
          <a:ln/>
        </p:spPr>
        <p:txBody>
          <a:bodyPr wrap="square" lIns="0" tIns="0" rIns="0" bIns="0" rtlCol="0" anchor="ctr"/>
          <a:lstStyle/>
          <a:p>
            <a:pPr algn="ctr" indent="0" marL="0">
              <a:buNone/>
            </a:pPr>
            <a:r>
              <a:rPr lang="en-US" sz="2000" dirty="0">
                <a:solidFill>
                  <a:srgbClr val="2F3C7E"/>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3481578" y="1554480"/>
            <a:ext cx="2384298" cy="1005840"/>
          </a:xfrm>
          <a:prstGeom prst="roundRect">
            <a:avLst>
              <a:gd name="adj" fmla="val 7273"/>
            </a:avLst>
          </a:prstGeom>
          <a:solidFill>
            <a:srgbClr val="2F3C7E"/>
          </a:solidFill>
          <a:ln/>
        </p:spPr>
      </p:sp>
      <p:sp>
        <p:nvSpPr>
          <p:cNvPr id="8" name="Text 6"/>
          <p:cNvSpPr/>
          <p:nvPr/>
        </p:nvSpPr>
        <p:spPr>
          <a:xfrm>
            <a:off x="3481578" y="1554480"/>
            <a:ext cx="2384298" cy="1005840"/>
          </a:xfrm>
          <a:prstGeom prst="rect">
            <a:avLst/>
          </a:prstGeom>
          <a:noFill/>
          <a:ln/>
        </p:spPr>
        <p:txBody>
          <a:bodyPr wrap="square" lIns="762" tIns="762" rIns="762" bIns="762"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Skill gap &amp; eligibility engine</a:t>
            </a:r>
            <a:endParaRPr lang="en-US" sz="1250" dirty="0"/>
          </a:p>
        </p:txBody>
      </p:sp>
      <p:sp>
        <p:nvSpPr>
          <p:cNvPr id="9" name="Text 7"/>
          <p:cNvSpPr/>
          <p:nvPr/>
        </p:nvSpPr>
        <p:spPr>
          <a:xfrm>
            <a:off x="5865876" y="1554480"/>
            <a:ext cx="457200" cy="1005840"/>
          </a:xfrm>
          <a:prstGeom prst="rect">
            <a:avLst/>
          </a:prstGeom>
          <a:noFill/>
          <a:ln/>
        </p:spPr>
        <p:txBody>
          <a:bodyPr wrap="square" lIns="0" tIns="0" rIns="0" bIns="0" rtlCol="0" anchor="ctr"/>
          <a:lstStyle/>
          <a:p>
            <a:pPr algn="ctr" indent="0" marL="0">
              <a:buNone/>
            </a:pPr>
            <a:r>
              <a:rPr lang="en-US" sz="2000" dirty="0">
                <a:solidFill>
                  <a:srgbClr val="2F3C7E"/>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6323076" y="1554480"/>
            <a:ext cx="2384298" cy="1005840"/>
          </a:xfrm>
          <a:prstGeom prst="roundRect">
            <a:avLst>
              <a:gd name="adj" fmla="val 7273"/>
            </a:avLst>
          </a:prstGeom>
          <a:solidFill>
            <a:srgbClr val="2F3C7E"/>
          </a:solidFill>
          <a:ln/>
        </p:spPr>
      </p:sp>
      <p:sp>
        <p:nvSpPr>
          <p:cNvPr id="11" name="Text 9"/>
          <p:cNvSpPr/>
          <p:nvPr/>
        </p:nvSpPr>
        <p:spPr>
          <a:xfrm>
            <a:off x="6323076" y="1554480"/>
            <a:ext cx="2384298" cy="1005840"/>
          </a:xfrm>
          <a:prstGeom prst="rect">
            <a:avLst/>
          </a:prstGeom>
          <a:noFill/>
          <a:ln/>
        </p:spPr>
        <p:txBody>
          <a:bodyPr wrap="square" lIns="762" tIns="762" rIns="762" bIns="762"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Mock interview evaluator</a:t>
            </a:r>
            <a:endParaRPr lang="en-US" sz="1250" dirty="0"/>
          </a:p>
        </p:txBody>
      </p:sp>
      <p:sp>
        <p:nvSpPr>
          <p:cNvPr id="12" name="Text 10"/>
          <p:cNvSpPr/>
          <p:nvPr/>
        </p:nvSpPr>
        <p:spPr>
          <a:xfrm>
            <a:off x="8707374" y="1554480"/>
            <a:ext cx="457200" cy="1005840"/>
          </a:xfrm>
          <a:prstGeom prst="rect">
            <a:avLst/>
          </a:prstGeom>
          <a:noFill/>
          <a:ln/>
        </p:spPr>
        <p:txBody>
          <a:bodyPr wrap="square" lIns="0" tIns="0" rIns="0" bIns="0" rtlCol="0" anchor="ctr"/>
          <a:lstStyle/>
          <a:p>
            <a:pPr algn="ctr" indent="0" marL="0">
              <a:buNone/>
            </a:pPr>
            <a:r>
              <a:rPr lang="en-US" sz="2000" dirty="0">
                <a:solidFill>
                  <a:srgbClr val="2F3C7E"/>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9164574" y="1554480"/>
            <a:ext cx="2384298" cy="1005840"/>
          </a:xfrm>
          <a:prstGeom prst="roundRect">
            <a:avLst>
              <a:gd name="adj" fmla="val 7273"/>
            </a:avLst>
          </a:prstGeom>
          <a:solidFill>
            <a:srgbClr val="2F3C7E"/>
          </a:solidFill>
          <a:ln/>
        </p:spPr>
      </p:sp>
      <p:sp>
        <p:nvSpPr>
          <p:cNvPr id="14" name="Text 12"/>
          <p:cNvSpPr/>
          <p:nvPr/>
        </p:nvSpPr>
        <p:spPr>
          <a:xfrm>
            <a:off x="9164574" y="1554480"/>
            <a:ext cx="2384298" cy="1005840"/>
          </a:xfrm>
          <a:prstGeom prst="rect">
            <a:avLst/>
          </a:prstGeom>
          <a:noFill/>
          <a:ln/>
        </p:spPr>
        <p:txBody>
          <a:bodyPr wrap="square" lIns="762" tIns="762" rIns="762" bIns="762"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Roadmap &amp; analytics output</a:t>
            </a:r>
            <a:endParaRPr lang="en-US" sz="1250" dirty="0"/>
          </a:p>
        </p:txBody>
      </p:sp>
      <p:sp>
        <p:nvSpPr>
          <p:cNvPr id="15" name="Text 13"/>
          <p:cNvSpPr/>
          <p:nvPr/>
        </p:nvSpPr>
        <p:spPr>
          <a:xfrm>
            <a:off x="640080" y="2971800"/>
            <a:ext cx="5394960" cy="365760"/>
          </a:xfrm>
          <a:prstGeom prst="rect">
            <a:avLst/>
          </a:prstGeom>
          <a:noFill/>
          <a:ln/>
        </p:spPr>
        <p:txBody>
          <a:bodyPr wrap="square" lIns="0" tIns="0" rIns="0" bIns="0" rtlCol="0" anchor="ctr"/>
          <a:lstStyle/>
          <a:p>
            <a:pPr indent="0" marL="0">
              <a:buNone/>
            </a:pPr>
            <a:r>
              <a:rPr lang="en-US" sz="1700" b="1" dirty="0">
                <a:solidFill>
                  <a:srgbClr val="2F3C7E"/>
                </a:solidFill>
                <a:latin typeface="Cambria" pitchFamily="34" charset="0"/>
                <a:ea typeface="Cambria" pitchFamily="34" charset="-122"/>
                <a:cs typeface="Cambria" pitchFamily="34" charset="-120"/>
              </a:rPr>
              <a:t>Roles</a:t>
            </a:r>
            <a:endParaRPr lang="en-US" sz="1700" dirty="0"/>
          </a:p>
        </p:txBody>
      </p:sp>
      <p:sp>
        <p:nvSpPr>
          <p:cNvPr id="16" name="Text 14"/>
          <p:cNvSpPr/>
          <p:nvPr/>
        </p:nvSpPr>
        <p:spPr>
          <a:xfrm>
            <a:off x="640080" y="3383280"/>
            <a:ext cx="539496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Ronit: skill gap, eligibility reasoning, and mock interview evaluator</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Bhavneet: backend, database, and coding platform integrations</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Shreyas: student dashboard and placement cell analytics view</a:t>
            </a:r>
            <a:endParaRPr lang="en-US" sz="1300" dirty="0"/>
          </a:p>
        </p:txBody>
      </p:sp>
      <p:sp>
        <p:nvSpPr>
          <p:cNvPr id="17" name="Text 15"/>
          <p:cNvSpPr/>
          <p:nvPr/>
        </p:nvSpPr>
        <p:spPr>
          <a:xfrm>
            <a:off x="640080" y="4937760"/>
            <a:ext cx="5394960" cy="365760"/>
          </a:xfrm>
          <a:prstGeom prst="rect">
            <a:avLst/>
          </a:prstGeom>
          <a:noFill/>
          <a:ln/>
        </p:spPr>
        <p:txBody>
          <a:bodyPr wrap="square" lIns="0" tIns="0" rIns="0" bIns="0" rtlCol="0" anchor="ctr"/>
          <a:lstStyle/>
          <a:p>
            <a:pPr indent="0" marL="0">
              <a:buNone/>
            </a:pPr>
            <a:r>
              <a:rPr lang="en-US" sz="1700" b="1" dirty="0">
                <a:solidFill>
                  <a:srgbClr val="2F3C7E"/>
                </a:solidFill>
                <a:latin typeface="Cambria" pitchFamily="34" charset="0"/>
                <a:ea typeface="Cambria" pitchFamily="34" charset="-122"/>
                <a:cs typeface="Cambria" pitchFamily="34" charset="-120"/>
              </a:rPr>
              <a:t>Deployment</a:t>
            </a:r>
            <a:endParaRPr lang="en-US" sz="1700" dirty="0"/>
          </a:p>
        </p:txBody>
      </p:sp>
      <p:sp>
        <p:nvSpPr>
          <p:cNvPr id="18" name="Text 16"/>
          <p:cNvSpPr/>
          <p:nvPr/>
        </p:nvSpPr>
        <p:spPr>
          <a:xfrm>
            <a:off x="640080" y="5349240"/>
            <a:ext cx="5394960" cy="82296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A web app with separate views for students and the placement cell, hosted centrally for the department.</a:t>
            </a:r>
            <a:endParaRPr lang="en-US" sz="1300" dirty="0"/>
          </a:p>
        </p:txBody>
      </p:sp>
      <p:sp>
        <p:nvSpPr>
          <p:cNvPr id="19" name="Text 17"/>
          <p:cNvSpPr/>
          <p:nvPr/>
        </p:nvSpPr>
        <p:spPr>
          <a:xfrm>
            <a:off x="6309360" y="2971800"/>
            <a:ext cx="5212080" cy="365760"/>
          </a:xfrm>
          <a:prstGeom prst="rect">
            <a:avLst/>
          </a:prstGeom>
          <a:noFill/>
          <a:ln/>
        </p:spPr>
        <p:txBody>
          <a:bodyPr wrap="square" lIns="0" tIns="0" rIns="0" bIns="0" rtlCol="0" anchor="ctr"/>
          <a:lstStyle/>
          <a:p>
            <a:pPr indent="0" marL="0">
              <a:buNone/>
            </a:pPr>
            <a:r>
              <a:rPr lang="en-US" sz="1700" b="1" dirty="0">
                <a:solidFill>
                  <a:srgbClr val="2F3C7E"/>
                </a:solidFill>
                <a:latin typeface="Cambria" pitchFamily="34" charset="0"/>
                <a:ea typeface="Cambria" pitchFamily="34" charset="-122"/>
                <a:cs typeface="Cambria" pitchFamily="34" charset="-120"/>
              </a:rPr>
              <a:t>Integrations</a:t>
            </a:r>
            <a:endParaRPr lang="en-US" sz="1700" dirty="0"/>
          </a:p>
        </p:txBody>
      </p:sp>
      <p:sp>
        <p:nvSpPr>
          <p:cNvPr id="20" name="Text 18"/>
          <p:cNvSpPr/>
          <p:nvPr/>
        </p:nvSpPr>
        <p:spPr>
          <a:xfrm>
            <a:off x="6309360" y="3383280"/>
            <a:ext cx="521208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Resume parsing library</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Coding platform profile pull for progress tracking</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Speech to text for mock interview sessions</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A maintained database of company eligibility criteria</a:t>
            </a:r>
            <a:endParaRPr lang="en-US" sz="1300" dirty="0"/>
          </a:p>
        </p:txBody>
      </p:sp>
      <p:sp>
        <p:nvSpPr>
          <p:cNvPr id="21" name="Text 19"/>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LaunchPad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How We Will Validate It</a:t>
            </a:r>
            <a:endParaRPr lang="en-US" sz="3400" dirty="0"/>
          </a:p>
        </p:txBody>
      </p:sp>
      <p:sp>
        <p:nvSpPr>
          <p:cNvPr id="3" name="Shape 1"/>
          <p:cNvSpPr/>
          <p:nvPr/>
        </p:nvSpPr>
        <p:spPr>
          <a:xfrm>
            <a:off x="640080" y="1417320"/>
            <a:ext cx="5257800" cy="2148840"/>
          </a:xfrm>
          <a:prstGeom prst="roundRect">
            <a:avLst>
              <a:gd name="adj" fmla="val 4255"/>
            </a:avLst>
          </a:prstGeom>
          <a:solidFill>
            <a:srgbClr val="EFF1FA"/>
          </a:solidFill>
          <a:ln/>
        </p:spPr>
      </p:sp>
      <p:sp>
        <p:nvSpPr>
          <p:cNvPr id="4" name="Shape 2"/>
          <p:cNvSpPr/>
          <p:nvPr/>
        </p:nvSpPr>
        <p:spPr>
          <a:xfrm>
            <a:off x="896112" y="1673352"/>
            <a:ext cx="640080" cy="640080"/>
          </a:xfrm>
          <a:prstGeom prst="ellipse">
            <a:avLst/>
          </a:prstGeom>
          <a:solidFill>
            <a:srgbClr val="2F3C7E"/>
          </a:solidFill>
          <a:ln/>
        </p:spPr>
      </p:sp>
      <p:pic>
        <p:nvPicPr>
          <p:cNvPr id="5" name="Image 0" descr="/home/claude/govassist/icons/file_white.png">    </p:cNvPr>
          <p:cNvPicPr>
            <a:picLocks noChangeAspect="1"/>
          </p:cNvPicPr>
          <p:nvPr/>
        </p:nvPicPr>
        <p:blipFill>
          <a:blip r:embed="rId1"/>
          <a:stretch>
            <a:fillRect/>
          </a:stretch>
        </p:blipFill>
        <p:spPr>
          <a:xfrm>
            <a:off x="1062533" y="1839773"/>
            <a:ext cx="307238" cy="307238"/>
          </a:xfrm>
          <a:prstGeom prst="rect">
            <a:avLst/>
          </a:prstGeom>
        </p:spPr>
      </p:pic>
      <p:sp>
        <p:nvSpPr>
          <p:cNvPr id="6" name="Text 3"/>
          <p:cNvSpPr/>
          <p:nvPr/>
        </p:nvSpPr>
        <p:spPr>
          <a:xfrm>
            <a:off x="1691640" y="1673352"/>
            <a:ext cx="3977640" cy="41148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Data</a:t>
            </a:r>
            <a:endParaRPr lang="en-US" sz="1600" dirty="0"/>
          </a:p>
        </p:txBody>
      </p:sp>
      <p:sp>
        <p:nvSpPr>
          <p:cNvPr id="7" name="Text 4"/>
          <p:cNvSpPr/>
          <p:nvPr/>
        </p:nvSpPr>
        <p:spPr>
          <a:xfrm>
            <a:off x="914400" y="228600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Real, anonymized resumes and past placement eligibility criteria from the placement cell, plus a test set of students with known skill gaps.</a:t>
            </a:r>
            <a:endParaRPr lang="en-US" sz="1200" dirty="0"/>
          </a:p>
        </p:txBody>
      </p:sp>
      <p:sp>
        <p:nvSpPr>
          <p:cNvPr id="8" name="Shape 5"/>
          <p:cNvSpPr/>
          <p:nvPr/>
        </p:nvSpPr>
        <p:spPr>
          <a:xfrm>
            <a:off x="6172200" y="1417320"/>
            <a:ext cx="5257800" cy="2148840"/>
          </a:xfrm>
          <a:prstGeom prst="roundRect">
            <a:avLst>
              <a:gd name="adj" fmla="val 4255"/>
            </a:avLst>
          </a:prstGeom>
          <a:solidFill>
            <a:srgbClr val="EFF1FA"/>
          </a:solidFill>
          <a:ln/>
        </p:spPr>
      </p:sp>
      <p:sp>
        <p:nvSpPr>
          <p:cNvPr id="9" name="Shape 6"/>
          <p:cNvSpPr/>
          <p:nvPr/>
        </p:nvSpPr>
        <p:spPr>
          <a:xfrm>
            <a:off x="6428232" y="1673352"/>
            <a:ext cx="640080" cy="640080"/>
          </a:xfrm>
          <a:prstGeom prst="ellipse">
            <a:avLst/>
          </a:prstGeom>
          <a:solidFill>
            <a:srgbClr val="2F3C7E"/>
          </a:solidFill>
          <a:ln/>
        </p:spPr>
      </p:sp>
      <p:pic>
        <p:nvPicPr>
          <p:cNvPr id="10" name="Image 1" descr="/home/claude/govassist/icons/users_white.png">    </p:cNvPr>
          <p:cNvPicPr>
            <a:picLocks noChangeAspect="1"/>
          </p:cNvPicPr>
          <p:nvPr/>
        </p:nvPicPr>
        <p:blipFill>
          <a:blip r:embed="rId2"/>
          <a:stretch>
            <a:fillRect/>
          </a:stretch>
        </p:blipFill>
        <p:spPr>
          <a:xfrm>
            <a:off x="6594653" y="1839773"/>
            <a:ext cx="307238" cy="307238"/>
          </a:xfrm>
          <a:prstGeom prst="rect">
            <a:avLst/>
          </a:prstGeom>
        </p:spPr>
      </p:pic>
      <p:sp>
        <p:nvSpPr>
          <p:cNvPr id="11" name="Text 7"/>
          <p:cNvSpPr/>
          <p:nvPr/>
        </p:nvSpPr>
        <p:spPr>
          <a:xfrm>
            <a:off x="7223760" y="1673352"/>
            <a:ext cx="3977640" cy="41148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User checks</a:t>
            </a:r>
            <a:endParaRPr lang="en-US" sz="1600" dirty="0"/>
          </a:p>
        </p:txBody>
      </p:sp>
      <p:sp>
        <p:nvSpPr>
          <p:cNvPr id="12" name="Text 8"/>
          <p:cNvSpPr/>
          <p:nvPr/>
        </p:nvSpPr>
        <p:spPr>
          <a:xfrm>
            <a:off x="6446520" y="228600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Real students run their resume and a mock interview through the system and compare the result with what a placement mentor would say.</a:t>
            </a:r>
            <a:endParaRPr lang="en-US" sz="1200" dirty="0"/>
          </a:p>
        </p:txBody>
      </p:sp>
      <p:sp>
        <p:nvSpPr>
          <p:cNvPr id="13" name="Shape 9"/>
          <p:cNvSpPr/>
          <p:nvPr/>
        </p:nvSpPr>
        <p:spPr>
          <a:xfrm>
            <a:off x="640080" y="3840480"/>
            <a:ext cx="5257800" cy="2148840"/>
          </a:xfrm>
          <a:prstGeom prst="roundRect">
            <a:avLst>
              <a:gd name="adj" fmla="val 4255"/>
            </a:avLst>
          </a:prstGeom>
          <a:solidFill>
            <a:srgbClr val="EFF1FA"/>
          </a:solidFill>
          <a:ln/>
        </p:spPr>
      </p:sp>
      <p:sp>
        <p:nvSpPr>
          <p:cNvPr id="14" name="Shape 10"/>
          <p:cNvSpPr/>
          <p:nvPr/>
        </p:nvSpPr>
        <p:spPr>
          <a:xfrm>
            <a:off x="896112" y="4096512"/>
            <a:ext cx="640080" cy="640080"/>
          </a:xfrm>
          <a:prstGeom prst="ellipse">
            <a:avLst/>
          </a:prstGeom>
          <a:solidFill>
            <a:srgbClr val="2F3C7E"/>
          </a:solidFill>
          <a:ln/>
        </p:spPr>
      </p:sp>
      <p:pic>
        <p:nvPicPr>
          <p:cNvPr id="15" name="Image 2" descr="/home/claude/govassist/icons/check_white.png">    </p:cNvPr>
          <p:cNvPicPr>
            <a:picLocks noChangeAspect="1"/>
          </p:cNvPicPr>
          <p:nvPr/>
        </p:nvPicPr>
        <p:blipFill>
          <a:blip r:embed="rId3"/>
          <a:stretch>
            <a:fillRect/>
          </a:stretch>
        </p:blipFill>
        <p:spPr>
          <a:xfrm>
            <a:off x="1062533" y="4262933"/>
            <a:ext cx="307238" cy="307238"/>
          </a:xfrm>
          <a:prstGeom prst="rect">
            <a:avLst/>
          </a:prstGeom>
        </p:spPr>
      </p:pic>
      <p:sp>
        <p:nvSpPr>
          <p:cNvPr id="16" name="Text 11"/>
          <p:cNvSpPr/>
          <p:nvPr/>
        </p:nvSpPr>
        <p:spPr>
          <a:xfrm>
            <a:off x="1691640" y="4096512"/>
            <a:ext cx="3977640" cy="41148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Tests</a:t>
            </a:r>
            <a:endParaRPr lang="en-US" sz="1600" dirty="0"/>
          </a:p>
        </p:txBody>
      </p:sp>
      <p:sp>
        <p:nvSpPr>
          <p:cNvPr id="17" name="Text 12"/>
          <p:cNvSpPr/>
          <p:nvPr/>
        </p:nvSpPr>
        <p:spPr>
          <a:xfrm>
            <a:off x="914400" y="470916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Accuracy of the eligibility checker against actual past placement criteria, and correlation between mock interview scores and real interview outcomes.</a:t>
            </a:r>
            <a:endParaRPr lang="en-US" sz="1200" dirty="0"/>
          </a:p>
        </p:txBody>
      </p:sp>
      <p:sp>
        <p:nvSpPr>
          <p:cNvPr id="18" name="Shape 13"/>
          <p:cNvSpPr/>
          <p:nvPr/>
        </p:nvSpPr>
        <p:spPr>
          <a:xfrm>
            <a:off x="6172200" y="3840480"/>
            <a:ext cx="5257800" cy="2148840"/>
          </a:xfrm>
          <a:prstGeom prst="roundRect">
            <a:avLst>
              <a:gd name="adj" fmla="val 4255"/>
            </a:avLst>
          </a:prstGeom>
          <a:solidFill>
            <a:srgbClr val="EFF1FA"/>
          </a:solidFill>
          <a:ln/>
        </p:spPr>
      </p:sp>
      <p:sp>
        <p:nvSpPr>
          <p:cNvPr id="19" name="Shape 14"/>
          <p:cNvSpPr/>
          <p:nvPr/>
        </p:nvSpPr>
        <p:spPr>
          <a:xfrm>
            <a:off x="6428232" y="4096512"/>
            <a:ext cx="640080" cy="640080"/>
          </a:xfrm>
          <a:prstGeom prst="ellipse">
            <a:avLst/>
          </a:prstGeom>
          <a:solidFill>
            <a:srgbClr val="2F3C7E"/>
          </a:solidFill>
          <a:ln/>
        </p:spPr>
      </p:sp>
      <p:pic>
        <p:nvPicPr>
          <p:cNvPr id="20" name="Image 3" descr="/home/claude/govassist/icons/trend_white.png">    </p:cNvPr>
          <p:cNvPicPr>
            <a:picLocks noChangeAspect="1"/>
          </p:cNvPicPr>
          <p:nvPr/>
        </p:nvPicPr>
        <p:blipFill>
          <a:blip r:embed="rId4"/>
          <a:stretch>
            <a:fillRect/>
          </a:stretch>
        </p:blipFill>
        <p:spPr>
          <a:xfrm>
            <a:off x="6594653" y="4262933"/>
            <a:ext cx="307238" cy="307238"/>
          </a:xfrm>
          <a:prstGeom prst="rect">
            <a:avLst/>
          </a:prstGeom>
        </p:spPr>
      </p:pic>
      <p:sp>
        <p:nvSpPr>
          <p:cNvPr id="21" name="Text 15"/>
          <p:cNvSpPr/>
          <p:nvPr/>
        </p:nvSpPr>
        <p:spPr>
          <a:xfrm>
            <a:off x="7223760" y="4096512"/>
            <a:ext cx="3977640" cy="41148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Evaluation criteria</a:t>
            </a:r>
            <a:endParaRPr lang="en-US" sz="1600" dirty="0"/>
          </a:p>
        </p:txBody>
      </p:sp>
      <p:sp>
        <p:nvSpPr>
          <p:cNvPr id="22" name="Text 16"/>
          <p:cNvSpPr/>
          <p:nvPr/>
        </p:nvSpPr>
        <p:spPr>
          <a:xfrm>
            <a:off x="6446520" y="470916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Percentage of eligibility calls that match placement cell judgment, and measurable improvement in mock interview scores over repeated attempts.</a:t>
            </a:r>
            <a:endParaRPr lang="en-US" sz="1200" dirty="0"/>
          </a:p>
        </p:txBody>
      </p:sp>
      <p:sp>
        <p:nvSpPr>
          <p:cNvPr id="23" name="Text 17"/>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LaunchPad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400" b="1" dirty="0">
                <a:solidFill>
                  <a:srgbClr val="2F3C7E"/>
                </a:solidFill>
                <a:latin typeface="Cambria" pitchFamily="34" charset="0"/>
                <a:ea typeface="Cambria" pitchFamily="34" charset="-122"/>
                <a:cs typeface="Cambria" pitchFamily="34" charset="-120"/>
              </a:rPr>
              <a:t>Feasibility and Risk</a:t>
            </a:r>
            <a:endParaRPr lang="en-US" sz="3400" dirty="0"/>
          </a:p>
        </p:txBody>
      </p:sp>
      <p:sp>
        <p:nvSpPr>
          <p:cNvPr id="3" name="Shape 1"/>
          <p:cNvSpPr/>
          <p:nvPr/>
        </p:nvSpPr>
        <p:spPr>
          <a:xfrm>
            <a:off x="640080" y="1463040"/>
            <a:ext cx="685800" cy="685800"/>
          </a:xfrm>
          <a:prstGeom prst="ellipse">
            <a:avLst/>
          </a:prstGeom>
          <a:solidFill>
            <a:srgbClr val="2F3C7E"/>
          </a:solidFill>
          <a:ln/>
        </p:spPr>
      </p:sp>
      <p:pic>
        <p:nvPicPr>
          <p:cNvPr id="4" name="Image 0" descr="/home/claude/govassist/icons/alert_white.png">    </p:cNvPr>
          <p:cNvPicPr>
            <a:picLocks noChangeAspect="1"/>
          </p:cNvPicPr>
          <p:nvPr/>
        </p:nvPicPr>
        <p:blipFill>
          <a:blip r:embed="rId1"/>
          <a:stretch>
            <a:fillRect/>
          </a:stretch>
        </p:blipFill>
        <p:spPr>
          <a:xfrm>
            <a:off x="818388" y="1641348"/>
            <a:ext cx="329184" cy="329184"/>
          </a:xfrm>
          <a:prstGeom prst="rect">
            <a:avLst/>
          </a:prstGeom>
        </p:spPr>
      </p:pic>
      <p:sp>
        <p:nvSpPr>
          <p:cNvPr id="5" name="Text 2"/>
          <p:cNvSpPr/>
          <p:nvPr/>
        </p:nvSpPr>
        <p:spPr>
          <a:xfrm>
            <a:off x="1600200" y="1417320"/>
            <a:ext cx="9875520" cy="365760"/>
          </a:xfrm>
          <a:prstGeom prst="rect">
            <a:avLst/>
          </a:prstGeom>
          <a:noFill/>
          <a:ln/>
        </p:spPr>
        <p:txBody>
          <a:bodyPr wrap="square" lIns="0" tIns="0" rIns="0" bIns="0" rtlCol="0" anchor="ctr"/>
          <a:lstStyle/>
          <a:p>
            <a:pPr indent="0" marL="0">
              <a:buNone/>
            </a:pPr>
            <a:r>
              <a:rPr lang="en-US" sz="1700" b="1" dirty="0">
                <a:solidFill>
                  <a:srgbClr val="2F3C7E"/>
                </a:solidFill>
                <a:latin typeface="Cambria" pitchFamily="34" charset="0"/>
                <a:ea typeface="Cambria" pitchFamily="34" charset="-122"/>
                <a:cs typeface="Cambria" pitchFamily="34" charset="-120"/>
              </a:rPr>
              <a:t>Unknowns and dependencies</a:t>
            </a:r>
            <a:endParaRPr lang="en-US" sz="1700" dirty="0"/>
          </a:p>
        </p:txBody>
      </p:sp>
      <p:sp>
        <p:nvSpPr>
          <p:cNvPr id="6" name="Text 3"/>
          <p:cNvSpPr/>
          <p:nvPr/>
        </p:nvSpPr>
        <p:spPr>
          <a:xfrm>
            <a:off x="1600200" y="1828800"/>
            <a:ext cx="9875520" cy="960120"/>
          </a:xfrm>
          <a:prstGeom prst="rect">
            <a:avLst/>
          </a:prstGeom>
          <a:noFill/>
          <a:ln/>
        </p:spPr>
        <p:txBody>
          <a:bodyPr wrap="square" lIns="0" tIns="0" rIns="0" bIns="0" rtlCol="0" anchor="t"/>
          <a:lstStyle/>
          <a:p>
            <a:pPr indent="0" marL="0">
              <a:lnSpc>
                <a:spcPct val="120000"/>
              </a:lnSpc>
              <a:buNone/>
            </a:pPr>
            <a:r>
              <a:rPr lang="en-US" sz="1300" dirty="0">
                <a:solidFill>
                  <a:srgbClr val="2B2B2B"/>
                </a:solidFill>
                <a:latin typeface="Calibri" pitchFamily="34" charset="0"/>
                <a:ea typeface="Calibri" pitchFamily="34" charset="-122"/>
                <a:cs typeface="Calibri" pitchFamily="34" charset="-120"/>
              </a:rPr>
              <a:t>How well a mock interview evaluator can score genuinely subjective qualities, and whether the placement cell will share real eligibility criteria and outcome data with us.</a:t>
            </a:r>
            <a:endParaRPr lang="en-US" sz="1300" dirty="0"/>
          </a:p>
        </p:txBody>
      </p:sp>
      <p:sp>
        <p:nvSpPr>
          <p:cNvPr id="7" name="Shape 4"/>
          <p:cNvSpPr/>
          <p:nvPr/>
        </p:nvSpPr>
        <p:spPr>
          <a:xfrm>
            <a:off x="640080" y="2880360"/>
            <a:ext cx="685800" cy="685800"/>
          </a:xfrm>
          <a:prstGeom prst="ellipse">
            <a:avLst/>
          </a:prstGeom>
          <a:solidFill>
            <a:srgbClr val="2F3C7E"/>
          </a:solidFill>
          <a:ln/>
        </p:spPr>
      </p:sp>
      <p:pic>
        <p:nvPicPr>
          <p:cNvPr id="8" name="Image 1" descr="/home/claude/govassist/icons/shield_white.png">    </p:cNvPr>
          <p:cNvPicPr>
            <a:picLocks noChangeAspect="1"/>
          </p:cNvPicPr>
          <p:nvPr/>
        </p:nvPicPr>
        <p:blipFill>
          <a:blip r:embed="rId2"/>
          <a:stretch>
            <a:fillRect/>
          </a:stretch>
        </p:blipFill>
        <p:spPr>
          <a:xfrm>
            <a:off x="818388" y="3058668"/>
            <a:ext cx="329184" cy="329184"/>
          </a:xfrm>
          <a:prstGeom prst="rect">
            <a:avLst/>
          </a:prstGeom>
        </p:spPr>
      </p:pic>
      <p:sp>
        <p:nvSpPr>
          <p:cNvPr id="9" name="Text 5"/>
          <p:cNvSpPr/>
          <p:nvPr/>
        </p:nvSpPr>
        <p:spPr>
          <a:xfrm>
            <a:off x="1600200" y="2834640"/>
            <a:ext cx="9875520" cy="365760"/>
          </a:xfrm>
          <a:prstGeom prst="rect">
            <a:avLst/>
          </a:prstGeom>
          <a:noFill/>
          <a:ln/>
        </p:spPr>
        <p:txBody>
          <a:bodyPr wrap="square" lIns="0" tIns="0" rIns="0" bIns="0" rtlCol="0" anchor="ctr"/>
          <a:lstStyle/>
          <a:p>
            <a:pPr indent="0" marL="0">
              <a:buNone/>
            </a:pPr>
            <a:r>
              <a:rPr lang="en-US" sz="1700" b="1" dirty="0">
                <a:solidFill>
                  <a:srgbClr val="2F3C7E"/>
                </a:solidFill>
                <a:latin typeface="Cambria" pitchFamily="34" charset="0"/>
                <a:ea typeface="Cambria" pitchFamily="34" charset="-122"/>
                <a:cs typeface="Cambria" pitchFamily="34" charset="-120"/>
              </a:rPr>
              <a:t>Privacy</a:t>
            </a:r>
            <a:endParaRPr lang="en-US" sz="1700" dirty="0"/>
          </a:p>
        </p:txBody>
      </p:sp>
      <p:sp>
        <p:nvSpPr>
          <p:cNvPr id="10" name="Text 6"/>
          <p:cNvSpPr/>
          <p:nvPr/>
        </p:nvSpPr>
        <p:spPr>
          <a:xfrm>
            <a:off x="1600200" y="3246120"/>
            <a:ext cx="9875520" cy="960120"/>
          </a:xfrm>
          <a:prstGeom prst="rect">
            <a:avLst/>
          </a:prstGeom>
          <a:noFill/>
          <a:ln/>
        </p:spPr>
        <p:txBody>
          <a:bodyPr wrap="square" lIns="0" tIns="0" rIns="0" bIns="0" rtlCol="0" anchor="t"/>
          <a:lstStyle/>
          <a:p>
            <a:pPr indent="0" marL="0">
              <a:lnSpc>
                <a:spcPct val="120000"/>
              </a:lnSpc>
              <a:buNone/>
            </a:pPr>
            <a:r>
              <a:rPr lang="en-US" sz="1300" dirty="0">
                <a:solidFill>
                  <a:srgbClr val="2B2B2B"/>
                </a:solidFill>
                <a:latin typeface="Calibri" pitchFamily="34" charset="0"/>
                <a:ea typeface="Calibri" pitchFamily="34" charset="-122"/>
                <a:cs typeface="Calibri" pitchFamily="34" charset="-120"/>
              </a:rPr>
              <a:t>Resumes and interview recordings are used only for scoring in that session, never stored beyond it, and never shared with recruiters without consent.</a:t>
            </a:r>
            <a:endParaRPr lang="en-US" sz="1300" dirty="0"/>
          </a:p>
        </p:txBody>
      </p:sp>
      <p:sp>
        <p:nvSpPr>
          <p:cNvPr id="11" name="Shape 7"/>
          <p:cNvSpPr/>
          <p:nvPr/>
        </p:nvSpPr>
        <p:spPr>
          <a:xfrm>
            <a:off x="640080" y="4297680"/>
            <a:ext cx="685800" cy="685800"/>
          </a:xfrm>
          <a:prstGeom prst="ellipse">
            <a:avLst/>
          </a:prstGeom>
          <a:solidFill>
            <a:srgbClr val="2F3C7E"/>
          </a:solidFill>
          <a:ln/>
        </p:spPr>
      </p:sp>
      <p:pic>
        <p:nvPicPr>
          <p:cNvPr id="12" name="Image 2" descr="/home/claude/govassist/icons/check_white.png">    </p:cNvPr>
          <p:cNvPicPr>
            <a:picLocks noChangeAspect="1"/>
          </p:cNvPicPr>
          <p:nvPr/>
        </p:nvPicPr>
        <p:blipFill>
          <a:blip r:embed="rId3"/>
          <a:stretch>
            <a:fillRect/>
          </a:stretch>
        </p:blipFill>
        <p:spPr>
          <a:xfrm>
            <a:off x="818388" y="4475988"/>
            <a:ext cx="329184" cy="329184"/>
          </a:xfrm>
          <a:prstGeom prst="rect">
            <a:avLst/>
          </a:prstGeom>
        </p:spPr>
      </p:pic>
      <p:sp>
        <p:nvSpPr>
          <p:cNvPr id="13" name="Text 8"/>
          <p:cNvSpPr/>
          <p:nvPr/>
        </p:nvSpPr>
        <p:spPr>
          <a:xfrm>
            <a:off x="1600200" y="4251960"/>
            <a:ext cx="9875520" cy="365760"/>
          </a:xfrm>
          <a:prstGeom prst="rect">
            <a:avLst/>
          </a:prstGeom>
          <a:noFill/>
          <a:ln/>
        </p:spPr>
        <p:txBody>
          <a:bodyPr wrap="square" lIns="0" tIns="0" rIns="0" bIns="0" rtlCol="0" anchor="ctr"/>
          <a:lstStyle/>
          <a:p>
            <a:pPr indent="0" marL="0">
              <a:buNone/>
            </a:pPr>
            <a:r>
              <a:rPr lang="en-US" sz="1700" b="1" dirty="0">
                <a:solidFill>
                  <a:srgbClr val="2F3C7E"/>
                </a:solidFill>
                <a:latin typeface="Cambria" pitchFamily="34" charset="0"/>
                <a:ea typeface="Cambria" pitchFamily="34" charset="-122"/>
                <a:cs typeface="Cambria" pitchFamily="34" charset="-120"/>
              </a:rPr>
              <a:t>Fallback</a:t>
            </a:r>
            <a:endParaRPr lang="en-US" sz="1700" dirty="0"/>
          </a:p>
        </p:txBody>
      </p:sp>
      <p:sp>
        <p:nvSpPr>
          <p:cNvPr id="14" name="Text 9"/>
          <p:cNvSpPr/>
          <p:nvPr/>
        </p:nvSpPr>
        <p:spPr>
          <a:xfrm>
            <a:off x="1600200" y="4663440"/>
            <a:ext cx="9875520" cy="960120"/>
          </a:xfrm>
          <a:prstGeom prst="rect">
            <a:avLst/>
          </a:prstGeom>
          <a:noFill/>
          <a:ln/>
        </p:spPr>
        <p:txBody>
          <a:bodyPr wrap="square" lIns="0" tIns="0" rIns="0" bIns="0" rtlCol="0" anchor="t"/>
          <a:lstStyle/>
          <a:p>
            <a:pPr indent="0" marL="0">
              <a:lnSpc>
                <a:spcPct val="120000"/>
              </a:lnSpc>
              <a:buNone/>
            </a:pPr>
            <a:r>
              <a:rPr lang="en-US" sz="1300" dirty="0">
                <a:solidFill>
                  <a:srgbClr val="2B2B2B"/>
                </a:solidFill>
                <a:latin typeface="Calibri" pitchFamily="34" charset="0"/>
                <a:ea typeface="Calibri" pitchFamily="34" charset="-122"/>
                <a:cs typeface="Calibri" pitchFamily="34" charset="-120"/>
              </a:rPr>
              <a:t>When the system is not confident about an eligibility call or an interview score, it flags itself as uncertain rather than giving a false sense of readiness.</a:t>
            </a:r>
            <a:endParaRPr lang="en-US" sz="1300" dirty="0"/>
          </a:p>
        </p:txBody>
      </p:sp>
      <p:sp>
        <p:nvSpPr>
          <p:cNvPr id="15" name="Text 10"/>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LaunchPad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F3C7E"/>
          </a:solidFill>
          <a:ln/>
        </p:spPr>
      </p:sp>
      <p:sp>
        <p:nvSpPr>
          <p:cNvPr id="3" name="Shape 1"/>
          <p:cNvSpPr/>
          <p:nvPr/>
        </p:nvSpPr>
        <p:spPr>
          <a:xfrm>
            <a:off x="640080" y="594360"/>
            <a:ext cx="914400" cy="914400"/>
          </a:xfrm>
          <a:prstGeom prst="ellipse">
            <a:avLst/>
          </a:prstGeom>
          <a:solidFill>
            <a:srgbClr val="1F2A5C"/>
          </a:solidFill>
          <a:ln/>
        </p:spPr>
      </p:sp>
      <p:pic>
        <p:nvPicPr>
          <p:cNvPr id="4" name="Image 0" descr="/home/claude/govassist/icons/award_white.png">    </p:cNvPr>
          <p:cNvPicPr>
            <a:picLocks noChangeAspect="1"/>
          </p:cNvPicPr>
          <p:nvPr/>
        </p:nvPicPr>
        <p:blipFill>
          <a:blip r:embed="rId1"/>
          <a:stretch>
            <a:fillRect/>
          </a:stretch>
        </p:blipFill>
        <p:spPr>
          <a:xfrm>
            <a:off x="877824" y="832104"/>
            <a:ext cx="438912" cy="438912"/>
          </a:xfrm>
          <a:prstGeom prst="rect">
            <a:avLst/>
          </a:prstGeom>
        </p:spPr>
      </p:pic>
      <p:sp>
        <p:nvSpPr>
          <p:cNvPr id="5" name="Text 2"/>
          <p:cNvSpPr/>
          <p:nvPr/>
        </p:nvSpPr>
        <p:spPr>
          <a:xfrm>
            <a:off x="1828800" y="64008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This Stands</a:t>
            </a:r>
            <a:endParaRPr lang="en-US" sz="3400" dirty="0"/>
          </a:p>
        </p:txBody>
      </p:sp>
      <p:sp>
        <p:nvSpPr>
          <p:cNvPr id="6" name="Text 3"/>
          <p:cNvSpPr/>
          <p:nvPr/>
        </p:nvSpPr>
        <p:spPr>
          <a:xfrm>
            <a:off x="640080" y="1783080"/>
            <a:ext cx="10881360" cy="1371600"/>
          </a:xfrm>
          <a:prstGeom prst="rect">
            <a:avLst/>
          </a:prstGeom>
          <a:noFill/>
          <a:ln/>
        </p:spPr>
        <p:txBody>
          <a:bodyPr wrap="square" lIns="0" tIns="0" rIns="0" bIns="0" rtlCol="0" anchor="t"/>
          <a:lstStyle/>
          <a:p>
            <a:pPr indent="0" marL="0">
              <a:lnSpc>
                <a:spcPct val="130000"/>
              </a:lnSpc>
              <a:buNone/>
            </a:pPr>
            <a:r>
              <a:rPr lang="en-US" sz="1500" dirty="0">
                <a:solidFill>
                  <a:srgbClr val="C9D0F0"/>
                </a:solidFill>
                <a:latin typeface="Calibri" pitchFamily="34" charset="0"/>
                <a:ea typeface="Calibri" pitchFamily="34" charset="-122"/>
                <a:cs typeface="Calibri" pitchFamily="34" charset="-120"/>
              </a:rPr>
              <a:t>This idea has the clearest measurable innovation, tracking real progress instead of shipping another chatbot, and it genuinely involves three real stakeholder groups at once.</a:t>
            </a:r>
            <a:endParaRPr lang="en-US" sz="1500" dirty="0"/>
          </a:p>
        </p:txBody>
      </p:sp>
      <p:sp>
        <p:nvSpPr>
          <p:cNvPr id="7" name="Text 4"/>
          <p:cNvSpPr/>
          <p:nvPr/>
        </p:nvSpPr>
        <p:spPr>
          <a:xfrm>
            <a:off x="640080" y="3246120"/>
            <a:ext cx="10881360" cy="1371600"/>
          </a:xfrm>
          <a:prstGeom prst="rect">
            <a:avLst/>
          </a:prstGeom>
          <a:noFill/>
          <a:ln/>
        </p:spPr>
        <p:txBody>
          <a:bodyPr wrap="square" lIns="0" tIns="0" rIns="0" bIns="0" rtlCol="0" anchor="t"/>
          <a:lstStyle/>
          <a:p>
            <a:pPr indent="0" marL="0">
              <a:lnSpc>
                <a:spcPct val="130000"/>
              </a:lnSpc>
              <a:buNone/>
            </a:pPr>
            <a:r>
              <a:rPr lang="en-US" sz="1500" dirty="0">
                <a:solidFill>
                  <a:srgbClr val="C9D0F0"/>
                </a:solidFill>
                <a:latin typeface="Calibri" pitchFamily="34" charset="0"/>
                <a:ea typeface="Calibri" pitchFamily="34" charset="-122"/>
                <a:cs typeface="Calibri" pitchFamily="34" charset="-120"/>
              </a:rPr>
              <a:t>Its risk is breadth. Seven features is a lot to build well in one semester, and much of its credibility depends on the placement cell actually sharing real criteria and outcome data with us.</a:t>
            </a:r>
            <a:endParaRPr lang="en-US" sz="1500" dirty="0"/>
          </a:p>
        </p:txBody>
      </p:sp>
      <p:sp>
        <p:nvSpPr>
          <p:cNvPr id="8" name="Text 5"/>
          <p:cNvSpPr/>
          <p:nvPr/>
        </p:nvSpPr>
        <p:spPr>
          <a:xfrm>
            <a:off x="9811512" y="6473952"/>
            <a:ext cx="2103120" cy="274320"/>
          </a:xfrm>
          <a:prstGeom prst="rect">
            <a:avLst/>
          </a:prstGeom>
          <a:noFill/>
          <a:ln/>
        </p:spPr>
        <p:txBody>
          <a:bodyPr wrap="square" lIns="0" tIns="0" rIns="0" bIns="0" rtlCol="0" anchor="ctr"/>
          <a:lstStyle/>
          <a:p>
            <a:pPr algn="r" indent="0" marL="0">
              <a:buNone/>
            </a:pPr>
            <a:r>
              <a:rPr lang="en-US" sz="900" dirty="0">
                <a:solidFill>
                  <a:srgbClr val="C9D0F0"/>
                </a:solidFill>
                <a:latin typeface="Calibri" pitchFamily="34" charset="0"/>
                <a:ea typeface="Calibri" pitchFamily="34" charset="-122"/>
                <a:cs typeface="Calibri" pitchFamily="34" charset="-120"/>
              </a:rPr>
              <a:t>LaunchPad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2026-08-04T19:44:00Z</dcterms:created>
  <dcterms:modified xsi:type="dcterms:W3CDTF">2026-08-04T19:44:00Z</dcterms:modified>
</cp:coreProperties>
</file>