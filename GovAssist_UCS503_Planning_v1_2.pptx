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cc6f312ebf458d" /><Relationship Type="http://schemas.openxmlformats.org/officeDocument/2006/relationships/extended-properties" Target="/docProps/app.xml" Id="R370970db53de4bbb" /><Relationship Type="http://schemas.openxmlformats.org/officeDocument/2006/relationships/officeDocument" Target="/ppt/presentation.xml" Id="R37ba9cbf145e4a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da7a2db55b143de"/>
  </p:sldMasterIdLst>
  <p:notesMasterIdLst>
    <p:notesMasterId xmlns:r="http://schemas.openxmlformats.org/officeDocument/2006/relationships" r:id="R84e673bc6d604843"/>
  </p:notesMasterIdLst>
  <p:sldIdLst>
    <p:sldId xmlns:r="http://schemas.openxmlformats.org/officeDocument/2006/relationships" id="256" r:id="R048911cf2b59493d"/>
    <p:sldId xmlns:r="http://schemas.openxmlformats.org/officeDocument/2006/relationships" id="257" r:id="Rc606b667d7914901"/>
    <p:sldId xmlns:r="http://schemas.openxmlformats.org/officeDocument/2006/relationships" id="258" r:id="R4f3fdf41a50e4bce"/>
    <p:sldId xmlns:r="http://schemas.openxmlformats.org/officeDocument/2006/relationships" id="259" r:id="R9a4d35e4eb104f43"/>
    <p:sldId xmlns:r="http://schemas.openxmlformats.org/officeDocument/2006/relationships" id="260" r:id="Rf1b0311d6b914c10"/>
    <p:sldId xmlns:r="http://schemas.openxmlformats.org/officeDocument/2006/relationships" id="261" r:id="R953c4aa9ba87431d"/>
    <p:sldId xmlns:r="http://schemas.openxmlformats.org/officeDocument/2006/relationships" id="262" r:id="Rb5241f2d9200425c"/>
    <p:sldId xmlns:r="http://schemas.openxmlformats.org/officeDocument/2006/relationships" id="263" r:id="R7b413ae7e08444a8"/>
    <p:sldId xmlns:r="http://schemas.openxmlformats.org/officeDocument/2006/relationships" id="264" r:id="R7d9ba4a37f8c434a"/>
    <p:sldId xmlns:r="http://schemas.openxmlformats.org/officeDocument/2006/relationships" id="265" r:id="R1c732826cfaf43ee"/>
    <p:sldId xmlns:r="http://schemas.openxmlformats.org/officeDocument/2006/relationships" id="266" r:id="Re92a64f20c4a4306"/>
    <p:sldId xmlns:r="http://schemas.openxmlformats.org/officeDocument/2006/relationships" id="267" r:id="R2d89ab7383a94734"/>
    <p:sldId xmlns:r="http://schemas.openxmlformats.org/officeDocument/2006/relationships" id="268" r:id="R2469541e59064d6b"/>
    <p:sldId xmlns:r="http://schemas.openxmlformats.org/officeDocument/2006/relationships" id="269" r:id="R28fd0666d2984e5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c0c1457d8f4083" /><Relationship Type="http://schemas.openxmlformats.org/officeDocument/2006/relationships/slideMaster" Target="/ppt/slideMasters/slideMaster1.xml" Id="R2da7a2db55b143de" /><Relationship Type="http://schemas.openxmlformats.org/officeDocument/2006/relationships/notesMaster" Target="/ppt/notesMasters/notesMaster1.xml" Id="R84e673bc6d604843" /><Relationship Type="http://schemas.openxmlformats.org/officeDocument/2006/relationships/presProps" Target="/ppt/presProps.xml" Id="R0ac4bda9fcd246da" /><Relationship Type="http://schemas.openxmlformats.org/officeDocument/2006/relationships/tableStyles" Target="/ppt/tableStyles.xml" Id="Rdc3d0dc093da4320" /><Relationship Type="http://schemas.openxmlformats.org/officeDocument/2006/relationships/slide" Target="/ppt/slides/slide1.xml" Id="R048911cf2b59493d" /><Relationship Type="http://schemas.openxmlformats.org/officeDocument/2006/relationships/slide" Target="/ppt/slides/slide2.xml" Id="Rc606b667d7914901" /><Relationship Type="http://schemas.openxmlformats.org/officeDocument/2006/relationships/slide" Target="/ppt/slides/slide3.xml" Id="R4f3fdf41a50e4bce" /><Relationship Type="http://schemas.openxmlformats.org/officeDocument/2006/relationships/slide" Target="/ppt/slides/slide4.xml" Id="R9a4d35e4eb104f43" /><Relationship Type="http://schemas.openxmlformats.org/officeDocument/2006/relationships/slide" Target="/ppt/slides/slide5.xml" Id="Rf1b0311d6b914c10" /><Relationship Type="http://schemas.openxmlformats.org/officeDocument/2006/relationships/slide" Target="/ppt/slides/slide6.xml" Id="R953c4aa9ba87431d" /><Relationship Type="http://schemas.openxmlformats.org/officeDocument/2006/relationships/slide" Target="/ppt/slides/slide7.xml" Id="Rb5241f2d9200425c" /><Relationship Type="http://schemas.openxmlformats.org/officeDocument/2006/relationships/slide" Target="/ppt/slides/slide8.xml" Id="R7b413ae7e08444a8" /><Relationship Type="http://schemas.openxmlformats.org/officeDocument/2006/relationships/slide" Target="/ppt/slides/slide9.xml" Id="R7d9ba4a37f8c434a" /><Relationship Type="http://schemas.openxmlformats.org/officeDocument/2006/relationships/slide" Target="/ppt/slides/slide10.xml" Id="R1c732826cfaf43ee" /><Relationship Type="http://schemas.openxmlformats.org/officeDocument/2006/relationships/slide" Target="/ppt/slides/slide11.xml" Id="Re92a64f20c4a4306" /><Relationship Type="http://schemas.openxmlformats.org/officeDocument/2006/relationships/slide" Target="/ppt/slides/slide12.xml" Id="R2d89ab7383a94734" /><Relationship Type="http://schemas.openxmlformats.org/officeDocument/2006/relationships/slide" Target="/ppt/slides/slide13.xml" Id="R2469541e59064d6b" /><Relationship Type="http://schemas.openxmlformats.org/officeDocument/2006/relationships/slide" Target="/ppt/slides/slide14.xml" Id="R28fd0666d2984e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b035f01eb2a47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0aad43a08e4560" /><Relationship Type="http://schemas.openxmlformats.org/officeDocument/2006/relationships/notesMaster" Target="/ppt/notesMasters/notesMaster1.xml" Id="Rdf3d3587c4194f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aa7ccdc79934c49" /><Relationship Type="http://schemas.openxmlformats.org/officeDocument/2006/relationships/notesMaster" Target="/ppt/notesMasters/notesMaster1.xml" Id="R17f9a0de011d41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bac495e17534f6e" /><Relationship Type="http://schemas.openxmlformats.org/officeDocument/2006/relationships/notesMaster" Target="/ppt/notesMasters/notesMaster1.xml" Id="R26414df818034a7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7cf6c4413049f2" /><Relationship Type="http://schemas.openxmlformats.org/officeDocument/2006/relationships/notesMaster" Target="/ppt/notesMasters/notesMaster1.xml" Id="R6142b8f978f9423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8230471022b477a" /><Relationship Type="http://schemas.openxmlformats.org/officeDocument/2006/relationships/notesMaster" Target="/ppt/notesMasters/notesMaster1.xml" Id="Re656ec9b5b3441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e2a4faa5ca4128" /><Relationship Type="http://schemas.openxmlformats.org/officeDocument/2006/relationships/notesMaster" Target="/ppt/notesMasters/notesMaster1.xml" Id="Raaf1b46824f744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8ce0071eda4571" /><Relationship Type="http://schemas.openxmlformats.org/officeDocument/2006/relationships/notesMaster" Target="/ppt/notesMasters/notesMaster1.xml" Id="R0d43d833ebb749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946d6fd6ad94dcc" /><Relationship Type="http://schemas.openxmlformats.org/officeDocument/2006/relationships/notesMaster" Target="/ppt/notesMasters/notesMaster1.xml" Id="Rc19376132bcd47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ebf9e260c3941f7" /><Relationship Type="http://schemas.openxmlformats.org/officeDocument/2006/relationships/notesMaster" Target="/ppt/notesMasters/notesMaster1.xml" Id="Re237fa7f38cb40c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57dc1b351954cca" /><Relationship Type="http://schemas.openxmlformats.org/officeDocument/2006/relationships/notesMaster" Target="/ppt/notesMasters/notesMaster1.xml" Id="Rfd24d96d2aa54c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dcf49b096d440b7" /><Relationship Type="http://schemas.openxmlformats.org/officeDocument/2006/relationships/notesMaster" Target="/ppt/notesMasters/notesMaster1.xml" Id="Ra05c2ac5f07e46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549f3ce92ab417f" /><Relationship Type="http://schemas.openxmlformats.org/officeDocument/2006/relationships/notesMaster" Target="/ppt/notesMasters/notesMaster1.xml" Id="Rcc087c5a79a246c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0a309f0c8734d7d" /><Relationship Type="http://schemas.openxmlformats.org/officeDocument/2006/relationships/notesMaster" Target="/ppt/notesMasters/notesMaster1.xml" Id="R76af117726444d7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4f1aced17a84445" /><Relationship Type="http://schemas.openxmlformats.org/officeDocument/2006/relationships/notesMaster" Target="/ppt/notesMasters/notesMaster1.xml" Id="Rcb480dfeeeeb4f2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https://learn.microsoft.com/azure/ai-services/speech-service/language-support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Internal project proposal and instructor-supplied UCS503 planning template.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keep the explanation grounded in the semester MVP and the team's stated constraints.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https://www.incometax.gov.in/</a:t>
            </a:r>
          </a:p>
          <a:p xmlns:a="http://schemas.openxmlformats.org/drawingml/2006/main">
            <a:r>
              <a:t>https://www.gst.gov.in/</a:t>
            </a:r>
          </a:p>
          <a:p xmlns:a="http://schemas.openxmlformats.org/drawingml/2006/main">
            <a:r>
              <a:t>https://www.myscheme.gov.in/</a:t>
            </a:r>
          </a:p>
          <a:p xmlns:a="http://schemas.openxmlformats.org/drawingml/2006/main">
            <a:r>
              <a:t>https://learn.microsoft.com/azure/ai-services/speech-service/language-support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5201fc8ff14e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2bbccd852c4b2a" /><Relationship Type="http://schemas.openxmlformats.org/officeDocument/2006/relationships/slideLayout" Target="/ppt/slideLayouts/slideLayout1.xml" Id="Rb26d621cf21d4b2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26d621cf21d4b2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3aa7d303e444a" /><Relationship Type="http://schemas.openxmlformats.org/officeDocument/2006/relationships/notesSlide" Target="/ppt/notesSlides/notesSlide1.xml" Id="Rbdd4bf65e41045a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5b8d20d0b846e8" /><Relationship Type="http://schemas.openxmlformats.org/officeDocument/2006/relationships/notesSlide" Target="/ppt/notesSlides/notesSlide2.xml" Id="Rf3987f36ce0442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203feba5b44c7" /><Relationship Type="http://schemas.openxmlformats.org/officeDocument/2006/relationships/notesSlide" Target="/ppt/notesSlides/notesSlide3.xml" Id="R5247d0c49deb4e4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90cfb18d7445c" /><Relationship Type="http://schemas.openxmlformats.org/officeDocument/2006/relationships/notesSlide" Target="/ppt/notesSlides/notesSlide4.xml" Id="R43fdb9c411d54e1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813108a984ad5" /><Relationship Type="http://schemas.openxmlformats.org/officeDocument/2006/relationships/notesSlide" Target="/ppt/notesSlides/notesSlide5.xml" Id="R4817220960044b0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821b4493e42a5" /><Relationship Type="http://schemas.openxmlformats.org/officeDocument/2006/relationships/notesSlide" Target="/ppt/notesSlides/notesSlide6.xml" Id="Rc0cb5235f53f489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2d537bfda4728" /><Relationship Type="http://schemas.openxmlformats.org/officeDocument/2006/relationships/notesSlide" Target="/ppt/notesSlides/notesSlide7.xml" Id="Rb62f6d32c6c9409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5df78930b144ee" /><Relationship Type="http://schemas.openxmlformats.org/officeDocument/2006/relationships/notesSlide" Target="/ppt/notesSlides/notesSlide8.xml" Id="R8655802462184bc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75631c5e884ad6" /><Relationship Type="http://schemas.openxmlformats.org/officeDocument/2006/relationships/notesSlide" Target="/ppt/notesSlides/notesSlide9.xml" Id="Ra0bd83c7c068422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2256be3fd64378" /><Relationship Type="http://schemas.openxmlformats.org/officeDocument/2006/relationships/notesSlide" Target="/ppt/notesSlides/notesSlide10.xml" Id="R449abaf9a862415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23aefec2f43a0" /><Relationship Type="http://schemas.openxmlformats.org/officeDocument/2006/relationships/notesSlide" Target="/ppt/notesSlides/notesSlide11.xml" Id="Rf0304ba296f24c4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8995f5bcd4afb" /><Relationship Type="http://schemas.openxmlformats.org/officeDocument/2006/relationships/notesSlide" Target="/ppt/notesSlides/notesSlide12.xml" Id="Rde9ee1d089bd44f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cd6b3c3ac4dd4" /><Relationship Type="http://schemas.openxmlformats.org/officeDocument/2006/relationships/notesSlide" Target="/ppt/notesSlides/notesSlide13.xml" Id="Rab385621cbad472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09335b5464ce2" /><Relationship Type="http://schemas.openxmlformats.org/officeDocument/2006/relationships/notesSlide" Target="/ppt/notesSlides/notesSlide14.xml" Id="Rdb4563ad255445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254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4B39C5-CD5F-42AC-9D54-28302C07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47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C2F185-B9E3-42A7-B5FB-71D0CD3EE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9D6DF3-B8F3-4DD6-AF97-5B9823A11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0"/>
            <a:ext cx="40957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B6FC6-036C-422D-87B6-7D3751DB9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609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9BCBC7"/>
                </a:solidFill>
              </a:defRPr>
            </a:pPr>
            <a:r>
              <a:rPr sz="1200" b="1" i="0">
                <a:solidFill>
                  <a:srgbClr val="9BCBC7"/>
                </a:solidFill>
              </a:rPr>
              <a:t>UCS503  ·  PLANNING PRESENTATION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A98D6D-8392-4CEA-8425-97B5C236F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6762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350" b="1" i="0">
                <a:solidFill>
                  <a:srgbClr val="FFFFFF"/>
                </a:solidFill>
              </a:defRPr>
            </a:pPr>
            <a:r>
              <a:rPr sz="4350" b="1" i="0">
                <a:solidFill>
                  <a:srgbClr val="FFFFFF"/>
                </a:solidFill>
              </a:rPr>
              <a:t>GovAssist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A574F8-E773-4123-8F91-B4872A0D9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28875"/>
            <a:ext cx="6477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 i="0">
                <a:solidFill>
                  <a:srgbClr val="E4EAF4"/>
                </a:solidFill>
              </a:defRPr>
            </a:pPr>
            <a:r>
              <a:rPr sz="1950" b="0" i="0">
                <a:solidFill>
                  <a:srgbClr val="E4EAF4"/>
                </a:solidFill>
              </a:rPr>
              <a:t>Grounded, multilingual guidance for tax, GST and government schemes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871EF-3498-442A-8E2F-969F712AD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1428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3B204F-C056-4B46-A7D0-71FE52E5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00500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Ronit  ·  Bhavneet  ·  Shreyas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83375B-3E92-4E0C-8CBB-C580981F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1">
                <a:solidFill>
                  <a:srgbClr val="BFC9DC"/>
                </a:solidFill>
              </a:defRPr>
            </a:pPr>
            <a:r>
              <a:rPr sz="1125" b="0" i="1">
                <a:solidFill>
                  <a:srgbClr val="BFC9DC"/>
                </a:solidFill>
              </a:rPr>
              <a:t>Software Engineering Course Project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6A25E7-E910-4E15-9C14-3B9836D5D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8572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FFFFF"/>
                </a:solidFill>
              </a:defRPr>
            </a:pPr>
            <a:r>
              <a:rPr sz="2100" b="1" i="0">
                <a:solidFill>
                  <a:srgbClr val="FFFFFF"/>
                </a:solidFill>
              </a:rPr>
              <a:t>सरल जानकारी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EB91D6C-3F6C-4083-BF10-327B6501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4573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ਸਪਸ਼ਟ ਮਾਰਗਦਰਸ਼ਨ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336C32-1109-44B6-B735-3EB06E253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05125"/>
            <a:ext cx="1428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6600" b="1" i="0">
                <a:solidFill>
                  <a:srgbClr val="FFFFFF"/>
                </a:solidFill>
              </a:defRPr>
            </a:pPr>
            <a:r>
              <a:rPr sz="6600" b="1" i="0">
                <a:solidFill>
                  <a:srgbClr val="FFFFFF"/>
                </a:solidFill>
              </a:rPr>
              <a:t>▤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7F4A8A-3CC4-4CCE-B59A-AFA100FD6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61962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CDE6E3"/>
                </a:solidFill>
              </a:defRPr>
            </a:pPr>
            <a:r>
              <a:rPr sz="1200" b="1" i="0">
                <a:solidFill>
                  <a:srgbClr val="CDE6E3"/>
                </a:solidFill>
              </a:rPr>
              <a:t>CITED ANSWERS</a:t>
            </a:r>
          </a:p>
          <a:p xmlns:a="http://schemas.openxmlformats.org/drawingml/2006/main">
            <a:pPr algn="ctr">
              <a:defRPr sz="1200" b="1" i="0">
                <a:solidFill>
                  <a:srgbClr val="CDE6E3"/>
                </a:solidFill>
              </a:defRPr>
            </a:pPr>
            <a:r>
              <a:rPr sz="1200" b="1" i="0">
                <a:solidFill>
                  <a:srgbClr val="CDE6E3"/>
                </a:solidFill>
              </a:rPr>
              <a:t>VOICE ACCESS</a:t>
            </a:r>
          </a:p>
          <a:p xmlns:a="http://schemas.openxmlformats.org/drawingml/2006/main">
            <a:pPr algn="ctr">
              <a:defRPr sz="1200" b="1" i="0">
                <a:solidFill>
                  <a:srgbClr val="CDE6E3"/>
                </a:solidFill>
              </a:defRPr>
            </a:pPr>
            <a:r>
              <a:rPr sz="1200" b="1" i="0">
                <a:solidFill>
                  <a:srgbClr val="CDE6E3"/>
                </a:solidFill>
              </a:rPr>
              <a:t>PRIVACY FIRST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C5D85D-7DC8-4CFA-9BC6-2919DF85C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825" b="0" i="0">
                <a:solidFill>
                  <a:srgbClr val="BFC9DC"/>
                </a:solidFill>
              </a:defRPr>
            </a:pPr>
            <a:r>
              <a:rPr sz="825" b="0" i="0">
                <a:solidFill>
                  <a:srgbClr val="BFC9DC"/>
                </a:solidFill>
              </a:rPr>
              <a:t>12 August 2026</a:t>
            </a:r>
          </a:p>
        </p:txBody>
      </p:sp>
    </p:spTree>
    <p:extLst>
      <p:ext uri="{BB962C8B-B14F-4D97-AF65-F5344CB8AC3E}">
        <p14:creationId xmlns:p14="http://schemas.microsoft.com/office/powerpoint/2010/main" val="78884973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75B0FF4-8DA0-4C3B-AE7E-72B3FE09A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F26538-525A-4282-B584-7F7B4507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4EF8E7-D8E7-42E9-B36C-EB945569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TABLE OF CONTENTS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54F6E6-571D-4757-9528-A2D2BC32D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Planning presentation sections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8A6CD5-5793-4C9D-9F92-DCE85F158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F50B1-0D92-4DA8-9C72-7008B67A5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DF8454-8E77-42EF-811E-ADA628D3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9E61B0-2653-4EDF-BC98-350254BAD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71DFF-1F21-4301-B8DE-FC04CAA8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504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Introduction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58C03B-2802-4110-B981-670A698E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812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0E19D1-E48A-4D6D-903D-C1BCD192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71F15-A53D-4169-9DEA-2D19715A7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247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Project 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0C651-677B-4877-A96E-F3E8332B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241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DA5D54-AE65-46BB-834E-BB60200B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F24AAE-BAED-4464-94A1-8DF1ED640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908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Proposed Functions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2A18E3-FA14-424F-99A7-DA46BFEB3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671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460779-58AC-427D-A817-87060AB3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FEF0E3-AEFC-413F-94C8-91318A936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Target Users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3736B7-E784-4693-99D5-11A50CEDF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2100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9DAA46-C90B-4080-8F3A-8080450D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05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F892D9B-2EA3-4D16-AF87-ABDD0970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76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System Features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263929-1818-45B5-84F6-F95E1292B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9530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C95CF88-93DE-47C6-AB58-4B28D0B5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38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5A623"/>
                </a:solidFill>
              </a:defRPr>
            </a:pPr>
            <a:r>
              <a:rPr sz="1275" b="1" i="0">
                <a:solidFill>
                  <a:srgbClr val="D5A623"/>
                </a:solidFill>
              </a:rPr>
              <a:t>06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7FCB5B-3CCD-40D4-A619-EAB817924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219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Interfaces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6496C1-9555-438E-8CD2-FB04E83B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6959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C380E9-6D86-4B73-AFCA-CB5D608B5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07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0F216A-4BE4-49DD-8266-898BA389D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5049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Performance Goals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E99714-845C-4146-B54F-CF18FC768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19812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AA1098-C085-4838-B49C-22E0C7ECB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669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08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566E874-BF84-4765-9DBA-A5D642D7D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247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Security Measures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6237F6-409F-4011-9EAB-1DEC2D20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7241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63DB76-1DBC-403B-BB5D-AF3F9D662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99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09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5C4C16-B1CB-47FC-B578-CD89D7B6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908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Quality Attributes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85C8178-40C2-4548-96D5-51F0B55AD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671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B06AD2-1142-40CF-B6F0-4191248EC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52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10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4CA613D-4957-4F7D-93D2-9783AF78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338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Initial Planning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2C9660E-2739-419F-8812-F533B56D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100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D7E4BC-9509-4AFE-B35A-2827F4E6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958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11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5D7A9F9-C879-4840-9BB2-8E6DC766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Conclusion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B10C414-317B-4E35-9A4F-1FCD50B54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95300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1027E8A-B5F5-4062-9CF1-DDF6652CF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2387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5A623"/>
                </a:solidFill>
              </a:defRPr>
            </a:pPr>
            <a:r>
              <a:rPr sz="1275" b="1" i="0">
                <a:solidFill>
                  <a:srgbClr val="D5A623"/>
                </a:solidFill>
              </a:rPr>
              <a:t>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944836-1090-4C01-997B-EBC64C2DD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219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References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63A2187-B978-475A-92FE-51BC7369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95950"/>
            <a:ext cx="409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562284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71FF49-C792-425A-984E-459A0CE26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23CF8-035E-4D56-9092-6BEE64F7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A9547A-77D5-4C55-B009-AAFF2FB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Introduction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E8841F-AE66-4D41-9C56-61C7C9C0C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Problem, relevance and presentation objective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D5AC8C-D465-4EB7-941E-57F24BBDF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965471-0796-4696-B4FC-F789431E1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B578B3-D505-4F6E-9288-D8BBCF24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E7DC04-BCB0-4244-A776-3DFE3FFA1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6254B"/>
                </a:solidFill>
              </a:defRPr>
            </a:pPr>
            <a:r>
              <a:rPr sz="2025" b="1" i="0">
                <a:solidFill>
                  <a:srgbClr val="16254B"/>
                </a:solidFill>
              </a:rPr>
              <a:t>Citizens and small businesses often have to combine rules from several portals, forms and difficult PDFs before they can act.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5A364A-5AF3-44B1-BEC9-DD8041DB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685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68BB54-F4A6-4645-AED2-56E50C6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WHY IT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6536D4-16D6-479B-A00F-33A88BE54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6858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Choosing the wrong ITR form or GST return creates avoidable confusion and rework.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Scheme eligibility is often missed because exclusions and evidence requirements are hard to locate.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 Users need the exact source clause, not a confident answer without evidence.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39FD78-E332-48FD-8E30-2D7E632BD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24000"/>
            <a:ext cx="3238500" cy="390525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162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EE5677-A9EE-4422-AEF9-12352E6A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1952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A623"/>
                </a:solidFill>
              </a:defRPr>
            </a:pPr>
            <a:r>
              <a:rPr sz="975" b="1" i="0">
                <a:solidFill>
                  <a:srgbClr val="D5A623"/>
                </a:solidFill>
              </a:rPr>
              <a:t>PLANNING OBJECTIVE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AFE295-9705-43ED-A758-4B5428AEA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381250"/>
            <a:ext cx="257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Present a semester-scale system that identifies the case, retrieves the applicable rule, checks the answer and explains it in the user’s chosen language.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7E99A9-B20A-4A60-8025-2CFF29722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85775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A8D6D2"/>
                </a:solidFill>
              </a:defRPr>
            </a:pPr>
            <a:r>
              <a:rPr sz="1200" b="1" i="0">
                <a:solidFill>
                  <a:srgbClr val="A8D6D2"/>
                </a:solidFill>
              </a:rPr>
              <a:t>Guide. Cite. Check. Escalate.</a:t>
            </a:r>
          </a:p>
        </p:txBody>
      </p:sp>
    </p:spTree>
    <p:extLst>
      <p:ext uri="{BB962C8B-B14F-4D97-AF65-F5344CB8AC3E}">
        <p14:creationId xmlns:p14="http://schemas.microsoft.com/office/powerpoint/2010/main" val="7446755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921FF5-BE54-49E5-95B8-C7A5D6E7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66755-5B78-4D90-BADA-FF6F88086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55B0F-5921-4C23-9BE7-A1583ABA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Project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7CE758-E288-4D51-BF7E-7ED476DE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Aims, deliverables and exclusions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113D0-37C5-44EA-9C84-B1580510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35CB4-43A3-48EE-A9AB-F32163942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D70E0-F994-4A78-A98B-992B2701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7F80A-C134-4CB7-AAAE-B3F7117D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ITR 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402995-391A-4D31-9714-6E663F2B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Recommend the applicable individual ITR form and explain the decisive conditions.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491FEF-2387-46FC-9A14-8504CFFB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DE33BD-45C8-4C0C-8779-6A2768CF8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619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GST COMPLIANCE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A4E55D-582C-4679-A601-E057AAF4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478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Identify the likely return type and due-period guidance for defined small-business cases.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280454-54E6-481A-A2A7-C2C230A6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571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0B5039-A28E-4ACF-A0C3-1383A31D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192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A623"/>
                </a:solidFill>
              </a:defRPr>
            </a:pPr>
            <a:r>
              <a:rPr sz="975" b="1" i="0">
                <a:solidFill>
                  <a:srgbClr val="D5A623"/>
                </a:solidFill>
              </a:rPr>
              <a:t>SCHEME ELIGIBILITY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268C0E-8CF9-47C4-B9D0-1720F48DD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304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Evaluate a curated set of major schemes using explicit inclusion and exclusion rules.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0BA69E-DD0E-489D-8D56-801409FC0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71875"/>
            <a:ext cx="304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302586-0363-41B7-BCDB-07C3A87D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DELIVERABLES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9E8C18-7166-4842-BEC3-26B1443F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647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Responsive web application with document upload, typed and spoken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Clause-grounded answer, confidence state and official-source link.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English, Hindi and Punjabi interface, speech input and cloud TTS output.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3D4D67-8C8C-4A67-832D-438CB44C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000500"/>
            <a:ext cx="257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B44747"/>
                </a:solidFill>
              </a:defRPr>
            </a:pPr>
            <a:r>
              <a:rPr sz="975" b="1" i="0">
                <a:solidFill>
                  <a:srgbClr val="B44747"/>
                </a:solidFill>
              </a:rPr>
              <a:t>EXPLICITLY OUTSIDE THE MVP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108F55-B07A-42E7-BB8C-ACA34BBB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362450"/>
            <a:ext cx="3429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No automatic tax or GST filing.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No permanent storage of user documents.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No handwriting guarantee or professional-advice claim.</a:t>
            </a:r>
          </a:p>
        </p:txBody>
      </p:sp>
    </p:spTree>
    <p:extLst>
      <p:ext uri="{BB962C8B-B14F-4D97-AF65-F5344CB8AC3E}">
        <p14:creationId xmlns:p14="http://schemas.microsoft.com/office/powerpoint/2010/main" val="130732026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78C58B-D9FA-4030-B107-6DFB9D444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6A583D-4A4F-405A-BF9C-6DA72C8A5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CE9EAD-544F-44E6-9697-CDAB16407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Proposed Functions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78FC8-2875-42FB-8D62-6E0AF75C4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Three service paths built on one evidence pipeline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C7242C-80ED-4E90-9162-ABA0B3982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12A7C2-06ED-445B-A14A-ED962D33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9AE661-5DC1-46B3-8CF9-7DF36F09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AE134F-D51B-4EE1-A1EE-7A458894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ITR FORM GUIDANCE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31A75-85E7-4A56-857E-0FA7A3D4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52400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Collect income and status facts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B69217-B9EF-4767-8766-A8CC385BE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57162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A"/>
                </a:solidFill>
              </a:defRPr>
            </a:pPr>
            <a:r>
              <a:rPr sz="1350" b="0" i="0">
                <a:solidFill>
                  <a:srgbClr val="5E687A"/>
                </a:solidFill>
              </a:rPr>
              <a:t>Recommend the likely form, show the deciding conditions and cite the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39C5D4-BCBA-4AAC-81D2-3FE7E406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2BF272-AF25-4163-87D6-0C72A5FA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GST RETURN GUIDANCE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324C22-8752-4988-897B-1B97EFDCC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905125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Collect registration and business facts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8B2A41-7586-431A-BE38-D7627692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A"/>
                </a:solidFill>
              </a:defRPr>
            </a:pPr>
            <a:r>
              <a:rPr sz="1350" b="0" i="0">
                <a:solidFill>
                  <a:srgbClr val="5E687A"/>
                </a:solidFill>
              </a:rPr>
              <a:t>Identify the likely return and due period, then link to the official source.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66B082-525F-439C-9B49-C26C10487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52875"/>
            <a:ext cx="106489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9D5F83-86C4-470A-83F5-B17C5E8D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3387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5A623"/>
                </a:solidFill>
              </a:defRPr>
            </a:pPr>
            <a:r>
              <a:rPr sz="1125" b="1" i="0">
                <a:solidFill>
                  <a:srgbClr val="D5A623"/>
                </a:solidFill>
              </a:rPr>
              <a:t>SCHEME ELIGIBILITY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0E69D6-102F-4F23-AFEF-A7DEAD648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286250"/>
            <a:ext cx="342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Collect household and eligibility facts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4D3E33-7B90-4220-B125-A0408626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333875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A"/>
                </a:solidFill>
              </a:defRPr>
            </a:pPr>
            <a:r>
              <a:rPr sz="1350" b="0" i="0">
                <a:solidFill>
                  <a:srgbClr val="5E687A"/>
                </a:solidFill>
              </a:rPr>
              <a:t>Match major schemes, explain exclusions and list missing evidence.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53A5E2-3D57-4C5D-89A9-14AD3AFA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6489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AFBCFA-85D8-4961-BF1A-0C355CD92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02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Common pipeline: clarify the case, retrieve the current rule, verify the conclusion, translate it and return the cited answer.</a:t>
            </a:r>
          </a:p>
        </p:txBody>
      </p:sp>
    </p:spTree>
    <p:extLst>
      <p:ext uri="{BB962C8B-B14F-4D97-AF65-F5344CB8AC3E}">
        <p14:creationId xmlns:p14="http://schemas.microsoft.com/office/powerpoint/2010/main" val="87172189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65D1C3-D71A-41DA-8992-772014657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25B27-00BD-4B1D-90EC-06897B9A0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2C982F-D38A-4528-BC53-B91E3A8EE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Target Users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31AF3F-9668-4743-8A64-C2E2414A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Who the MVP serves and what each group needs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85C44E-00CB-4B53-A280-9A9ADB6C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6B7FE7-EAD5-4086-9CD7-A020903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415977-1701-44DD-82FF-4F029147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43971-0886-4B62-ABAC-8A09900D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A623"/>
                </a:solidFill>
              </a:defRPr>
            </a:pPr>
            <a:r>
              <a:rPr sz="1350" b="1" i="0">
                <a:solidFill>
                  <a:srgbClr val="D5A623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F88D86-A7A6-42A0-B5C3-B312286B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24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SALARIED INDIVIDUALS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6C871D-C566-4E6F-B929-AFF80BB8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24050"/>
            <a:ext cx="423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May have salary, interest, capital gains or freelance income and need help selecting an ITR form.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C2356-924E-47E4-8E30-9C88205DD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89C7A0-888C-47DD-935D-691208BAC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2400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A623"/>
                </a:solidFill>
              </a:defRPr>
            </a:pPr>
            <a:r>
              <a:rPr sz="1350" b="1" i="0">
                <a:solidFill>
                  <a:srgbClr val="D5A623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25BD5-249E-400D-ACF7-9FBA877A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5240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SMALL BUSINESSES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50307C-3988-4BCB-A4BB-C4FDC9A3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24050"/>
            <a:ext cx="423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Need a simple way to relate registration, turnover and filing frequency to the likely GST return.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40D48B-B033-4028-B12E-F80C4D617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714625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BFF3C52-AC64-4E3F-BCDF-AE8518C2F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A623"/>
                </a:solidFill>
              </a:defRPr>
            </a:pPr>
            <a:r>
              <a:rPr sz="1350" b="1" i="0">
                <a:solidFill>
                  <a:srgbClr val="D5A623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61FF1D-9B03-4A72-AAAF-558F097E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SCHEME SEEKERS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FA3095-67FE-4C82-BDB5-EF53E7FB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00425"/>
            <a:ext cx="423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Individuals or families comparing major schemes who need exclusions and document requirements explained.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C7BBB3-B737-4FAF-ADFA-65E6D56F0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83AFD1-4E8A-418E-B5EA-7C7476BE8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00375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A623"/>
                </a:solidFill>
              </a:defRPr>
            </a:pPr>
            <a:r>
              <a:rPr sz="1350" b="1" i="0">
                <a:solidFill>
                  <a:srgbClr val="D5A623"/>
                </a:solidFill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EC3E6E-103D-4DE6-B093-700B7219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LOW-DIGITAL-COMFORT USERS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A83C724-ED60-41E6-9993-F90CD0CBD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400425"/>
            <a:ext cx="423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Benefit from short questions, large controls, spoken input and an answer they can listen to again.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9B3BA4-6B74-4C6F-9BBB-A0F0C5E3A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191000"/>
            <a:ext cx="4762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E2B89-5DAC-45CF-A466-5DB0B2732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A623"/>
                </a:solidFill>
              </a:defRPr>
            </a:pPr>
            <a:r>
              <a:rPr sz="1350" b="1" i="0">
                <a:solidFill>
                  <a:srgbClr val="D5A623"/>
                </a:solidFill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12C390D-04B4-415D-95EC-5B2A69048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76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REGIONAL-LANGUAGE USERS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49B62D7-2987-4DCD-AB65-01C5C741B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876800"/>
            <a:ext cx="423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Need the interface, speech input and TTS output in English, Hindi or Punjabi.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CF3225-96E6-4F27-9671-3DC10D954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76750"/>
            <a:ext cx="428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A623"/>
                </a:solidFill>
              </a:defRPr>
            </a:pPr>
            <a:r>
              <a:rPr sz="1350" b="1" i="0">
                <a:solidFill>
                  <a:srgbClr val="D5A623"/>
                </a:solidFill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F6C958-B3E0-46FC-91FE-03B604D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767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CAREGIVERS OR HELPERS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6F5695-28CD-4DBF-8D97-5AD489C1F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76800"/>
            <a:ext cx="4238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May assist another person and need a clear summary that can be checked against the official portal.</a:t>
            </a:r>
          </a:p>
        </p:txBody>
      </p:sp>
    </p:spTree>
    <p:extLst>
      <p:ext uri="{BB962C8B-B14F-4D97-AF65-F5344CB8AC3E}">
        <p14:creationId xmlns:p14="http://schemas.microsoft.com/office/powerpoint/2010/main" val="5204645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73A64A5-A612-40B3-B5A2-51BA5A6B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FF2FB8-D976-46A7-9A5A-D65B975C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DD6EAE-5C03-41E1-9B98-4CD0E6C9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System Features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689D1E-403E-403C-9EFA-2883CFDFE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Core behaviours included in the planning version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7619B-C68C-492F-BBB9-E17B9E43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F3B321-9BF9-4AFC-A608-4C47F7EC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AD028F-58FC-4C15-8E65-FA840C55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C9A023-FEBB-4D70-871D-42773BE3C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INPUT AND ACCESS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6C3605-BCC0-40DC-941F-2B594782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09575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1  Typed or spoken questions</a:t>
            </a:r>
          </a:p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2  PDF, JPG and PNG document intake</a:t>
            </a:r>
          </a:p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3  English, Hindi and Punjabi interface</a:t>
            </a:r>
          </a:p>
          <a:p xmlns:a="http://schemas.openxmlformats.org/drawingml/2006/main">
            <a:pPr algn="l">
              <a:defRPr sz="1575" b="1" i="0">
                <a:solidFill>
                  <a:srgbClr val="16254B"/>
                </a:solidFill>
              </a:defRPr>
            </a:pPr>
            <a:r>
              <a:rPr sz="1575" b="1" i="0">
                <a:solidFill>
                  <a:srgbClr val="16254B"/>
                </a:solidFill>
              </a:rPr>
              <a:t>4  Cloud TTS with transcript and replay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413F9D-B169-4AA6-8D9A-20B57DE6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524000"/>
            <a:ext cx="190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F35083-0DF7-4737-99B8-3C35F81E7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5716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GROUNDING AND SAFETY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45CB27-C8B9-404B-928B-A7548FF7C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002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Domain routing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2ADDE4-AD98-45D9-A65C-40D79E524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002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Direct the case to ITR, GST or scheme logic.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83F25F-CFBF-4B4D-801C-C75ED2DD0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73367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Rule retrieval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6A47EB-A096-4DCE-BA37-C9A4689E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73367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Find the applicable, versioned clause.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92AE39-769B-40B3-9DD2-15D45B669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67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Clarification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B371E5-079E-4046-876E-5805C18B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46710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Ask for facts that are required but missing.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DDA774-0BFB-45B7-8972-68349D040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200525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D5A623"/>
                </a:solidFill>
              </a:defRPr>
            </a:pPr>
            <a:r>
              <a:rPr sz="1275" b="1" i="0">
                <a:solidFill>
                  <a:srgbClr val="D5A623"/>
                </a:solidFill>
              </a:rPr>
              <a:t>Verification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5DBEE8-BE31-4775-AE88-3DC7161C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00525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Block conclusions that the retrieved rule does not support.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E8A0C4-9389-4DBC-A57D-B067727E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49339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2C7A78"/>
                </a:solidFill>
              </a:defRPr>
            </a:pPr>
            <a:r>
              <a:rPr sz="1275" b="1" i="0">
                <a:solidFill>
                  <a:srgbClr val="2C7A78"/>
                </a:solidFill>
              </a:rPr>
              <a:t>Citations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E356C1-C9DE-4DF3-99B7-7D27AE406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9339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E687A"/>
                </a:solidFill>
              </a:defRPr>
            </a:pPr>
            <a:r>
              <a:rPr sz="1275" b="0" i="0">
                <a:solidFill>
                  <a:srgbClr val="5E687A"/>
                </a:solidFill>
              </a:rPr>
              <a:t>Show the source, clause and official link with the answer.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0F9ED2-7981-458E-8B2A-9EE0E600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810250"/>
            <a:ext cx="5619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C4A418-A493-45EC-88AF-92636CAE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523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If evidence is incomplete, the system asks another question or directs the user to the official portal.</a:t>
            </a:r>
          </a:p>
        </p:txBody>
      </p:sp>
    </p:spTree>
    <p:extLst>
      <p:ext uri="{BB962C8B-B14F-4D97-AF65-F5344CB8AC3E}">
        <p14:creationId xmlns:p14="http://schemas.microsoft.com/office/powerpoint/2010/main" val="1980396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DF3017-FB67-4A9F-B153-BDCD4D07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15660F-7BB6-4BE5-8474-7E1B6F4A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5AE08F-862B-4F50-A8DA-EC644C09C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Interfaces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E68255-E0DB-47A4-B2D6-C3CE05C3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User, software and deployment interfaces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52E0F-DAE2-4ED7-A82B-C3BD82EC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C4D721-B48C-4FFB-9414-68862DE24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F8B56-BA67-42F1-A563-50123820E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17421B-7DFD-4B3A-9CFB-BC868E0DA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D5A623"/>
                </a:solidFill>
              </a:defRPr>
            </a:pPr>
            <a:r>
              <a:rPr sz="2550" b="1" i="0">
                <a:solidFill>
                  <a:srgbClr val="D5A623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7FC24-256D-4C50-801F-617602AF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143125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D5A623"/>
                </a:solidFill>
              </a:defRPr>
            </a:pPr>
            <a:r>
              <a:rPr sz="2550" b="1" i="0">
                <a:solidFill>
                  <a:srgbClr val="D5A623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63EAAE-ECD6-43F4-A8E5-50313B7F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143125"/>
            <a:ext cx="523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D5A623"/>
                </a:solidFill>
              </a:defRPr>
            </a:pPr>
            <a:r>
              <a:rPr sz="2550" b="1" i="0">
                <a:solidFill>
                  <a:srgbClr val="D5A623"/>
                </a:solidFill>
              </a:rPr>
              <a:t>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A66E82-EBDD-48B0-86A1-C96A3FE95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8DFFAC-833A-4459-AF34-09EEEED5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254B"/>
                </a:solidFill>
              </a:defRPr>
            </a:pPr>
            <a:r>
              <a:rPr sz="1275" b="1" i="0">
                <a:solidFill>
                  <a:srgbClr val="16254B"/>
                </a:solidFill>
              </a:rPr>
              <a:t>PHONE WEB 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1F57C-7ACC-4E3C-8099-D33ED0F7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8127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E687A"/>
                </a:solidFill>
              </a:defRPr>
            </a:pPr>
            <a:r>
              <a:rPr sz="1050" b="0" i="0">
                <a:solidFill>
                  <a:srgbClr val="5E687A"/>
                </a:solidFill>
              </a:rPr>
              <a:t>Language · voice · upload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7034A-9C69-4E7E-B82C-08422EED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00250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961A6-75DE-4B51-AAA1-68BA484B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219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254B"/>
                </a:solidFill>
              </a:defRPr>
            </a:pPr>
            <a:r>
              <a:rPr sz="1275" b="1" i="0">
                <a:solidFill>
                  <a:srgbClr val="16254B"/>
                </a:solidFill>
              </a:rPr>
              <a:t>BACKEND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AC3B53-E2EC-4419-A1E0-D912A9346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5812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E687A"/>
                </a:solidFill>
              </a:defRPr>
            </a:pPr>
            <a:r>
              <a:rPr sz="1050" b="0" i="0">
                <a:solidFill>
                  <a:srgbClr val="5E687A"/>
                </a:solidFill>
              </a:rPr>
              <a:t>Auth · validation · orchestration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6EDFE0-70E9-45A5-923C-244D8060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00250"/>
            <a:ext cx="18097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162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A5B7236-90DC-41AD-9251-9F334912E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219325"/>
            <a:ext cx="1504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REASONING 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6E1717-9EEF-4EE3-AA72-933B1D8E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81275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C9D6EC"/>
                </a:solidFill>
              </a:defRPr>
            </a:pPr>
            <a:r>
              <a:rPr sz="1050" b="0" i="0">
                <a:solidFill>
                  <a:srgbClr val="C9D6EC"/>
                </a:solidFill>
              </a:rPr>
              <a:t>Router · 3 specialists · verifier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983016-76F5-4516-9BF6-8F0EEBDC4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000250"/>
            <a:ext cx="2095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E29477-D44B-4A45-9465-2A8DB965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19325"/>
            <a:ext cx="1790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6254B"/>
                </a:solidFill>
              </a:defRPr>
            </a:pPr>
            <a:r>
              <a:rPr sz="1275" b="1" i="0">
                <a:solidFill>
                  <a:srgbClr val="16254B"/>
                </a:solidFill>
              </a:rPr>
              <a:t>RULE STORE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8247FD-8BF8-41A2-89F3-CF72D3809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581275"/>
            <a:ext cx="1790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5E687A"/>
                </a:solidFill>
              </a:defRPr>
            </a:pPr>
            <a:r>
              <a:rPr sz="1050" b="0" i="0">
                <a:solidFill>
                  <a:srgbClr val="5E687A"/>
                </a:solidFill>
              </a:rPr>
              <a:t>Sources · clauses · versions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A615CE5-574B-4136-AC74-345AD5D8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DATA FLOW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9FB2E-4875-422E-9BB8-B6097F5A9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48125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6254B"/>
                </a:solidFill>
              </a:defRPr>
            </a:pPr>
            <a:r>
              <a:rPr sz="1650" b="1" i="0">
                <a:solidFill>
                  <a:srgbClr val="16254B"/>
                </a:solidFill>
              </a:rPr>
              <a:t>Input → temporary extraction → structured facts → domain decision → retrieved clauses → verification → translated explanation → speech output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2EADAAF-9686-469E-9370-CA5486959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AD75AB-6CAD-4047-9374-5CBA42860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EXTERNAL SERVICES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94B011-48EE-498D-9F66-AAD60883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219700"/>
            <a:ext cx="85248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E687A"/>
                </a:solidFill>
              </a:defRPr>
            </a:pPr>
            <a:r>
              <a:rPr sz="1350" b="0" i="0">
                <a:solidFill>
                  <a:srgbClr val="5E687A"/>
                </a:solidFill>
              </a:rPr>
              <a:t>OCR/parser, LLM API, vector retrieval, cloud speech and official government portals. The backend keeps a relational metadata store and private object storage for the rule corpus.</a:t>
            </a:r>
          </a:p>
        </p:txBody>
      </p:sp>
    </p:spTree>
    <p:extLst>
      <p:ext uri="{BB962C8B-B14F-4D97-AF65-F5344CB8AC3E}">
        <p14:creationId xmlns:p14="http://schemas.microsoft.com/office/powerpoint/2010/main" val="13212932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86BB1C-F2C9-4987-8AAA-90D0837E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E49082-D999-4B82-8076-E05ED644A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DBCBEA-E04B-4223-B789-0D993739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Performance Goals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53DA38-B122-4BF3-B2F7-70C061FF3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Proposed targets for the course prototype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916B60-25F7-4461-B77E-628027E8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4419EE-4032-4309-AC4C-3FF5A75B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792332-15FC-462E-849A-C45075ADC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33CE1-8C23-4965-9056-03D2BD1F9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C7A78"/>
                </a:solidFill>
              </a:defRPr>
            </a:pPr>
            <a:r>
              <a:rPr sz="2850" b="1" i="0">
                <a:solidFill>
                  <a:srgbClr val="2C7A78"/>
                </a:solidFill>
              </a:rPr>
              <a:t>&lt; 3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DE3EF-C253-4F01-B43F-7B4A5328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254B"/>
                </a:solidFill>
              </a:defRPr>
            </a:pPr>
            <a:r>
              <a:rPr sz="1050" b="1" i="0">
                <a:solidFill>
                  <a:srgbClr val="16254B"/>
                </a:solidFill>
              </a:rPr>
              <a:t>TEXT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65A079-86FE-4C53-99F2-0E3FA690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Warm request excluding third-party outages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D9564-B5B3-433E-9C41-1870E49A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571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C7A78"/>
                </a:solidFill>
              </a:defRPr>
            </a:pPr>
            <a:r>
              <a:rPr sz="2850" b="1" i="0">
                <a:solidFill>
                  <a:srgbClr val="2C7A78"/>
                </a:solidFill>
              </a:rPr>
              <a:t>&lt; 12 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17FB82-C1F1-4055-B1D7-CD08ADAF7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33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254B"/>
                </a:solidFill>
              </a:defRPr>
            </a:pPr>
            <a:r>
              <a:rPr sz="1050" b="1" i="0">
                <a:solidFill>
                  <a:srgbClr val="16254B"/>
                </a:solidFill>
              </a:rPr>
              <a:t>DOCUMENT CASE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91BA7E-477A-47F2-A368-20D621467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146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OCR, retrieval, verification and explanation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D54749-717F-4088-AF89-E6713D1E2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571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2C7A78"/>
                </a:solidFill>
              </a:defRPr>
            </a:pPr>
            <a:r>
              <a:rPr sz="2850" b="1" i="0">
                <a:solidFill>
                  <a:srgbClr val="2C7A78"/>
                </a:solidFill>
              </a:rPr>
              <a:t>&lt; 2 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0079C-ADEC-4635-9CD5-0C5B625B6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33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254B"/>
                </a:solidFill>
              </a:defRPr>
            </a:pPr>
            <a:r>
              <a:rPr sz="1050" b="1" i="0">
                <a:solidFill>
                  <a:srgbClr val="16254B"/>
                </a:solidFill>
              </a:rPr>
              <a:t>AUDIO START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B3FBF1-7F47-4167-8479-8240D890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7146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First TTS playback after answer is ready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2F059F-4464-4B3F-8956-9A612DC0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571625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D5A623"/>
                </a:solidFill>
              </a:defRPr>
            </a:pPr>
            <a:r>
              <a:rPr sz="2850" b="1" i="0">
                <a:solidFill>
                  <a:srgbClr val="D5A623"/>
                </a:solidFill>
              </a:rPr>
              <a:t>20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3BBFC-82E0-4E44-9267-881AFAC7C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33625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6254B"/>
                </a:solidFill>
              </a:defRPr>
            </a:pPr>
            <a:r>
              <a:rPr sz="1050" b="1" i="0">
                <a:solidFill>
                  <a:srgbClr val="16254B"/>
                </a:solidFill>
              </a:rPr>
              <a:t>CONCURRENT USERS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A052AC-D2A6-45C9-894D-10F62FD75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714625"/>
            <a:ext cx="2095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Course-demo target without degraded correctness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6C895AB-F178-4852-8710-C88897765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81FC93-BE85-4461-8A59-40F1F08C2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HOW WE WILL MEET THEM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C6EDBA-9EB3-4E62-A408-1BEBB87F4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1009650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Pre-index official rule documents; never embed the full corpus per request.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Use asynchronous upload/OCR status and stream or progressively reveal the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Cache only non-personal rule retrieval and synthesized public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 Log latency by stage so OCR, retrieval, LLM and speech bottlenecks are visible.</a:t>
            </a:r>
          </a:p>
        </p:txBody>
      </p:sp>
    </p:spTree>
    <p:extLst>
      <p:ext uri="{BB962C8B-B14F-4D97-AF65-F5344CB8AC3E}">
        <p14:creationId xmlns:p14="http://schemas.microsoft.com/office/powerpoint/2010/main" val="155601208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283CF-2E5C-45B3-876A-BDB739B24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D73878-BE2D-470B-AD87-BA48EF1CF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81DCB-11DE-4399-8313-A4685D404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Security Measures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09431C-5730-472B-AC0D-64161454F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Controls for documents, credentials and rule updates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956F43-C97F-4B0E-AE04-54B5BB88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A4EFE-B20E-44C4-90E5-6D8004AB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DEF120-F9C6-4C17-AC20-6F02239A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78757-F849-42C5-883C-34E57B8A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MINIMISE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7948B-01C4-4C9C-9285-1C7BBBDFB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288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4B"/>
                </a:solidFill>
              </a:defRPr>
            </a:pPr>
            <a:r>
              <a:rPr sz="1500" b="1" i="0">
                <a:solidFill>
                  <a:srgbClr val="16254B"/>
                </a:solidFill>
              </a:rPr>
              <a:t>Collect only fields required for the current question; redact identifiers before model calls where possible.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37F97B-FCDB-4106-A751-3DE282FF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5716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PROTECT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FFA33F-8DE0-40B3-A518-0C6684E1A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28825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4B"/>
                </a:solidFill>
              </a:defRPr>
            </a:pPr>
            <a:r>
              <a:rPr sz="1500" b="1" i="0">
                <a:solidFill>
                  <a:srgbClr val="16254B"/>
                </a:solidFill>
              </a:rPr>
              <a:t>HTTPS in transit, encrypted provider storage, server-side secrets and strict upload type/size checks.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243F84-A342-402D-AE98-4FC77474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A623"/>
                </a:solidFill>
              </a:defRPr>
            </a:pPr>
            <a:r>
              <a:rPr sz="975" b="1" i="0">
                <a:solidFill>
                  <a:srgbClr val="D5A623"/>
                </a:solidFill>
              </a:rPr>
              <a:t>DISCARD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696FC1-F77F-4499-B9CE-8B305CB2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4B"/>
                </a:solidFill>
              </a:defRPr>
            </a:pPr>
            <a:r>
              <a:rPr sz="1500" b="1" i="0">
                <a:solidFill>
                  <a:srgbClr val="16254B"/>
                </a:solidFill>
              </a:rPr>
              <a:t>Delete uploaded files and derived personal text after the request; retain only anonymous operational metrics.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CF4EF-4783-4112-9E02-CA100B39F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5242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CONTROL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CBF1B3-7C4A-4EB1-A344-3BF32CA1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81450"/>
            <a:ext cx="47625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4B"/>
                </a:solidFill>
              </a:defRPr>
            </a:pPr>
            <a:r>
              <a:rPr sz="1500" b="1" i="0">
                <a:solidFill>
                  <a:srgbClr val="16254B"/>
                </a:solidFill>
              </a:rPr>
              <a:t>Separate admin ingestion from public use; least-privilege service credentials and auditable rule updates.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13FBCE-70E6-4AC5-B1FF-4B76C3DF4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67375"/>
            <a:ext cx="10572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62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49F6C7-C2AD-4C13-86AA-C78E79073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819775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The system never files, submits or modifies a government record. It prepares guidance the user must verify and act on.</a:t>
            </a:r>
          </a:p>
        </p:txBody>
      </p:sp>
    </p:spTree>
    <p:extLst>
      <p:ext uri="{BB962C8B-B14F-4D97-AF65-F5344CB8AC3E}">
        <p14:creationId xmlns:p14="http://schemas.microsoft.com/office/powerpoint/2010/main" val="195585966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6BFE79-71BF-4A65-AB84-7213031F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BEA4BA-3D3D-43F3-A66F-4E305630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677B89-D665-4185-B9FD-2EA2B001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Quality Attributes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0A06B8-228C-4D0A-80BD-376855906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Reliability, usability and maintainability targets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19896A-7F06-408D-8556-1D1EA0DB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3EF55-AEAC-4B53-BCAC-BAEF1DBD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646ACB-4AC4-4A2F-980B-36D05874A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5B15F8-BAA5-47C1-999E-CE18ABB24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RELIABILITY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FBCF73-CFD3-4EDA-937C-CCA49BDE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457325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254B"/>
                </a:solidFill>
              </a:defRPr>
            </a:pPr>
            <a:r>
              <a:rPr sz="1425" b="1" i="0">
                <a:solidFill>
                  <a:srgbClr val="16254B"/>
                </a:solidFill>
              </a:rPr>
              <a:t>Every conclusion must include a retrievable clause and rule version. Missing evidence triggers clarification or escalation, not a guess.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77A442-AC14-479D-964D-03628C17A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1476375"/>
            <a:ext cx="2143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C7A78"/>
                </a:solidFill>
              </a:defRPr>
            </a:pPr>
            <a:r>
              <a:rPr sz="1200" b="1" i="0">
                <a:solidFill>
                  <a:srgbClr val="2C7A78"/>
                </a:solidFill>
              </a:rPr>
              <a:t>Proposed target: at least 90% clause-grounded answers on the curated test 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823D2A-7964-4324-9F1F-C796A377A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664848-9E35-4F8D-9063-43EC160A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A623"/>
                </a:solidFill>
              </a:defRPr>
            </a:pPr>
            <a:r>
              <a:rPr sz="975" b="1" i="0">
                <a:solidFill>
                  <a:srgbClr val="D5A623"/>
                </a:solidFill>
              </a:rPr>
              <a:t>USABILITY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0F4CE-6BFA-4CF3-817C-E44CE265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981325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254B"/>
                </a:solidFill>
              </a:defRPr>
            </a:pPr>
            <a:r>
              <a:rPr sz="1425" b="1" i="0">
                <a:solidFill>
                  <a:srgbClr val="16254B"/>
                </a:solidFill>
              </a:rPr>
              <a:t>Three interface languages, readable transcripts, replayable audio, large touch targets and a visible path back to the official portal.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04CF18-BB86-42F3-8A48-63E3C9374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000375"/>
            <a:ext cx="2143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C7A78"/>
                </a:solidFill>
              </a:defRPr>
            </a:pPr>
            <a:r>
              <a:rPr sz="1200" b="1" i="0">
                <a:solidFill>
                  <a:srgbClr val="2C7A78"/>
                </a:solidFill>
              </a:rPr>
              <a:t>Target: 80% of test users complete a scenario without help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D6063C-C166-49FD-9790-45FC0A20B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433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4322AB-DE6B-40BF-A5DE-71313010E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MAINTAINABILITY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2BFED8-2120-4C9C-8D6A-343452D3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505325"/>
            <a:ext cx="6191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254B"/>
                </a:solidFill>
              </a:defRPr>
            </a:pPr>
            <a:r>
              <a:rPr sz="1425" b="1" i="0">
                <a:solidFill>
                  <a:srgbClr val="16254B"/>
                </a:solidFill>
              </a:rPr>
              <a:t>Modular domain services, typed schemas, migration-controlled metadata and rule updates separated from application releases.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D224A8-B1A3-4B4C-9327-71C29382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4524375"/>
            <a:ext cx="21431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2C7A78"/>
                </a:solidFill>
              </a:defRPr>
            </a:pPr>
            <a:r>
              <a:rPr sz="1200" b="1" i="0">
                <a:solidFill>
                  <a:srgbClr val="2C7A78"/>
                </a:solidFill>
              </a:rPr>
              <a:t>Target: add or revise one rule pack without changing UI code</a:t>
            </a:r>
          </a:p>
        </p:txBody>
      </p:sp>
    </p:spTree>
    <p:extLst>
      <p:ext uri="{BB962C8B-B14F-4D97-AF65-F5344CB8AC3E}">
        <p14:creationId xmlns:p14="http://schemas.microsoft.com/office/powerpoint/2010/main" val="158227863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12973B6-87DB-4F97-BF4A-43EBB46E1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9DA412-49E8-4C3B-BD4A-945F2B4A5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24E90-D606-424D-8213-0EB9BE657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Initial Planning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173C1-F456-4424-831B-C84FE781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Gantt chart, dependencies, milestones and feasibility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48469B-C890-4F96-8A66-6DB859DE6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929FDD-5CC6-4DAC-BA21-3B9A4FF3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FFE499-01C2-4F7D-A836-2A50D1A1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12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F29DF5-28D9-441C-94BC-40DE177E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10ED92-CFD5-4584-832E-8EDEF800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9FA0B6-B742-4C79-8F28-2D0D7025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6AE371-2F68-4513-936E-AD7BAE1D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41F8AE-3600-4CAD-ACC1-C77FB422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2FAE3E-5470-4D4E-A78D-23C80E62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6468CB-B421-4607-B049-0EDD2381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C07297-CC59-44A4-93D0-293B81AD1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EFD2764-DFA1-4256-BA2D-F35DD5C09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417C2F-5854-436C-8402-00EE3A6F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10D86C-C98F-4E48-9ADE-806C8FA40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W6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CA1D0A-1C5F-4F9C-B95D-64D683302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62EC45-43A5-4AF2-BA8C-7FD4DE69D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B35BDE-CD2F-4B77-A14D-646B44196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8A6476-441F-4618-A871-0874EAFA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W8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A1529B-E5BF-44F1-BC1F-0068BB40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E53B7A-5254-4FDC-A04F-564A435CC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W9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8D296B-9584-4360-B505-8F3A41353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808D85-0FF1-4CCF-AC26-68374A05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W10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ABD093F-31D1-4C3D-BDB1-4A54B5B6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793F6B-09A1-4B61-A063-014720EA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W11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69D797A-FD42-4CBF-BB6C-46822ECDB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6AA8712-7F62-44B0-8B28-E0B0CC65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W12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39BE9F-D67C-4625-995B-0C0190AB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79915C-145A-442D-9A76-B3559CCB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W13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BCBB9D-7947-4FCD-9E89-AFCB45CE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F568D4-82E1-48F7-9E3E-22743B55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3811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5E687A"/>
                </a:solidFill>
              </a:defRPr>
            </a:pPr>
            <a:r>
              <a:rPr sz="900" b="1" i="0">
                <a:solidFill>
                  <a:srgbClr val="5E687A"/>
                </a:solidFill>
              </a:rPr>
              <a:t>W14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57AC36-2B81-4E39-9A56-C6A195E5C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1666875"/>
            <a:ext cx="9525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1E5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BB6FF6E-E194-44A7-9532-737B68728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Requirements + rule corpus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411FDC5-2C3C-472C-B469-ECA6D78C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81175"/>
            <a:ext cx="9144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F2B1B7-6AD6-4D13-AF4E-26D5F559E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17907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M1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44DC38E-C3F6-45F1-89C7-08770500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Architecture + data contracts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34821F2-AFE9-4E61-979F-10DD8080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90750"/>
            <a:ext cx="9144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3ABFBCA-452F-4EF4-8CDB-6E5530E3F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002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M2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8571EE0-1A15-46DE-894E-8A364F9B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812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Web shell + multilingual UI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1EF3EE1-609C-40EB-AE65-39BBC720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600325"/>
            <a:ext cx="14097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03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A2AF8F-0A35-4A34-B6D2-CF5C39DEB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908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Document intake + OCR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552BE6-006A-4FD8-93B8-37968262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009900"/>
            <a:ext cx="19050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03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D0A6BA-CF34-4D03-A8A9-4AC028CBB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004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Retrieval + rule versioning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2F04F5-CB70-4B98-979F-A64CABD03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19475"/>
            <a:ext cx="19050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23A000A-FC54-4551-A85D-887C6E725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290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M3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65FF064-E9A5-44A6-AFC4-689A38358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ITR / GST / scheme logic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4AF3B6-2784-4A05-8D65-4447908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829050"/>
            <a:ext cx="19050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036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0D5EDDD-CB9B-4D1A-B7B7-7B8C278C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Verification + citations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EC15CE4-89F9-45EF-B171-A4EB9415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238625"/>
            <a:ext cx="19050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5595EF1-E5A3-41E6-A397-8B1779CCC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4815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M4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F712E8C-CC57-4B04-BC23-7A9EBC3A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STT / TTS integration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57FA14E-29C2-499F-AFDA-5630798CD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48200"/>
            <a:ext cx="14097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C421D02-3F8D-4ED7-921F-C6E87898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38725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Security + system testing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3314DE-1869-48E2-8F72-7B6169C2A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5057775"/>
            <a:ext cx="14097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B447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3443AFA-F4C7-4B96-858D-77A9D9AB2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50673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M5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ADFC403-EF5D-4730-962A-87BF6CEF7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3143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6254B"/>
                </a:solidFill>
              </a:defRPr>
            </a:pPr>
            <a:r>
              <a:rPr sz="1125" b="1" i="0">
                <a:solidFill>
                  <a:srgbClr val="16254B"/>
                </a:solidFill>
              </a:rPr>
              <a:t>User evaluation + final demo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A7F36EC-C41B-40E1-BC5D-8D473B67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5467350"/>
            <a:ext cx="914400" cy="219075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0C473A9-0F96-4943-A0CC-C64AE1F1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5476875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FFFFFF"/>
                </a:solidFill>
              </a:defRPr>
            </a:pPr>
            <a:r>
              <a:rPr sz="750" b="1" i="0">
                <a:solidFill>
                  <a:srgbClr val="FFFFFF"/>
                </a:solidFill>
              </a:rPr>
              <a:t>M6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14EC402-D432-43BF-8D23-5DDE7BFF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0"/>
            <a:ext cx="1057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2C7A78"/>
                </a:solidFill>
              </a:defRPr>
            </a:pPr>
            <a:r>
              <a:rPr sz="1050" b="1" i="0">
                <a:solidFill>
                  <a:srgbClr val="2C7A78"/>
                </a:solidFill>
              </a:rPr>
              <a:t>Dependencies: corpus → architecture → retrieval → domain logic → verification → speech → evaluation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61E4B92-8F38-48B2-90A5-DB9C5902A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6267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5E687A"/>
                </a:solidFill>
              </a:defRPr>
            </a:pPr>
            <a:r>
              <a:rPr sz="975" b="1" i="0">
                <a:solidFill>
                  <a:srgbClr val="5E687A"/>
                </a:solidFill>
              </a:rPr>
              <a:t>Feasibility: three-person team, curated sources and free-tier services. Main risks are poor scans, stale rules, API quotas and translation drift.</a:t>
            </a:r>
          </a:p>
        </p:txBody>
      </p:sp>
    </p:spTree>
    <p:extLst>
      <p:ext uri="{BB962C8B-B14F-4D97-AF65-F5344CB8AC3E}">
        <p14:creationId xmlns:p14="http://schemas.microsoft.com/office/powerpoint/2010/main" val="79933108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F86B72-1352-4C47-8975-9520AAB0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219155-F778-47D9-8AA8-C44BECFB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53870A-E352-41E7-8EE0-BD9E11ADA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D9F040-3C25-4282-B1D2-4AA9FB63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Summary, ownership and immediate next steps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8B8D29-DCD2-407C-BFE3-BF65AD5A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85EE32-6EEF-4F59-BE59-41E2DC37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F83D74-7112-4707-8710-DCAD7609C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13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BFCC7-0861-426F-AB42-3C65F264A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WHAT WE ARE BUILDING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0CA0C2-5D92-4929-A41B-6EFB2929C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4B"/>
                </a:solidFill>
              </a:defRPr>
            </a:pPr>
            <a:r>
              <a:rPr sz="1500" b="1" i="0">
                <a:solidFill>
                  <a:srgbClr val="16254B"/>
                </a:solidFill>
              </a:rPr>
              <a:t>A multilingual web copilot that gives cited guidance for ITR forms, GST returns and major government schemes.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F5D2BF-1443-43CE-B948-606FF268F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7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D5A623"/>
                </a:solidFill>
              </a:defRPr>
            </a:pPr>
            <a:r>
              <a:rPr sz="975" b="1" i="0">
                <a:solidFill>
                  <a:srgbClr val="D5A623"/>
                </a:solidFill>
              </a:rPr>
              <a:t>WHY IT IS FEASIBLE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7BEA52-4C2F-46CB-BC34-00F38599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00250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4B"/>
                </a:solidFill>
              </a:defRPr>
            </a:pPr>
            <a:r>
              <a:rPr sz="1500" b="1" i="0">
                <a:solidFill>
                  <a:srgbClr val="16254B"/>
                </a:solidFill>
              </a:rPr>
              <a:t>The MVP uses a curated rule corpus, one modular backend and clear limits on filing, storage and handwriting.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D8D9DC-47EB-4A44-A867-8BEAD45A8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571625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WHO OWNS WHAT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719D5-5DD1-4842-A82D-C6BCEC69C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000250"/>
            <a:ext cx="30003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254B"/>
                </a:solidFill>
              </a:defRPr>
            </a:pPr>
            <a:r>
              <a:rPr sz="1500" b="1" i="0">
                <a:solidFill>
                  <a:srgbClr val="16254B"/>
                </a:solidFill>
              </a:rPr>
              <a:t>Ronit: reasoning and verification. Bhavneet: backend and deployment. Shreyas: frontend and document flow.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812780-4C3E-4F90-8135-974FD590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576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DDBB1B-7A6F-4EA2-B237-9A0B8BD2B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2C7A78"/>
                </a:solidFill>
              </a:defRPr>
            </a:pPr>
            <a:r>
              <a:rPr sz="975" b="1" i="0">
                <a:solidFill>
                  <a:srgbClr val="2C7A78"/>
                </a:solidFill>
              </a:rPr>
              <a:t>NEXT THREE CHECKPOINTS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B2C187-19AD-42DB-B2ED-A47850B84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254B"/>
                </a:solidFill>
              </a:defRPr>
            </a:pPr>
            <a:r>
              <a:rPr sz="1425" b="1" i="0">
                <a:solidFill>
                  <a:srgbClr val="16254B"/>
                </a:solidFill>
              </a:rPr>
              <a:t>01  Freeze curated sources and rule schema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34DC76-00F1-4E89-8215-4C50250B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667250"/>
            <a:ext cx="33813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254B"/>
                </a:solidFill>
              </a:defRPr>
            </a:pPr>
            <a:r>
              <a:rPr sz="1425" b="1" i="0">
                <a:solidFill>
                  <a:srgbClr val="16254B"/>
                </a:solidFill>
              </a:rPr>
              <a:t>02  Prove one end-to-end cited eligibility case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96B20-B792-4B6E-B455-59781B518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667250"/>
            <a:ext cx="333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6254B"/>
                </a:solidFill>
              </a:defRPr>
            </a:pPr>
            <a:r>
              <a:rPr sz="1425" b="1" i="0">
                <a:solidFill>
                  <a:srgbClr val="16254B"/>
                </a:solidFill>
              </a:rPr>
              <a:t>03  Add ITR/GST paths, then multilingual speech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F9097D-0C08-4A4A-B23C-FF0A4BD9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5727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1625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E70790-EFC6-479E-A2C8-CF264F75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7150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Questions and feedback are welcome, especially on scope, evaluation criteria and rule-source maintenance.</a:t>
            </a:r>
          </a:p>
        </p:txBody>
      </p:sp>
    </p:spTree>
    <p:extLst>
      <p:ext uri="{BB962C8B-B14F-4D97-AF65-F5344CB8AC3E}">
        <p14:creationId xmlns:p14="http://schemas.microsoft.com/office/powerpoint/2010/main" val="174204471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0408DF-DBBE-4934-BCE8-D18604B46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7A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08F879-CCE6-410A-8C4C-42BAC8D80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514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2C7A78"/>
                </a:solidFill>
              </a:defRPr>
            </a:pPr>
            <a:r>
              <a:rPr sz="1125" b="1" i="0">
                <a:solidFill>
                  <a:srgbClr val="2C7A78"/>
                </a:solidFill>
              </a:rPr>
              <a:t>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D46978-1B84-42EF-B249-83C874018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5750"/>
            <a:ext cx="971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6254B"/>
                </a:solidFill>
              </a:defRPr>
            </a:pPr>
            <a:r>
              <a:rPr sz="2550" b="1" i="0">
                <a:solidFill>
                  <a:srgbClr val="16254B"/>
                </a:solidFill>
              </a:rPr>
              <a:t>References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6099E9-93EF-4392-9C3A-9F836FCBB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790575"/>
            <a:ext cx="9334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E687A"/>
                </a:solidFill>
              </a:defRPr>
            </a:pPr>
            <a:r>
              <a:rPr sz="1125" b="0" i="0">
                <a:solidFill>
                  <a:srgbClr val="5E687A"/>
                </a:solidFill>
              </a:rPr>
              <a:t>Primary sources and rule-maintenance policy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58982-2FA1-4017-BC21-E53C79FC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104900"/>
            <a:ext cx="990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A62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B5443B-E7D3-41F3-ACFD-79E2A11E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Planning Presentation v1  •  12 Aug 2026  •  Ronit · Bhavneet · Shreyas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E02ED4-F5CE-45E2-8D49-FEF89B1E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651510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8992A2"/>
                </a:solidFill>
              </a:defRPr>
            </a:pPr>
            <a:r>
              <a:rPr sz="750" b="0" i="0">
                <a:solidFill>
                  <a:srgbClr val="8992A2"/>
                </a:solidFill>
              </a:rPr>
              <a:t>GovAssist  |  14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8B852F-404E-47CC-B7B5-C643CB2D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C7A78"/>
                </a:solidFill>
              </a:defRPr>
            </a:pPr>
            <a:r>
              <a:rPr sz="1350" b="1" i="0">
                <a:solidFill>
                  <a:srgbClr val="2C7A78"/>
                </a:solidFill>
              </a:rPr>
              <a:t>Income Tax Department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D3449-505F-427C-9055-FE09825C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47637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ITR forms, instructions, notifications and assessment-year applicability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1CCBF7-6312-4195-8068-6314CE6D4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7637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87A"/>
                </a:solidFill>
              </a:defRPr>
            </a:pPr>
            <a:r>
              <a:rPr sz="1050" b="0" i="0">
                <a:solidFill>
                  <a:srgbClr val="5E687A"/>
                </a:solidFill>
              </a:rPr>
              <a:t>incometax.gov.in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297C11-1D63-4135-84B8-A8875ED58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968B64-B655-40F6-9582-9F3F5AA84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C7A78"/>
                </a:solidFill>
              </a:defRPr>
            </a:pPr>
            <a:r>
              <a:rPr sz="1350" b="1" i="0">
                <a:solidFill>
                  <a:srgbClr val="2C7A78"/>
                </a:solidFill>
              </a:rPr>
              <a:t>GST Portal / CBIC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44B2D3D-3A12-4826-8FA7-7007A24D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47650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Return manuals, advisories, rate and compliance 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EFFA45-EF2D-4EC1-8251-824F3EBB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47650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87A"/>
                </a:solidFill>
              </a:defRPr>
            </a:pPr>
            <a:r>
              <a:rPr sz="1050" b="0" i="0">
                <a:solidFill>
                  <a:srgbClr val="5E687A"/>
                </a:solidFill>
              </a:rPr>
              <a:t>gst.gov.in  ·  cbic-gst.gov.in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68DC5-8627-408E-9FF2-1FCF17E2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90B032-7B7E-4D6A-A19C-EA67C588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C7A78"/>
                </a:solidFill>
              </a:defRPr>
            </a:pPr>
            <a:r>
              <a:rPr sz="1350" b="1" i="0">
                <a:solidFill>
                  <a:srgbClr val="2C7A78"/>
                </a:solidFill>
              </a:rPr>
              <a:t>myScheme + ministry portals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01F1A8-124C-4C61-A507-6DA063B8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Scheme discovery followed by the owning ministry’s eligibility rules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0ECD31-5B7B-4762-9435-B14BA309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87A"/>
                </a:solidFill>
              </a:defRPr>
            </a:pPr>
            <a:r>
              <a:rPr sz="1050" b="0" i="0">
                <a:solidFill>
                  <a:srgbClr val="5E687A"/>
                </a:solidFill>
              </a:rPr>
              <a:t>myscheme.gov.in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A282C-D04C-4EC2-9086-A378C0586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9575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6A6F6F-7469-4577-AA15-41CA26F6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D5A623"/>
                </a:solidFill>
              </a:defRPr>
            </a:pPr>
            <a:r>
              <a:rPr sz="1350" b="1" i="0">
                <a:solidFill>
                  <a:srgbClr val="D5A623"/>
                </a:solidFill>
              </a:rPr>
              <a:t>Azure AI Speech documentation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D91EC45-1F85-4EDB-897B-93344934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476750"/>
            <a:ext cx="5095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Supported en-IN, hi-IN and pa-IN speech locales and voice capabilities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97142F-3F89-40CB-8625-9E3AC34D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76750"/>
            <a:ext cx="238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5E687A"/>
                </a:solidFill>
              </a:defRPr>
            </a:pPr>
            <a:r>
              <a:rPr sz="1050" b="0" i="0">
                <a:solidFill>
                  <a:srgbClr val="5E687A"/>
                </a:solidFill>
              </a:rPr>
              <a:t>learn.microsoft.com/azure/ai-services/speech-service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94E273-5A53-47EC-AAA9-21A61D97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0572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DDEDE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B37582-5F0C-4DA2-A5ED-4061F10F3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43575"/>
            <a:ext cx="1000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6254B"/>
                </a:solidFill>
              </a:defRPr>
            </a:pPr>
            <a:r>
              <a:rPr sz="1350" b="1" i="0">
                <a:solidFill>
                  <a:srgbClr val="16254B"/>
                </a:solidFill>
              </a:rPr>
              <a:t>Governance rule: store source URL, clause, retrieval date, effective date and superseded status; never treat model memory as a legal source.</a:t>
            </a:r>
          </a:p>
        </p:txBody>
      </p:sp>
    </p:spTree>
    <p:extLst>
      <p:ext uri="{BB962C8B-B14F-4D97-AF65-F5344CB8AC3E}">
        <p14:creationId xmlns:p14="http://schemas.microsoft.com/office/powerpoint/2010/main" val="18428703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2026-08-12T04:35:32.3080000Z</dcterms:created>
  <dcterms:modified xsi:type="dcterms:W3CDTF">2026-08-12T04:35:32.3080000Z</dcterms:modified>
</coreProperties>
</file>