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present GovAssist as a grounded eligibility assistant, not a generic chatbot. Emphasize: rules decide; sources prove; AI explains.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directly to lab requirement: problem, intended users, and why selected. Keep it simple and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precise: things built include rule engine, backend, Next frontend, tests and Vercel deployment. Graph patterns exist/design; some advanced retrieval paths are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85216" y="420624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B83C2E"/>
                </a:solidFill>
                <a:latin typeface="Aptos"/>
              </a:rPr>
              <a:t>UCS503 PROTOTYPE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612648"/>
            <a:ext cx="676656" cy="17780"/>
          </a:xfrm>
          <a:prstGeom prst="rect">
            <a:avLst/>
          </a:prstGeom>
          <a:solidFill>
            <a:srgbClr val="B8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14300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B2A44"/>
                </a:solidFill>
                <a:latin typeface="Georgia"/>
              </a:rPr>
              <a:t>GovAssist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8288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55637D"/>
                </a:solidFill>
                <a:latin typeface="Aptos"/>
              </a:rPr>
              <a:t>Grounded eligibility assistant for public schemes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" y="2231136"/>
            <a:ext cx="1417320" cy="22860"/>
          </a:xfrm>
          <a:prstGeom prst="rect">
            <a:avLst/>
          </a:prstGeom>
          <a:solidFill>
            <a:srgbClr val="B8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4892040" cy="841248"/>
          </a:xfrm>
          <a:prstGeom prst="rect">
            <a:avLst/>
          </a:prstGeom>
          <a:noFill/>
        </p:spPr>
        <p:txBody>
          <a:bodyPr wrap="square" lIns="0" rIns="18288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80" b="0" i="0">
                <a:solidFill>
                  <a:srgbClr val="1B2A44"/>
                </a:solidFill>
                <a:latin typeface="Aptos"/>
              </a:rPr>
              <a:t>A working prototype that asks plain questions, evaluates a real scheme with deterministic rules, and shows the exact official clause behind every verdict.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3657600"/>
            <a:ext cx="17830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1B2A44"/>
                </a:solidFill>
                <a:latin typeface="Aptos"/>
              </a:rPr>
              <a:t>Deterministic verdicts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3657600"/>
            <a:ext cx="16916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2F6B45"/>
                </a:solidFill>
                <a:latin typeface="Aptos"/>
              </a:rPr>
              <a:t>Verbatim citations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3657600"/>
            <a:ext cx="146304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8F6F27"/>
                </a:solidFill>
                <a:latin typeface="Aptos"/>
              </a:rPr>
              <a:t>Hindi voice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791456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55637D"/>
                </a:solidFill>
                <a:latin typeface="Aptos"/>
              </a:rPr>
              <a:t>Pitch focus: real input, real processing, real output — not a mock walkthrough.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822960"/>
            <a:ext cx="3822191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106984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1" i="0">
                <a:solidFill>
                  <a:srgbClr val="B83C2E"/>
                </a:solidFill>
                <a:latin typeface="Aptos"/>
              </a:rPr>
              <a:t>LIVE PROTOTYPE FLOW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12864" y="1289304"/>
            <a:ext cx="868680" cy="15240"/>
          </a:xfrm>
          <a:prstGeom prst="rect">
            <a:avLst/>
          </a:prstGeom>
          <a:solidFill>
            <a:srgbClr val="B8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22008" y="1664208"/>
            <a:ext cx="310896" cy="310896"/>
          </a:xfrm>
          <a:prstGeom prst="ellipse">
            <a:avLst/>
          </a:prstGeom>
          <a:solidFill>
            <a:srgbClr val="EAE2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F6F27"/>
                </a:solidFill>
                <a:latin typeface="Apto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164592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B2A44"/>
                </a:solidFill>
                <a:latin typeface="Georgia"/>
              </a:rPr>
              <a:t>Ask in plain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47672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5637D"/>
                </a:solidFill>
                <a:latin typeface="Aptos"/>
              </a:rPr>
              <a:t>The user starts from the hosted web app and answers guided questions.</a:t>
            </a:r>
          </a:p>
        </p:txBody>
      </p:sp>
      <p:sp>
        <p:nvSpPr>
          <p:cNvPr id="19" name="Oval 18"/>
          <p:cNvSpPr/>
          <p:nvPr/>
        </p:nvSpPr>
        <p:spPr>
          <a:xfrm>
            <a:off x="6922008" y="2779776"/>
            <a:ext cx="310896" cy="310896"/>
          </a:xfrm>
          <a:prstGeom prst="ellipse">
            <a:avLst/>
          </a:prstGeom>
          <a:solidFill>
            <a:srgbClr val="EAE2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F6F27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2761488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B2A44"/>
                </a:solidFill>
                <a:latin typeface="Georgia"/>
              </a:rPr>
              <a:t>Apply the rule pack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3063240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5637D"/>
                </a:solidFill>
                <a:latin typeface="Aptos"/>
              </a:rPr>
              <a:t>Eligibility is decided by the rule engine, not by the model.</a:t>
            </a:r>
          </a:p>
        </p:txBody>
      </p:sp>
      <p:sp>
        <p:nvSpPr>
          <p:cNvPr id="22" name="Oval 21"/>
          <p:cNvSpPr/>
          <p:nvPr/>
        </p:nvSpPr>
        <p:spPr>
          <a:xfrm>
            <a:off x="6922008" y="3895344"/>
            <a:ext cx="310896" cy="310896"/>
          </a:xfrm>
          <a:prstGeom prst="ellipse">
            <a:avLst/>
          </a:prstGeom>
          <a:solidFill>
            <a:srgbClr val="EAE2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8F6F27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87705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B2A44"/>
                </a:solidFill>
                <a:latin typeface="Georgia"/>
              </a:rPr>
              <a:t>Open the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4178807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5637D"/>
                </a:solidFill>
                <a:latin typeface="Aptos"/>
              </a:rPr>
              <a:t>The verdict comes back with cited clauses and a visible profile summary.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4576" y="4626864"/>
            <a:ext cx="22402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B2A44"/>
                </a:solidFill>
                <a:latin typeface="Georgia"/>
              </a:rPr>
              <a:t>Evidence-backed
prototype</a:t>
            </a:r>
          </a:p>
        </p:txBody>
      </p:sp>
      <p:sp>
        <p:nvSpPr>
          <p:cNvPr id="26" name="Oval 25"/>
          <p:cNvSpPr/>
          <p:nvPr/>
        </p:nvSpPr>
        <p:spPr>
          <a:xfrm>
            <a:off x="9217152" y="4572000"/>
            <a:ext cx="932688" cy="932688"/>
          </a:xfrm>
          <a:prstGeom prst="ellipse">
            <a:avLst/>
          </a:prstGeom>
          <a:solidFill>
            <a:srgbClr val="E8F1EB"/>
          </a:solidFill>
          <a:ln w="16510">
            <a:solidFill>
              <a:srgbClr val="2F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2F6B45"/>
                </a:solidFill>
                <a:latin typeface="Aptos"/>
              </a:rPr>
              <a:t>✓
VERIFIED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16768" y="6291072"/>
            <a:ext cx="27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19" b="0" i="0">
                <a:solidFill>
                  <a:srgbClr val="8C96AA"/>
                </a:solidFill>
                <a:latin typeface="Aptos"/>
              </a:rPr>
              <a:t>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526280"/>
            <a:ext cx="3337560" cy="10789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4626864"/>
            <a:ext cx="20574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B2A44"/>
                </a:solidFill>
                <a:latin typeface="Georgia"/>
              </a:rPr>
              <a:t>Evidence-backed
prototype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89136" y="4782312"/>
            <a:ext cx="914400" cy="384048"/>
          </a:xfrm>
          <a:prstGeom prst="roundRect">
            <a:avLst/>
          </a:prstGeom>
          <a:solidFill>
            <a:srgbClr val="E8F1EB"/>
          </a:solidFill>
          <a:ln w="15240">
            <a:solidFill>
              <a:srgbClr val="2F6B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2F6B45"/>
                </a:solidFill>
                <a:latin typeface="Aptos"/>
              </a:rPr>
              <a:t>✓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228600"/>
            <a:ext cx="475488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8046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B2A44"/>
                </a:solidFill>
                <a:latin typeface="Georgia"/>
              </a:rPr>
              <a:t>Why this problem is worth solving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868680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8C96AA"/>
                </a:solidFill>
                <a:latin typeface="Aptos"/>
              </a:rPr>
              <a:t>PROBLEM · INTENDED USERS · SELECTION REASON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402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19" b="0" i="0">
                <a:solidFill>
                  <a:srgbClr val="8C96AA"/>
                </a:solidFill>
                <a:latin typeface="Aptos"/>
              </a:rPr>
              <a:t>GovAssist · UCS503 Prototype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6236208"/>
            <a:ext cx="502920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71048" y="62910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30" b="0" i="0">
                <a:solidFill>
                  <a:srgbClr val="8C96AA"/>
                </a:solidFill>
                <a:latin typeface="Aptos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335024"/>
            <a:ext cx="27432" cy="4005072"/>
          </a:xfrm>
          <a:prstGeom prst="rect">
            <a:avLst/>
          </a:prstGeom>
          <a:solidFill>
            <a:srgbClr val="B8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298448"/>
            <a:ext cx="4553712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B2A44"/>
                </a:solidFill>
                <a:latin typeface="Georgia"/>
              </a:rPr>
              <a:t>A citizen should not need to decode a dense government PDF just to know whether an application is even worth pursuing.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542032"/>
            <a:ext cx="146304" cy="146304"/>
          </a:xfrm>
          <a:prstGeom prst="ellipse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523744"/>
            <a:ext cx="4297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5637D"/>
                </a:solidFill>
                <a:latin typeface="Aptos"/>
              </a:rPr>
              <a:t>Rules are written for departments; applicants need plain questions and clear next steps.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3108960"/>
            <a:ext cx="146304" cy="146304"/>
          </a:xfrm>
          <a:prstGeom prst="ellipse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090672"/>
            <a:ext cx="4297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5637D"/>
                </a:solidFill>
                <a:latin typeface="Aptos"/>
              </a:rPr>
              <a:t>Scheme details change over time, so answers must stay tied to versioned evidence.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675887"/>
            <a:ext cx="146304" cy="146304"/>
          </a:xfrm>
          <a:prstGeom prst="ellipse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657599"/>
            <a:ext cx="4297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5637D"/>
                </a:solidFill>
                <a:latin typeface="Aptos"/>
              </a:rPr>
              <a:t>Regional-language users should get the same accuracy as English-speaking users.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4242816"/>
            <a:ext cx="146304" cy="146304"/>
          </a:xfrm>
          <a:prstGeom prst="ellipse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224528"/>
            <a:ext cx="4297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55637D"/>
                </a:solidFill>
                <a:latin typeface="Aptos"/>
              </a:rPr>
              <a:t>The lab requires a working prototype, so the system must process real input rather than static screens.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0" y="1225296"/>
            <a:ext cx="4343400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98464" y="1481328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1" i="0">
                <a:solidFill>
                  <a:srgbClr val="8C96AA"/>
                </a:solidFill>
                <a:latin typeface="Aptos"/>
              </a:rPr>
              <a:t>INTENDED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8464" y="1847088"/>
            <a:ext cx="3657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55637D"/>
                </a:solidFill>
                <a:latin typeface="Aptos"/>
              </a:rPr>
              <a:t>• Applicants checking scheme eligibility
• Family members helping someone apply
• Reviewers maintaining source-backed rules
• Evaluators checking working integration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98464" y="3584448"/>
            <a:ext cx="3520440" cy="1397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98464" y="3822191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1" i="0">
                <a:solidFill>
                  <a:srgbClr val="8C96AA"/>
                </a:solidFill>
                <a:latin typeface="Aptos"/>
              </a:rPr>
              <a:t>WHY WE SELECTED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98464" y="4169663"/>
            <a:ext cx="36576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1B2A44"/>
                </a:solidFill>
                <a:latin typeface="Aptos"/>
              </a:rPr>
              <a:t>It gives us a complete software-engineering story: source documents, deterministic rules, backend, UI, evidence, testing, auth, and deployment.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4983480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5637D"/>
                </a:solidFill>
                <a:latin typeface="Aptos"/>
              </a:rPr>
              <a:t>This aligns directly with the lab brief: demonstrate the hosted prototype end-to-end.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950208"/>
            <a:ext cx="3977639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98464" y="3822191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1" i="0">
                <a:solidFill>
                  <a:srgbClr val="8C96AA"/>
                </a:solidFill>
                <a:latin typeface="Aptos"/>
              </a:rPr>
              <a:t>WHY WE SELECTED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4114800"/>
            <a:ext cx="370332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B2A44"/>
                </a:solidFill>
                <a:latin typeface="Aptos"/>
              </a:rPr>
              <a:t>It gives us a complete software-engineering story: source documents, deterministic rules, backend, UI, evidence, testing, auth, and deployment.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98464" y="4882896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1">
                <a:solidFill>
                  <a:srgbClr val="55637D"/>
                </a:solidFill>
                <a:latin typeface="Aptos"/>
              </a:rPr>
              <a:t>This aligns directly with the lab brief: demonstrate the hosted prototype end-to-end.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93192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44"/>
                </a:solidFill>
                <a:latin typeface="Georgia"/>
              </a:rPr>
              <a:t>What is actually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80467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8C96AA"/>
                </a:solidFill>
                <a:latin typeface="Aptos"/>
              </a:rPr>
              <a:t>CURRENT PROTOTYPE · RUNNING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08592" y="39319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80" b="0" i="0">
                <a:solidFill>
                  <a:srgbClr val="8C96AA"/>
                </a:solidFill>
                <a:latin typeface="Aptos"/>
              </a:rPr>
              <a:t>GovAssist · UCS503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0080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8C96AA"/>
                </a:solidFill>
                <a:latin typeface="Apto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234440"/>
            <a:ext cx="466344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A44"/>
                </a:solidFill>
                <a:latin typeface="Aptos"/>
              </a:rPr>
              <a:t>This is no longer a planning website. The current repository contains a working full-stack prototype around one real PMFME scheme.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21408"/>
            <a:ext cx="1188720" cy="20320"/>
          </a:xfrm>
          <a:prstGeom prst="rect">
            <a:avLst/>
          </a:prstGeom>
          <a:solidFill>
            <a:srgbClr val="A83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2468880"/>
            <a:ext cx="4663440" cy="2697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724912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A44"/>
                </a:solidFill>
                <a:latin typeface="Georgia"/>
              </a:rPr>
              <a:t>Prototype proof points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46120"/>
            <a:ext cx="292608" cy="292608"/>
          </a:xfrm>
          <a:prstGeom prst="roundRect">
            <a:avLst/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B45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236976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B2A44"/>
                </a:solidFill>
                <a:latin typeface="Aptos"/>
              </a:rPr>
              <a:t>Rule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236976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37D"/>
                </a:solidFill>
                <a:latin typeface="Aptos"/>
              </a:rPr>
              <a:t>verdicts do not need an LLM key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721608"/>
            <a:ext cx="292608" cy="292608"/>
          </a:xfrm>
          <a:prstGeom prst="roundRect">
            <a:avLst/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B45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3712464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B2A44"/>
                </a:solidFill>
                <a:latin typeface="Aptos"/>
              </a:rPr>
              <a:t>Corpus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712464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37D"/>
                </a:solidFill>
                <a:latin typeface="Aptos"/>
              </a:rPr>
              <a:t>official PMFME clauses are committed and span-validated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197096"/>
            <a:ext cx="292608" cy="292608"/>
          </a:xfrm>
          <a:prstGeom prst="roundRect">
            <a:avLst/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B45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4187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B2A44"/>
                </a:solidFill>
                <a:latin typeface="Aptos"/>
              </a:rPr>
              <a:t>Web +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187952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37D"/>
                </a:solidFill>
                <a:latin typeface="Aptos"/>
              </a:rPr>
              <a:t>Next.js frontend calls FastAPI /chat and /transcribe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72583"/>
            <a:ext cx="292608" cy="292608"/>
          </a:xfrm>
          <a:prstGeom prst="roundRect">
            <a:avLst/>
          </a:prstGeom>
          <a:solidFill>
            <a:srgbClr val="DDE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B45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4663440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B2A44"/>
                </a:solidFill>
                <a:latin typeface="Aptos"/>
              </a:rPr>
              <a:t>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46634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637D"/>
                </a:solidFill>
                <a:latin typeface="Aptos"/>
              </a:rPr>
              <a:t>large offline suite; no network calls required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123444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2A44"/>
                </a:solidFill>
                <a:latin typeface="Georgia"/>
              </a:rPr>
              <a:t>Stack 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600200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5637D"/>
                </a:solidFill>
                <a:latin typeface="Aptos"/>
              </a:rPr>
              <a:t>Each layer has one job, which keeps the demo explainable under Q&amp;A.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331720"/>
            <a:ext cx="47548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06440" y="2331720"/>
            <a:ext cx="91440" cy="558800"/>
          </a:xfrm>
          <a:prstGeom prst="rect">
            <a:avLst/>
          </a:prstGeom>
          <a:solidFill>
            <a:srgbClr val="8F6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2450591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6F27"/>
                </a:solidFill>
                <a:latin typeface="Aptos"/>
              </a:rPr>
              <a:t>Frontend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2441448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0" i="0">
                <a:solidFill>
                  <a:srgbClr val="55637D"/>
                </a:solidFill>
                <a:latin typeface="Aptos"/>
              </a:rPr>
              <a:t>Next.js chat UI, language switcher, voice controls, citation panel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6440" y="2990087"/>
            <a:ext cx="47548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06440" y="2990087"/>
            <a:ext cx="91440" cy="558800"/>
          </a:xfrm>
          <a:prstGeom prst="rect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53328" y="3108959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B2A44"/>
                </a:solidFill>
                <a:latin typeface="Aptos"/>
              </a:rPr>
              <a:t>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099815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0" i="0">
                <a:solidFill>
                  <a:srgbClr val="55637D"/>
                </a:solidFill>
                <a:latin typeface="Aptos"/>
              </a:rPr>
              <a:t>FastAPI routes: /chat, /transcribe, /health, locale detection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06440" y="3648455"/>
            <a:ext cx="47548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806440" y="3648455"/>
            <a:ext cx="91440" cy="558800"/>
          </a:xfrm>
          <a:prstGeom prst="rect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3767327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6B45"/>
                </a:solidFill>
                <a:latin typeface="Aptos"/>
              </a:rPr>
              <a:t>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3758183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0" i="0">
                <a:solidFill>
                  <a:srgbClr val="55637D"/>
                </a:solidFill>
                <a:latin typeface="Aptos"/>
              </a:rPr>
              <a:t>Three-valued deterministic engine: eligible / not eligible / insufficient info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06440" y="4306823"/>
            <a:ext cx="47548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806440" y="4306823"/>
            <a:ext cx="91440" cy="558800"/>
          </a:xfrm>
          <a:prstGeom prst="rect">
            <a:avLst/>
          </a:prstGeom>
          <a:solidFill>
            <a:srgbClr val="A83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53328" y="4425695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A8372C"/>
                </a:solidFill>
                <a:latin typeface="Aptos"/>
              </a:rPr>
              <a:t>AI agents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4416551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0" i="0">
                <a:solidFill>
                  <a:srgbClr val="55637D"/>
                </a:solidFill>
                <a:latin typeface="Aptos"/>
              </a:rPr>
              <a:t>NLU, composer, verifier; explain and check, never decide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06440" y="4965191"/>
            <a:ext cx="475488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06440" y="4965191"/>
            <a:ext cx="91440" cy="558800"/>
          </a:xfrm>
          <a:prstGeom prst="rect">
            <a:avLst/>
          </a:prstGeom>
          <a:solidFill>
            <a:srgbClr val="8F6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53328" y="5084063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6F27"/>
                </a:solidFill>
                <a:latin typeface="Aptos"/>
              </a:rPr>
              <a:t>Data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5074919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80" b="0" i="0">
                <a:solidFill>
                  <a:srgbClr val="55637D"/>
                </a:solidFill>
                <a:latin typeface="Aptos"/>
              </a:rPr>
              <a:t>rules.json, graph.json, clauses.jsonl generated from scheme.md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4720" y="5715000"/>
            <a:ext cx="4754880" cy="310896"/>
          </a:xfrm>
          <a:prstGeom prst="round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21024" y="5769864"/>
            <a:ext cx="44805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Best pitch line: model explains, rule pack decides, citation proves.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1"/>
          </a:solidFill>
          <a:ln w="12700">
            <a:solidFill>
              <a:srgbClr val="F2F3F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28600"/>
            <a:ext cx="1097280" cy="0"/>
          </a:xfrm>
          <a:prstGeom prst="line">
            <a:avLst/>
          </a:prstGeom>
          <a:noFill/>
          <a:ln w="12700">
            <a:solidFill>
              <a:srgbClr val="E0E2DE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6446520"/>
            <a:ext cx="914400" cy="0"/>
          </a:xfrm>
          <a:prstGeom prst="line">
            <a:avLst/>
          </a:prstGeom>
          <a:noFill/>
          <a:ln w="12700">
            <a:solidFill>
              <a:srgbClr val="E0E2DE">
                <a:alpha val="6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108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B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Architecture: language outside, rules at the core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76072" y="841248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C96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OVERVIEW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281160" y="4206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30" dirty="0">
                <a:solidFill>
                  <a:srgbClr val="8C96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GovAssist · UCS503 Prototype</a:t>
            </a:r>
            <a:endParaRPr lang="en-US" sz="830" dirty="0"/>
          </a:p>
        </p:txBody>
      </p:sp>
      <p:sp>
        <p:nvSpPr>
          <p:cNvPr id="8" name="Shape 6"/>
          <p:cNvSpPr/>
          <p:nvPr/>
        </p:nvSpPr>
        <p:spPr>
          <a:xfrm>
            <a:off x="1097280" y="3291840"/>
            <a:ext cx="1691640" cy="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343400" y="3291840"/>
            <a:ext cx="1463040" cy="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360920" y="3291840"/>
            <a:ext cx="1463040" cy="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0104120" y="3291840"/>
            <a:ext cx="960120" cy="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2920" y="278892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862072"/>
            <a:ext cx="1271016" cy="8138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Citizen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/ voice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06040" y="2542032"/>
            <a:ext cx="17830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79192" y="2615184"/>
            <a:ext cx="1636776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chat interface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96128" y="2542032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0" y="2615184"/>
            <a:ext cx="1682496" cy="1271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/chat router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86800" y="23317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6FAF6"/>
          </a:solidFill>
          <a:ln w="12700">
            <a:solidFill>
              <a:srgbClr val="AFC7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59952" y="2404872"/>
            <a:ext cx="1682496" cy="8138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 engine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3-valued logic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686800" y="356616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FF8EB"/>
          </a:solidFill>
          <a:ln w="12700">
            <a:solidFill>
              <a:srgbClr val="D9C99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59952" y="3639312"/>
            <a:ext cx="1682496" cy="8138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clauses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01200" y="3291840"/>
            <a:ext cx="0" cy="27432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601200" y="2331720"/>
            <a:ext cx="0" cy="-283464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0972800" y="2788920"/>
            <a:ext cx="841248" cy="960120"/>
          </a:xfrm>
          <a:prstGeom prst="roundRect">
            <a:avLst>
              <a:gd name="adj" fmla="val 8696"/>
            </a:avLst>
          </a:prstGeom>
          <a:solidFill>
            <a:srgbClr val="1B2A44"/>
          </a:solidFill>
          <a:ln w="12700">
            <a:solidFill>
              <a:srgbClr val="1B2A4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045952" y="2862072"/>
            <a:ext cx="694944" cy="8138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15000" y="4709160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A837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88152" y="4782312"/>
            <a:ext cx="259689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837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Composer + Verifier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A837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explains, then checks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92240" y="3959352"/>
            <a:ext cx="0" cy="749808"/>
          </a:xfrm>
          <a:prstGeom prst="line">
            <a:avLst/>
          </a:prstGeom>
          <a:noFill/>
          <a:ln w="12700">
            <a:solidFill>
              <a:srgbClr val="A8372C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869680" y="4041648"/>
            <a:ext cx="-411480" cy="667512"/>
          </a:xfrm>
          <a:prstGeom prst="line">
            <a:avLst/>
          </a:prstGeom>
          <a:noFill/>
          <a:ln w="12700">
            <a:solidFill>
              <a:srgbClr val="A8372C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788920" y="4709160"/>
            <a:ext cx="23317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8F6F2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62072" y="4782312"/>
            <a:ext cx="218541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F6F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service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8F6F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ASR · NMT · TTS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611880" y="3959352"/>
            <a:ext cx="0" cy="749808"/>
          </a:xfrm>
          <a:prstGeom prst="line">
            <a:avLst/>
          </a:prstGeom>
          <a:noFill/>
          <a:ln w="12700">
            <a:solidFill>
              <a:srgbClr val="8F6F27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389120" y="5047488"/>
            <a:ext cx="1325880" cy="0"/>
          </a:xfrm>
          <a:prstGeom prst="line">
            <a:avLst/>
          </a:prstGeom>
          <a:noFill/>
          <a:ln w="12700">
            <a:solidFill>
              <a:srgbClr val="8F6F27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786384" y="1243584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boundary: the LLM never decides eligibility. It only helps interpret user text and compose explanations from evidence.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11384280" y="644652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6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228600"/>
            <a:ext cx="475488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8046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B2A44"/>
                </a:solidFill>
                <a:latin typeface="Georgia"/>
              </a:rPr>
              <a:t>Live demonstration plan: one full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868680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8C96AA"/>
                </a:solidFill>
                <a:latin typeface="Aptos"/>
              </a:rPr>
              <a:t>REAL INPUT → PROCESSING →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402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19" b="0" i="0">
                <a:solidFill>
                  <a:srgbClr val="8C96AA"/>
                </a:solidFill>
                <a:latin typeface="Aptos"/>
              </a:rPr>
              <a:t>GovAssist · UCS503 Prototype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6236208"/>
            <a:ext cx="502920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71048" y="62910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30" b="0" i="0">
                <a:solidFill>
                  <a:srgbClr val="8C96AA"/>
                </a:solidFill>
                <a:latin typeface="Aptos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6187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20" b="1" i="0">
                <a:solidFill>
                  <a:srgbClr val="1B2A44"/>
                </a:solidFill>
                <a:latin typeface="Aptos"/>
              </a:rPr>
              <a:t>Demo this exactly in front of the evaluator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1591056"/>
            <a:ext cx="246888" cy="246888"/>
          </a:xfrm>
          <a:prstGeom prst="ellipse">
            <a:avLst/>
          </a:prstGeom>
          <a:solidFill>
            <a:srgbClr val="EA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B2A44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554480"/>
            <a:ext cx="2697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1" i="0">
                <a:solidFill>
                  <a:srgbClr val="1B2A44"/>
                </a:solidFill>
                <a:latin typeface="Aptos"/>
              </a:rPr>
              <a:t>Open the hosted website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55637D"/>
                </a:solidFill>
                <a:latin typeface="Aptos"/>
              </a:rPr>
              <a:t>Show the deployed web app and that signed-out users can begin immediately.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2212848"/>
            <a:ext cx="246888" cy="246888"/>
          </a:xfrm>
          <a:prstGeom prst="ellipse">
            <a:avLst/>
          </a:prstGeom>
          <a:solidFill>
            <a:srgbClr val="EA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B2A44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176272"/>
            <a:ext cx="2697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1" i="0">
                <a:solidFill>
                  <a:srgbClr val="1B2A44"/>
                </a:solidFill>
                <a:latin typeface="Aptos"/>
              </a:rPr>
              <a:t>Start PMFME eligibility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37744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55637D"/>
                </a:solidFill>
                <a:latin typeface="Aptos"/>
              </a:rPr>
              <a:t>The app greets the user and asks the first missing field.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2834640"/>
            <a:ext cx="246888" cy="246888"/>
          </a:xfrm>
          <a:prstGeom prst="ellipse">
            <a:avLst/>
          </a:prstGeom>
          <a:solidFill>
            <a:srgbClr val="EA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B2A44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798064"/>
            <a:ext cx="2697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1" i="0">
                <a:solidFill>
                  <a:srgbClr val="1B2A44"/>
                </a:solidFill>
                <a:latin typeface="Aptos"/>
              </a:rPr>
              <a:t>Use prepared test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99923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55637D"/>
                </a:solidFill>
                <a:latin typeface="Aptos"/>
              </a:rPr>
              <a:t>Enter the qualifying profile question by question so the summary visibly updates.</a:t>
            </a:r>
          </a:p>
        </p:txBody>
      </p:sp>
      <p:sp>
        <p:nvSpPr>
          <p:cNvPr id="19" name="Oval 18"/>
          <p:cNvSpPr/>
          <p:nvPr/>
        </p:nvSpPr>
        <p:spPr>
          <a:xfrm>
            <a:off x="658368" y="3456432"/>
            <a:ext cx="246888" cy="246888"/>
          </a:xfrm>
          <a:prstGeom prst="ellipse">
            <a:avLst/>
          </a:prstGeom>
          <a:solidFill>
            <a:srgbClr val="EA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B2A44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3419856"/>
            <a:ext cx="2697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1" i="0">
                <a:solidFill>
                  <a:srgbClr val="1B2A44"/>
                </a:solidFill>
                <a:latin typeface="Aptos"/>
              </a:rPr>
              <a:t>Reach an eligible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621024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55637D"/>
                </a:solidFill>
                <a:latin typeface="Aptos"/>
              </a:rPr>
              <a:t>Show the verdict, visible citations, and the grounded explanation.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078224"/>
            <a:ext cx="246888" cy="246888"/>
          </a:xfrm>
          <a:prstGeom prst="ellipse">
            <a:avLst/>
          </a:prstGeom>
          <a:solidFill>
            <a:srgbClr val="EA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B2A44"/>
                </a:solidFill>
                <a:latin typeface="Aptos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041648"/>
            <a:ext cx="2697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1" i="0">
                <a:solidFill>
                  <a:srgbClr val="1B2A44"/>
                </a:solidFill>
                <a:latin typeface="Aptos"/>
              </a:rPr>
              <a:t>Flip one decisive field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242816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55637D"/>
                </a:solidFill>
                <a:latin typeface="Aptos"/>
              </a:rPr>
              <a:t>Change age to 16 or class-8 to false to force NOT_ELIGIBLE.</a:t>
            </a:r>
          </a:p>
        </p:txBody>
      </p:sp>
      <p:sp>
        <p:nvSpPr>
          <p:cNvPr id="25" name="Oval 24"/>
          <p:cNvSpPr/>
          <p:nvPr/>
        </p:nvSpPr>
        <p:spPr>
          <a:xfrm>
            <a:off x="658368" y="4700016"/>
            <a:ext cx="246888" cy="246888"/>
          </a:xfrm>
          <a:prstGeom prst="ellipse">
            <a:avLst/>
          </a:prstGeom>
          <a:solidFill>
            <a:srgbClr val="EA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B2A44"/>
                </a:solidFill>
                <a:latin typeface="Aptos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663440"/>
            <a:ext cx="2697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80" b="1" i="0">
                <a:solidFill>
                  <a:srgbClr val="1B2A44"/>
                </a:solidFill>
                <a:latin typeface="Aptos"/>
              </a:rPr>
              <a:t>Show real 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864608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55637D"/>
                </a:solidFill>
                <a:latin typeface="Aptos"/>
              </a:rPr>
              <a:t>Point out frontend, API, rule engine, optional auth, and the evidence panel.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0" y="1261872"/>
            <a:ext cx="4526280" cy="19751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7568" y="1426464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1" i="0">
                <a:solidFill>
                  <a:srgbClr val="B83C2E"/>
                </a:solidFill>
                <a:latin typeface="Aptos"/>
              </a:rPr>
              <a:t>PREPARED TEST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87568" y="1755648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1" i="0">
                <a:solidFill>
                  <a:srgbClr val="2F6B45"/>
                </a:solidFill>
                <a:latin typeface="Aptos"/>
              </a:rPr>
              <a:t>Eligible path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87568" y="1975104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55637D"/>
                </a:solidFill>
                <a:latin typeface="Aptos"/>
              </a:rPr>
              <a:t>Applicant type: individual
Existing unit: yes
Verified / identified: yes
Age: 20 · Passed class 8: yes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44968" y="1755648"/>
            <a:ext cx="1965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1" i="0">
                <a:solidFill>
                  <a:srgbClr val="B83C2E"/>
                </a:solidFill>
                <a:latin typeface="Aptos"/>
              </a:rPr>
              <a:t>Negative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8" y="1975104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19" b="0" i="0">
                <a:solidFill>
                  <a:srgbClr val="55637D"/>
                </a:solidFill>
                <a:latin typeface="Aptos"/>
              </a:rPr>
              <a:t>Reuse the same profile, then switch:
Age: 16  or
Passed class 8: no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0" y="3456432"/>
            <a:ext cx="452628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87568" y="3639312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0" b="1" i="0">
                <a:solidFill>
                  <a:srgbClr val="B83C2E"/>
                </a:solidFill>
                <a:latin typeface="Aptos"/>
              </a:rPr>
              <a:t>WHAT TO SAY OUT LOUD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87568" y="3931920"/>
            <a:ext cx="39319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10" b="0" i="0">
                <a:solidFill>
                  <a:srgbClr val="1B2A44"/>
                </a:solidFill>
                <a:latin typeface="Aptos"/>
              </a:rPr>
              <a:t>Input: the user answers plain questions.
Processing: FastAPI calls the rule engine on the committed PMFME rule pack.
Output: the app returns a verdict, cited clauses, and a grounded explanation.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87568" y="4828032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10" b="0" i="1">
                <a:solidFill>
                  <a:srgbClr val="55637D"/>
                </a:solidFill>
                <a:latin typeface="Aptos"/>
              </a:rPr>
              <a:t>If time allows, also show optional login/profile saving.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228600"/>
            <a:ext cx="475488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8046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B2A44"/>
                </a:solidFill>
                <a:latin typeface="Georgia"/>
              </a:rPr>
              <a:t>Use case diagrams 1–2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868680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8C96AA"/>
                </a:solidFill>
                <a:latin typeface="Aptos"/>
              </a:rPr>
              <a:t>CITIZEN FLOW + QUESTION ANSWERING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402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19" b="0" i="0">
                <a:solidFill>
                  <a:srgbClr val="8C96AA"/>
                </a:solidFill>
                <a:latin typeface="Aptos"/>
              </a:rPr>
              <a:t>GovAssist · UCS503 Prototype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6236208"/>
            <a:ext cx="502920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71048" y="62910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30" b="0" i="0">
                <a:solidFill>
                  <a:srgbClr val="8C96AA"/>
                </a:solidFill>
                <a:latin typeface="Aptos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9" b="1" i="0">
                <a:solidFill>
                  <a:srgbClr val="8C96AA"/>
                </a:solidFill>
                <a:latin typeface="Aptos"/>
              </a:rPr>
              <a:t>UC-01 CHECK ELIGIBILITY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29968"/>
            <a:ext cx="310896" cy="310896"/>
          </a:xfrm>
          <a:prstGeom prst="ellipse">
            <a:avLst/>
          </a:prstGeom>
          <a:noFill/>
          <a:ln w="15240">
            <a:solidFill>
              <a:srgbClr val="1B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86968" y="2340864"/>
            <a:ext cx="0" cy="530352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" y="2551176"/>
            <a:ext cx="457200" cy="0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76656" y="2871216"/>
            <a:ext cx="210312" cy="329184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6968" y="2871216"/>
            <a:ext cx="210312" cy="329184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328416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5637D"/>
                </a:solidFill>
                <a:latin typeface="Aptos"/>
              </a:rPr>
              <a:t>Applicant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0" y="1755648"/>
            <a:ext cx="365760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1828800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1" i="0">
                <a:solidFill>
                  <a:srgbClr val="8C96AA"/>
                </a:solidFill>
                <a:latin typeface="Aptos"/>
              </a:rPr>
              <a:t>GovAssist eligibility assistant</a:t>
            </a:r>
          </a:p>
        </p:txBody>
      </p:sp>
      <p:sp>
        <p:nvSpPr>
          <p:cNvPr id="18" name="Oval 17"/>
          <p:cNvSpPr/>
          <p:nvPr/>
        </p:nvSpPr>
        <p:spPr>
          <a:xfrm>
            <a:off x="2121408" y="2084831"/>
            <a:ext cx="2606040" cy="40233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B83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B83C2E"/>
                </a:solidFill>
                <a:latin typeface="Aptos"/>
              </a:rPr>
              <a:t>Start scheme check</a:t>
            </a:r>
          </a:p>
        </p:txBody>
      </p:sp>
      <p:sp>
        <p:nvSpPr>
          <p:cNvPr id="19" name="Oval 18"/>
          <p:cNvSpPr/>
          <p:nvPr/>
        </p:nvSpPr>
        <p:spPr>
          <a:xfrm>
            <a:off x="2121408" y="2670048"/>
            <a:ext cx="260604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Answer guided questions</a:t>
            </a:r>
          </a:p>
        </p:txBody>
      </p:sp>
      <p:sp>
        <p:nvSpPr>
          <p:cNvPr id="20" name="Oval 19"/>
          <p:cNvSpPr/>
          <p:nvPr/>
        </p:nvSpPr>
        <p:spPr>
          <a:xfrm>
            <a:off x="2121408" y="3255264"/>
            <a:ext cx="260604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Receive verdict</a:t>
            </a:r>
          </a:p>
        </p:txBody>
      </p:sp>
      <p:sp>
        <p:nvSpPr>
          <p:cNvPr id="21" name="Oval 20"/>
          <p:cNvSpPr/>
          <p:nvPr/>
        </p:nvSpPr>
        <p:spPr>
          <a:xfrm>
            <a:off x="2121408" y="3840480"/>
            <a:ext cx="260604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View cited clauses</a:t>
            </a:r>
          </a:p>
        </p:txBody>
      </p:sp>
      <p:sp>
        <p:nvSpPr>
          <p:cNvPr id="22" name="Oval 21"/>
          <p:cNvSpPr/>
          <p:nvPr/>
        </p:nvSpPr>
        <p:spPr>
          <a:xfrm>
            <a:off x="3858768" y="4498848"/>
            <a:ext cx="114300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Apply rule pack</a:t>
            </a:r>
          </a:p>
        </p:txBody>
      </p:sp>
      <p:sp>
        <p:nvSpPr>
          <p:cNvPr id="23" name="Oval 22"/>
          <p:cNvSpPr/>
          <p:nvPr/>
        </p:nvSpPr>
        <p:spPr>
          <a:xfrm>
            <a:off x="1874519" y="4498848"/>
            <a:ext cx="132588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Resolve evidence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1307592" y="2286000"/>
            <a:ext cx="813816" cy="365760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07592" y="2651760"/>
            <a:ext cx="813816" cy="219456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307592" y="2651760"/>
            <a:ext cx="813816" cy="804672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07592" y="2651760"/>
            <a:ext cx="813816" cy="1389888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2542032" y="4242816"/>
            <a:ext cx="886968" cy="457200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651760" y="4352544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8C96AA"/>
                </a:solidFill>
                <a:latin typeface="Aptos"/>
              </a:rPr>
              <a:t>&lt;&lt;include&gt;&gt;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429000" y="3657600"/>
            <a:ext cx="429768" cy="1042416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703320" y="4041648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8C96AA"/>
                </a:solidFill>
                <a:latin typeface="Aptos"/>
              </a:rPr>
              <a:t>&lt;&lt;include&gt;&gt;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1426464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9" b="1" i="0">
                <a:solidFill>
                  <a:srgbClr val="8C96AA"/>
                </a:solidFill>
                <a:latin typeface="Aptos"/>
              </a:rPr>
              <a:t>UC-02 ASK SCHEME QUESTION</a:t>
            </a:r>
          </a:p>
        </p:txBody>
      </p:sp>
      <p:sp>
        <p:nvSpPr>
          <p:cNvPr id="33" name="Oval 32"/>
          <p:cNvSpPr/>
          <p:nvPr/>
        </p:nvSpPr>
        <p:spPr>
          <a:xfrm>
            <a:off x="5797296" y="2029968"/>
            <a:ext cx="310896" cy="310896"/>
          </a:xfrm>
          <a:prstGeom prst="ellipse">
            <a:avLst/>
          </a:prstGeom>
          <a:noFill/>
          <a:ln w="15240">
            <a:solidFill>
              <a:srgbClr val="1B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952744" y="2340864"/>
            <a:ext cx="0" cy="530352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724144" y="2551176"/>
            <a:ext cx="457200" cy="0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5742432" y="2871216"/>
            <a:ext cx="210312" cy="329184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52744" y="2871216"/>
            <a:ext cx="210312" cy="329184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14416" y="3328416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5637D"/>
                </a:solidFill>
                <a:latin typeface="Aptos"/>
              </a:rPr>
              <a:t>Applicant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20840" y="1755648"/>
            <a:ext cx="365760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0" y="1828800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1" i="0">
                <a:solidFill>
                  <a:srgbClr val="8C96AA"/>
                </a:solidFill>
                <a:latin typeface="Aptos"/>
              </a:rPr>
              <a:t>GovAssist Q&amp;A assistant</a:t>
            </a:r>
          </a:p>
        </p:txBody>
      </p:sp>
      <p:sp>
        <p:nvSpPr>
          <p:cNvPr id="41" name="Oval 40"/>
          <p:cNvSpPr/>
          <p:nvPr/>
        </p:nvSpPr>
        <p:spPr>
          <a:xfrm>
            <a:off x="7178040" y="2084831"/>
            <a:ext cx="2697480" cy="40233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B83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B83C2E"/>
                </a:solidFill>
                <a:latin typeface="Aptos"/>
              </a:rPr>
              <a:t>Ask natural-language question</a:t>
            </a:r>
          </a:p>
        </p:txBody>
      </p:sp>
      <p:sp>
        <p:nvSpPr>
          <p:cNvPr id="42" name="Oval 41"/>
          <p:cNvSpPr/>
          <p:nvPr/>
        </p:nvSpPr>
        <p:spPr>
          <a:xfrm>
            <a:off x="7178040" y="2670048"/>
            <a:ext cx="269748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Retrieve relevant clauses</a:t>
            </a:r>
          </a:p>
        </p:txBody>
      </p:sp>
      <p:sp>
        <p:nvSpPr>
          <p:cNvPr id="43" name="Oval 42"/>
          <p:cNvSpPr/>
          <p:nvPr/>
        </p:nvSpPr>
        <p:spPr>
          <a:xfrm>
            <a:off x="7178040" y="3255264"/>
            <a:ext cx="269748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Draft explanation</a:t>
            </a:r>
          </a:p>
        </p:txBody>
      </p:sp>
      <p:sp>
        <p:nvSpPr>
          <p:cNvPr id="44" name="Oval 43"/>
          <p:cNvSpPr/>
          <p:nvPr/>
        </p:nvSpPr>
        <p:spPr>
          <a:xfrm>
            <a:off x="7178040" y="3840480"/>
            <a:ext cx="269748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Verify supported claims</a:t>
            </a:r>
          </a:p>
        </p:txBody>
      </p:sp>
      <p:sp>
        <p:nvSpPr>
          <p:cNvPr id="45" name="Oval 44"/>
          <p:cNvSpPr/>
          <p:nvPr/>
        </p:nvSpPr>
        <p:spPr>
          <a:xfrm>
            <a:off x="7498079" y="4498848"/>
            <a:ext cx="205740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Read cited answer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6373368" y="2286000"/>
            <a:ext cx="804672" cy="365760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373368" y="2651760"/>
            <a:ext cx="804672" cy="219456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373368" y="2651760"/>
            <a:ext cx="804672" cy="804672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373368" y="2651760"/>
            <a:ext cx="804672" cy="1389888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373368" y="2651760"/>
            <a:ext cx="804672" cy="2048256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522208" y="3657600"/>
            <a:ext cx="0" cy="841248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229600" y="3986784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8C96AA"/>
                </a:solidFill>
                <a:latin typeface="Aptos"/>
              </a:rPr>
              <a:t>&lt;&lt;include&gt;&gt;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522208" y="3072384"/>
            <a:ext cx="0" cy="768096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229600" y="3419856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8C96AA"/>
                </a:solidFill>
                <a:latin typeface="Aptos"/>
              </a:rPr>
              <a:t>&lt;&lt;include&gt;&gt;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228600"/>
            <a:ext cx="475488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8046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B2A44"/>
                </a:solidFill>
                <a:latin typeface="Georgia"/>
              </a:rPr>
              <a:t>Use case diagrams 3–4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868680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8C96AA"/>
                </a:solidFill>
                <a:latin typeface="Aptos"/>
              </a:rPr>
              <a:t>OPTIONAL ACCOUNT + CORPUS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402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19" b="0" i="0">
                <a:solidFill>
                  <a:srgbClr val="8C96AA"/>
                </a:solidFill>
                <a:latin typeface="Aptos"/>
              </a:rPr>
              <a:t>GovAssist · UCS503 Prototype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6236208"/>
            <a:ext cx="502920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71048" y="62910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30" b="0" i="0">
                <a:solidFill>
                  <a:srgbClr val="8C96AA"/>
                </a:solidFill>
                <a:latin typeface="Apto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9" b="1" i="0">
                <a:solidFill>
                  <a:srgbClr val="8C96AA"/>
                </a:solidFill>
                <a:latin typeface="Aptos"/>
              </a:rPr>
              <a:t>UC-03 SAVE PROFILE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029968"/>
            <a:ext cx="310896" cy="310896"/>
          </a:xfrm>
          <a:prstGeom prst="ellipse">
            <a:avLst/>
          </a:prstGeom>
          <a:noFill/>
          <a:ln w="15240">
            <a:solidFill>
              <a:srgbClr val="1B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86968" y="2340864"/>
            <a:ext cx="0" cy="530352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" y="2551176"/>
            <a:ext cx="457200" cy="0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76656" y="2871216"/>
            <a:ext cx="210312" cy="329184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6968" y="2871216"/>
            <a:ext cx="210312" cy="329184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328416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5637D"/>
                </a:solidFill>
                <a:latin typeface="Aptos"/>
              </a:rPr>
              <a:t>Registered
user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0" y="1755648"/>
            <a:ext cx="365760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1828800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1" i="0">
                <a:solidFill>
                  <a:srgbClr val="8C96AA"/>
                </a:solidFill>
                <a:latin typeface="Aptos"/>
              </a:rPr>
              <a:t>GovAssist account module</a:t>
            </a:r>
          </a:p>
        </p:txBody>
      </p:sp>
      <p:sp>
        <p:nvSpPr>
          <p:cNvPr id="18" name="Oval 17"/>
          <p:cNvSpPr/>
          <p:nvPr/>
        </p:nvSpPr>
        <p:spPr>
          <a:xfrm>
            <a:off x="2121408" y="2084831"/>
            <a:ext cx="2606040" cy="40233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B83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B83C2E"/>
                </a:solidFill>
                <a:latin typeface="Aptos"/>
              </a:rPr>
              <a:t>Register / login</a:t>
            </a:r>
          </a:p>
        </p:txBody>
      </p:sp>
      <p:sp>
        <p:nvSpPr>
          <p:cNvPr id="19" name="Oval 18"/>
          <p:cNvSpPr/>
          <p:nvPr/>
        </p:nvSpPr>
        <p:spPr>
          <a:xfrm>
            <a:off x="2121408" y="2670048"/>
            <a:ext cx="260604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Save answers to profile</a:t>
            </a:r>
          </a:p>
        </p:txBody>
      </p:sp>
      <p:sp>
        <p:nvSpPr>
          <p:cNvPr id="20" name="Oval 19"/>
          <p:cNvSpPr/>
          <p:nvPr/>
        </p:nvSpPr>
        <p:spPr>
          <a:xfrm>
            <a:off x="2121408" y="3255264"/>
            <a:ext cx="260604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Load saved profile</a:t>
            </a:r>
          </a:p>
        </p:txBody>
      </p:sp>
      <p:sp>
        <p:nvSpPr>
          <p:cNvPr id="21" name="Oval 20"/>
          <p:cNvSpPr/>
          <p:nvPr/>
        </p:nvSpPr>
        <p:spPr>
          <a:xfrm>
            <a:off x="2121408" y="3840480"/>
            <a:ext cx="260604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Continue later</a:t>
            </a:r>
          </a:p>
        </p:txBody>
      </p:sp>
      <p:sp>
        <p:nvSpPr>
          <p:cNvPr id="22" name="Oval 21"/>
          <p:cNvSpPr/>
          <p:nvPr/>
        </p:nvSpPr>
        <p:spPr>
          <a:xfrm>
            <a:off x="3822191" y="4498848"/>
            <a:ext cx="1261872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Auth + JWT</a:t>
            </a:r>
          </a:p>
        </p:txBody>
      </p:sp>
      <p:sp>
        <p:nvSpPr>
          <p:cNvPr id="23" name="Oval 22"/>
          <p:cNvSpPr/>
          <p:nvPr/>
        </p:nvSpPr>
        <p:spPr>
          <a:xfrm>
            <a:off x="1883664" y="4498848"/>
            <a:ext cx="1261872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Persist profile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1307592" y="2286000"/>
            <a:ext cx="813816" cy="365760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07592" y="2651760"/>
            <a:ext cx="813816" cy="219456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307592" y="2651760"/>
            <a:ext cx="813816" cy="804672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07592" y="2651760"/>
            <a:ext cx="813816" cy="1389888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29000" y="2706624"/>
            <a:ext cx="393191" cy="1993392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493008" y="3858768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8C96AA"/>
                </a:solidFill>
                <a:latin typeface="Aptos"/>
              </a:rPr>
              <a:t>&lt;&lt;include&gt;&gt;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2514600" y="3291840"/>
            <a:ext cx="914400" cy="1408176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788920" y="3840480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8C96AA"/>
                </a:solidFill>
                <a:latin typeface="Aptos"/>
              </a:rPr>
              <a:t>&lt;&lt;include&gt;&gt;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1426464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9" b="1" i="0">
                <a:solidFill>
                  <a:srgbClr val="8C96AA"/>
                </a:solidFill>
                <a:latin typeface="Aptos"/>
              </a:rPr>
              <a:t>UC-04 MAINTAIN SCHEME CORPUS</a:t>
            </a:r>
          </a:p>
        </p:txBody>
      </p:sp>
      <p:sp>
        <p:nvSpPr>
          <p:cNvPr id="33" name="Oval 32"/>
          <p:cNvSpPr/>
          <p:nvPr/>
        </p:nvSpPr>
        <p:spPr>
          <a:xfrm>
            <a:off x="5797296" y="2029968"/>
            <a:ext cx="310896" cy="310896"/>
          </a:xfrm>
          <a:prstGeom prst="ellipse">
            <a:avLst/>
          </a:prstGeom>
          <a:noFill/>
          <a:ln w="15240">
            <a:solidFill>
              <a:srgbClr val="1B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952744" y="2340864"/>
            <a:ext cx="0" cy="530352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724144" y="2551176"/>
            <a:ext cx="457200" cy="0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5742432" y="2871216"/>
            <a:ext cx="210312" cy="329184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52744" y="2871216"/>
            <a:ext cx="210312" cy="329184"/>
          </a:xfrm>
          <a:prstGeom prst="line">
            <a:avLst/>
          </a:prstGeom>
          <a:ln w="15240">
            <a:solidFill>
              <a:srgbClr val="1B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14416" y="3328416"/>
            <a:ext cx="731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5637D"/>
                </a:solidFill>
                <a:latin typeface="Aptos"/>
              </a:rPr>
              <a:t>Reviewer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20840" y="1755648"/>
            <a:ext cx="3657600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0" y="1828800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80" b="1" i="0">
                <a:solidFill>
                  <a:srgbClr val="8C96AA"/>
                </a:solidFill>
                <a:latin typeface="Aptos"/>
              </a:rPr>
              <a:t>Corpus build + review workflow</a:t>
            </a:r>
          </a:p>
        </p:txBody>
      </p:sp>
      <p:sp>
        <p:nvSpPr>
          <p:cNvPr id="41" name="Oval 40"/>
          <p:cNvSpPr/>
          <p:nvPr/>
        </p:nvSpPr>
        <p:spPr>
          <a:xfrm>
            <a:off x="7178040" y="2084831"/>
            <a:ext cx="2697480" cy="40233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B83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B83C2E"/>
                </a:solidFill>
                <a:latin typeface="Aptos"/>
              </a:rPr>
              <a:t>Ingest official PDF</a:t>
            </a:r>
          </a:p>
        </p:txBody>
      </p:sp>
      <p:sp>
        <p:nvSpPr>
          <p:cNvPr id="42" name="Oval 41"/>
          <p:cNvSpPr/>
          <p:nvPr/>
        </p:nvSpPr>
        <p:spPr>
          <a:xfrm>
            <a:off x="7178040" y="2670048"/>
            <a:ext cx="269748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Review extracted chunks</a:t>
            </a:r>
          </a:p>
        </p:txBody>
      </p:sp>
      <p:sp>
        <p:nvSpPr>
          <p:cNvPr id="43" name="Oval 42"/>
          <p:cNvSpPr/>
          <p:nvPr/>
        </p:nvSpPr>
        <p:spPr>
          <a:xfrm>
            <a:off x="7178040" y="3255264"/>
            <a:ext cx="269748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Validate exact spans</a:t>
            </a:r>
          </a:p>
        </p:txBody>
      </p:sp>
      <p:sp>
        <p:nvSpPr>
          <p:cNvPr id="44" name="Oval 43"/>
          <p:cNvSpPr/>
          <p:nvPr/>
        </p:nvSpPr>
        <p:spPr>
          <a:xfrm>
            <a:off x="7178040" y="3840480"/>
            <a:ext cx="2697480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Approve rule logic</a:t>
            </a:r>
          </a:p>
        </p:txBody>
      </p:sp>
      <p:sp>
        <p:nvSpPr>
          <p:cNvPr id="45" name="Oval 44"/>
          <p:cNvSpPr/>
          <p:nvPr/>
        </p:nvSpPr>
        <p:spPr>
          <a:xfrm>
            <a:off x="7479792" y="4498848"/>
            <a:ext cx="2084831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30" b="1">
                <a:solidFill>
                  <a:srgbClr val="1B2A44"/>
                </a:solidFill>
                <a:latin typeface="Aptos"/>
              </a:rPr>
              <a:t>Build rules / graph / clauses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6373368" y="2286000"/>
            <a:ext cx="804672" cy="365760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373368" y="2651760"/>
            <a:ext cx="804672" cy="219456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373368" y="2651760"/>
            <a:ext cx="804672" cy="804672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373368" y="2651760"/>
            <a:ext cx="804672" cy="1389888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373368" y="2651760"/>
            <a:ext cx="804672" cy="2048256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522208" y="4041648"/>
            <a:ext cx="0" cy="457200"/>
          </a:xfrm>
          <a:prstGeom prst="line">
            <a:avLst/>
          </a:prstGeom>
          <a:ln w="1397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229600" y="4187952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8C96AA"/>
                </a:solidFill>
                <a:latin typeface="Aptos"/>
              </a:rPr>
              <a:t>&lt;&lt;include&gt;&gt;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228600"/>
            <a:ext cx="475488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8046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B2A44"/>
                </a:solidFill>
                <a:latin typeface="Georgia"/>
              </a:rPr>
              <a:t>Sequence diagrams 1–2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868680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8C96AA"/>
                </a:solidFill>
                <a:latin typeface="Aptos"/>
              </a:rPr>
              <a:t>HOSTED PROTOTYPE + CORPUS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402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19" b="0" i="0">
                <a:solidFill>
                  <a:srgbClr val="8C96AA"/>
                </a:solidFill>
                <a:latin typeface="Aptos"/>
              </a:rPr>
              <a:t>GovAssist · UCS503 Prototype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6236208"/>
            <a:ext cx="502920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71048" y="62910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30" b="0" i="0">
                <a:solidFill>
                  <a:srgbClr val="8C96AA"/>
                </a:solidFill>
                <a:latin typeface="Aptos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53312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9" b="1" i="0">
                <a:solidFill>
                  <a:srgbClr val="8C96AA"/>
                </a:solidFill>
                <a:latin typeface="Aptos"/>
              </a:rPr>
              <a:t>SEQ-01 CORPUS BUILD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59" y="1664208"/>
            <a:ext cx="822960" cy="310896"/>
          </a:xfrm>
          <a:prstGeom prst="roundRect">
            <a:avLst/>
          </a:prstGeom>
          <a:solidFill>
            <a:srgbClr val="1B2A44"/>
          </a:solidFill>
          <a:ln w="12700">
            <a:solidFill>
              <a:srgbClr val="1B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Reviewer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828800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Scripts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40280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246120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PDF source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0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663440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Build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74920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77240" y="2304288"/>
            <a:ext cx="146304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2959" y="217627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choose guideline PDF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40280" y="2706624"/>
            <a:ext cx="141732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263140" y="2578608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fetch PDF + checksum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240280" y="3090672"/>
            <a:ext cx="141732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263140" y="2962656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PDF + text chunks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777240" y="3474720"/>
            <a:ext cx="1463040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59" y="3346703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review chunks + spans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240" y="3858768"/>
            <a:ext cx="146304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59" y="37307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approve clauses / rules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240280" y="4242816"/>
            <a:ext cx="283464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71800" y="4114800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build rules, graph, clauses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77240" y="4626864"/>
            <a:ext cx="4297680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240280" y="4498848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artifacts ready for demo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9011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90" b="0" i="1">
                <a:solidFill>
                  <a:srgbClr val="55637D"/>
                </a:solidFill>
                <a:latin typeface="Aptos"/>
              </a:rPr>
              <a:t>Purpose: show that the prototype is built from an official source, not invented on the fly.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7880" y="1353312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9" b="1" i="0">
                <a:solidFill>
                  <a:srgbClr val="8C96AA"/>
                </a:solidFill>
                <a:latin typeface="Aptos"/>
              </a:rPr>
              <a:t>SEQ-02 START ELIGIBILITY CHAT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13832" y="1664208"/>
            <a:ext cx="822960" cy="310896"/>
          </a:xfrm>
          <a:prstGeom prst="roundRect">
            <a:avLst/>
          </a:prstGeom>
          <a:solidFill>
            <a:srgbClr val="1B2A44"/>
          </a:solidFill>
          <a:ln w="12700">
            <a:solidFill>
              <a:srgbClr val="1B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User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925312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931151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Web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342631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385048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API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96528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738360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Rule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149840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925312" y="2304288"/>
            <a:ext cx="1417319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948172" y="217627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open hosted page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342631" y="2706624"/>
            <a:ext cx="1453897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383779" y="2578608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POST /chat {scheme,start}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796528" y="3090672"/>
            <a:ext cx="1353312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787384" y="2962656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decide(profile = {})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8796528" y="3474720"/>
            <a:ext cx="1353312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787384" y="3346703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INSUFFICIENT_INFO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7342631" y="3858768"/>
            <a:ext cx="1453897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83779" y="373075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next question + pending</a:t>
            </a:r>
          </a:p>
        </p:txBody>
      </p:sp>
      <p:cxnSp>
        <p:nvCxnSpPr>
          <p:cNvPr id="52" name="Connector 51"/>
          <p:cNvCxnSpPr/>
          <p:nvPr/>
        </p:nvCxnSpPr>
        <p:spPr>
          <a:xfrm flipH="1">
            <a:off x="5925312" y="4242816"/>
            <a:ext cx="1417319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948172" y="4114800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display plain question</a:t>
            </a:r>
          </a:p>
        </p:txBody>
      </p:sp>
      <p:cxnSp>
        <p:nvCxnSpPr>
          <p:cNvPr id="54" name="Connector 53"/>
          <p:cNvCxnSpPr/>
          <p:nvPr/>
        </p:nvCxnSpPr>
        <p:spPr>
          <a:xfrm flipH="1">
            <a:off x="5925312" y="4626864"/>
            <a:ext cx="1417319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948172" y="4498848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optionally speak prompt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228600"/>
            <a:ext cx="475488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8046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B2A44"/>
                </a:solidFill>
                <a:latin typeface="Georgia"/>
              </a:rPr>
              <a:t>Sequence diagrams 3–4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868680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8C96AA"/>
                </a:solidFill>
                <a:latin typeface="Aptos"/>
              </a:rPr>
              <a:t>VERDICT PATH + VERIFIED EXPLANATION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402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19" b="0" i="0">
                <a:solidFill>
                  <a:srgbClr val="8C96AA"/>
                </a:solidFill>
                <a:latin typeface="Aptos"/>
              </a:rPr>
              <a:t>GovAssist · UCS503 Prototype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6236208"/>
            <a:ext cx="502920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71048" y="62910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30" b="0" i="0">
                <a:solidFill>
                  <a:srgbClr val="8C96AA"/>
                </a:solidFill>
                <a:latin typeface="Aptos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53312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9" b="1" i="0">
                <a:solidFill>
                  <a:srgbClr val="8C96AA"/>
                </a:solidFill>
                <a:latin typeface="Aptos"/>
              </a:rPr>
              <a:t>SEQ-03 ANSWER UNTIL VERDICT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7" y="1664208"/>
            <a:ext cx="822960" cy="310896"/>
          </a:xfrm>
          <a:prstGeom prst="roundRect">
            <a:avLst/>
          </a:prstGeom>
          <a:solidFill>
            <a:srgbClr val="1B2A44"/>
          </a:solidFill>
          <a:ln w="12700">
            <a:solidFill>
              <a:srgbClr val="1B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User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801368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Web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12848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264407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API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75887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663440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Rule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74920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94959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Clauses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6440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9808" y="2286000"/>
            <a:ext cx="146304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95528" y="2157984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submit field answer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12848" y="2670048"/>
            <a:ext cx="1463039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258568" y="25420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POST /chat {profile}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75887" y="3054096"/>
            <a:ext cx="1399033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689604" y="2926079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decide(updated profile)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74920" y="3438144"/>
            <a:ext cx="73152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754879" y="3310127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resolve cited clauses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5074920" y="3822191"/>
            <a:ext cx="731520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754879" y="3694176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quotes + metadata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675887" y="4206240"/>
            <a:ext cx="1399033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689604" y="4078224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ELIGIBLE / NOT + citations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212848" y="4590288"/>
            <a:ext cx="1463039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258568" y="446227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verdict + profile summary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49808" y="4974336"/>
            <a:ext cx="1463040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95528" y="4846320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show result + evidence panel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1353312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9" b="1" i="0">
                <a:solidFill>
                  <a:srgbClr val="8C96AA"/>
                </a:solidFill>
                <a:latin typeface="Aptos"/>
              </a:rPr>
              <a:t>SEQ-04 COMPOSE AND VERIFY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1664208"/>
            <a:ext cx="822960" cy="310896"/>
          </a:xfrm>
          <a:prstGeom prst="roundRect">
            <a:avLst/>
          </a:prstGeom>
          <a:solidFill>
            <a:srgbClr val="1B2A44"/>
          </a:solidFill>
          <a:ln w="12700">
            <a:solidFill>
              <a:srgbClr val="1B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API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236208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251192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Composer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662672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686800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Verifier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098280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966960" y="166420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User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0378440" y="1975104"/>
            <a:ext cx="0" cy="3118104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236208" y="2286000"/>
            <a:ext cx="1426464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263640" y="2157984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verdict + citation set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662672" y="2670048"/>
            <a:ext cx="1435608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694675" y="25420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draft answer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7662672" y="3054096"/>
            <a:ext cx="1435608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694675" y="2926079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unsupported? retry once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662672" y="3438144"/>
            <a:ext cx="1435608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694675" y="3310127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revised grounded draft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6236208" y="3822191"/>
            <a:ext cx="2862072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981444" y="3694176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verified / fallback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236208" y="4443984"/>
            <a:ext cx="4142232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621524" y="4315968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answer + clause quote + verdict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4809744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90" b="0" i="1">
                <a:solidFill>
                  <a:srgbClr val="55637D"/>
                </a:solidFill>
                <a:latin typeface="Aptos"/>
              </a:rPr>
              <a:t>Key point: composer and verifier use the same evidence set produced by the rule engine.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228600"/>
            <a:ext cx="475488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8046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B2A44"/>
                </a:solidFill>
                <a:latin typeface="Georgia"/>
              </a:rPr>
              <a:t>Sequence diagram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868680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8C96AA"/>
                </a:solidFill>
                <a:latin typeface="Aptos"/>
              </a:rPr>
              <a:t>VOICE + LOCALIZATION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402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19" b="0" i="0">
                <a:solidFill>
                  <a:srgbClr val="8C96AA"/>
                </a:solidFill>
                <a:latin typeface="Aptos"/>
              </a:rPr>
              <a:t>GovAssist · UCS503 Prototype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6236208"/>
            <a:ext cx="502920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71048" y="62910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30" b="0" i="0">
                <a:solidFill>
                  <a:srgbClr val="8C96AA"/>
                </a:solidFill>
                <a:latin typeface="Aptos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371600"/>
            <a:ext cx="2560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69" b="1" i="0">
                <a:solidFill>
                  <a:srgbClr val="8C96AA"/>
                </a:solidFill>
                <a:latin typeface="Aptos"/>
              </a:rPr>
              <a:t>SEQ-05 HINDI VOICE INPUT AND SPEECH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55648"/>
            <a:ext cx="822960" cy="310896"/>
          </a:xfrm>
          <a:prstGeom prst="roundRect">
            <a:avLst/>
          </a:prstGeom>
          <a:solidFill>
            <a:srgbClr val="1B2A44"/>
          </a:solidFill>
          <a:ln w="12700">
            <a:solidFill>
              <a:srgbClr val="1B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User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2066543"/>
            <a:ext cx="0" cy="3118105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31720" y="175564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Web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2066543"/>
            <a:ext cx="0" cy="3118105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160520" y="175564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/transcribe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0" y="2066543"/>
            <a:ext cx="0" cy="3118105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989320" y="175564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/chat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00800" y="2066543"/>
            <a:ext cx="0" cy="3118105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818120" y="175564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Language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0" y="2066543"/>
            <a:ext cx="0" cy="3118105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555480" y="1755648"/>
            <a:ext cx="82296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55637D"/>
                </a:solidFill>
                <a:latin typeface="Aptos"/>
              </a:rPr>
              <a:t>Rule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966960" y="2066543"/>
            <a:ext cx="0" cy="3118105"/>
          </a:xfrm>
          <a:prstGeom prst="line">
            <a:avLst/>
          </a:prstGeom>
          <a:ln w="12700">
            <a:solidFill>
              <a:srgbClr val="C9CF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14400" y="2359152"/>
            <a:ext cx="182880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43000" y="2231136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record Hindi audio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43200" y="2743200"/>
            <a:ext cx="182880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971800" y="2615184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POST audio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2743200" y="3127248"/>
            <a:ext cx="1828800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971800" y="299923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transcribed text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743200" y="3511296"/>
            <a:ext cx="365760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86200" y="3383279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POST /chat {message, locale}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00800" y="3895344"/>
            <a:ext cx="182880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629400" y="3767328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protect entities + translate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0" y="4279392"/>
            <a:ext cx="356616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98079" y="4151376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decide eligibility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6400800" y="4663440"/>
            <a:ext cx="3566160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498079" y="4535424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verdict + citations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00800" y="5047488"/>
            <a:ext cx="1828800" cy="0"/>
          </a:xfrm>
          <a:prstGeom prst="line">
            <a:avLst/>
          </a:prstGeom>
          <a:ln w="15240">
            <a:solidFill>
              <a:srgbClr val="5563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629400" y="4919472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55637D"/>
                </a:solidFill>
                <a:latin typeface="Aptos"/>
              </a:rPr>
              <a:t>localize answer + speech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2743200" y="5431536"/>
            <a:ext cx="5486400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800600" y="5303520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localized response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914400" y="5815584"/>
            <a:ext cx="1828800" cy="0"/>
          </a:xfrm>
          <a:prstGeom prst="line">
            <a:avLst/>
          </a:prstGeom>
          <a:ln w="15240">
            <a:solidFill>
              <a:srgbClr val="8C96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143000" y="5687568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30" b="1" i="0">
                <a:solidFill>
                  <a:srgbClr val="8C96AA"/>
                </a:solidFill>
                <a:latin typeface="Aptos"/>
              </a:rPr>
              <a:t>display answer + play audio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65960" y="5980176"/>
            <a:ext cx="7040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Current boundary: voice input in Hindi/English; Punjabi/Tamil text localization is available, with graceful degradation if provider keys are missing.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1"/>
          </a:solidFill>
          <a:ln w="12700">
            <a:solidFill>
              <a:srgbClr val="F2F3F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28600"/>
            <a:ext cx="1097280" cy="0"/>
          </a:xfrm>
          <a:prstGeom prst="line">
            <a:avLst/>
          </a:prstGeom>
          <a:noFill/>
          <a:ln w="12700">
            <a:solidFill>
              <a:srgbClr val="E0E2DE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6446520"/>
            <a:ext cx="914400" cy="0"/>
          </a:xfrm>
          <a:prstGeom prst="line">
            <a:avLst/>
          </a:prstGeom>
          <a:noFill/>
          <a:ln w="12700">
            <a:solidFill>
              <a:srgbClr val="E0E2DE">
                <a:alpha val="6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108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B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class diagram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76072" y="841248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C96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TYPES AND RESPONSIBILITIES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281160" y="4206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30" dirty="0">
                <a:solidFill>
                  <a:srgbClr val="8C96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GovAssist · UCS503 Prototype</a:t>
            </a:r>
            <a:endParaRPr lang="en-US" sz="830" dirty="0"/>
          </a:p>
        </p:txBody>
      </p:sp>
      <p:sp>
        <p:nvSpPr>
          <p:cNvPr id="8" name="Shape 6"/>
          <p:cNvSpPr/>
          <p:nvPr/>
        </p:nvSpPr>
        <p:spPr>
          <a:xfrm>
            <a:off x="1417320" y="1920240"/>
            <a:ext cx="1371600" cy="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40680" y="1920240"/>
            <a:ext cx="1005840" cy="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452360" y="1920240"/>
            <a:ext cx="1005840" cy="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372600" y="1920240"/>
            <a:ext cx="777240" cy="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40680" y="3931920"/>
            <a:ext cx="0" cy="-118872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949440" y="3931920"/>
            <a:ext cx="2194560" cy="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372600" y="3931920"/>
            <a:ext cx="0" cy="-1188720"/>
          </a:xfrm>
          <a:prstGeom prst="line">
            <a:avLst/>
          </a:prstGeom>
          <a:noFill/>
          <a:ln w="12700">
            <a:solidFill>
              <a:srgbClr val="8C96AA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11480" y="114300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121615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ChatRequest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502920" y="1453896"/>
            <a:ext cx="1389888" cy="0"/>
          </a:xfrm>
          <a:prstGeom prst="line">
            <a:avLst/>
          </a:prstGeom>
          <a:noFill/>
          <a:ln w="12700">
            <a:solidFill>
              <a:srgbClr val="CED4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" y="153619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scheme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locale</a:t>
            </a:r>
            <a:endParaRPr lang="en-US" sz="670" dirty="0"/>
          </a:p>
        </p:txBody>
      </p:sp>
      <p:sp>
        <p:nvSpPr>
          <p:cNvPr id="19" name="Shape 17"/>
          <p:cNvSpPr/>
          <p:nvPr/>
        </p:nvSpPr>
        <p:spPr>
          <a:xfrm>
            <a:off x="2423160" y="114300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96312" y="121615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ChatResponse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2514600" y="1453896"/>
            <a:ext cx="1389888" cy="0"/>
          </a:xfrm>
          <a:prstGeom prst="line">
            <a:avLst/>
          </a:prstGeom>
          <a:noFill/>
          <a:ln w="12700">
            <a:solidFill>
              <a:srgbClr val="CED4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32888" y="153619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verdict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citations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speech</a:t>
            </a:r>
            <a:endParaRPr lang="en-US" sz="670" dirty="0"/>
          </a:p>
        </p:txBody>
      </p:sp>
      <p:sp>
        <p:nvSpPr>
          <p:cNvPr id="23" name="Shape 21"/>
          <p:cNvSpPr/>
          <p:nvPr/>
        </p:nvSpPr>
        <p:spPr>
          <a:xfrm>
            <a:off x="4434840" y="114300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07992" y="121615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RulePack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26280" y="1453896"/>
            <a:ext cx="1389888" cy="0"/>
          </a:xfrm>
          <a:prstGeom prst="line">
            <a:avLst/>
          </a:prstGeom>
          <a:noFill/>
          <a:ln w="12700">
            <a:solidFill>
              <a:srgbClr val="CED4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44568" y="153619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conditions[]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sources[]</a:t>
            </a:r>
            <a:endParaRPr lang="en-US" sz="670" dirty="0"/>
          </a:p>
        </p:txBody>
      </p:sp>
      <p:sp>
        <p:nvSpPr>
          <p:cNvPr id="27" name="Shape 25"/>
          <p:cNvSpPr/>
          <p:nvPr/>
        </p:nvSpPr>
        <p:spPr>
          <a:xfrm>
            <a:off x="6446520" y="114300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19672" y="121615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537960" y="1453896"/>
            <a:ext cx="1389888" cy="0"/>
          </a:xfrm>
          <a:prstGeom prst="line">
            <a:avLst/>
          </a:prstGeom>
          <a:noFill/>
          <a:ln w="12700">
            <a:solidFill>
              <a:srgbClr val="CED4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56248" y="153619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expr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reads[]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clause</a:t>
            </a:r>
            <a:endParaRPr lang="en-US" sz="670" dirty="0"/>
          </a:p>
        </p:txBody>
      </p:sp>
      <p:sp>
        <p:nvSpPr>
          <p:cNvPr id="31" name="Shape 29"/>
          <p:cNvSpPr/>
          <p:nvPr/>
        </p:nvSpPr>
        <p:spPr>
          <a:xfrm>
            <a:off x="8458200" y="114300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1B2A44"/>
          </a:solidFill>
          <a:ln w="12700">
            <a:solidFill>
              <a:srgbClr val="1B2A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31352" y="121615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RuleEngine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549640" y="1453896"/>
            <a:ext cx="1389888" cy="0"/>
          </a:xfrm>
          <a:prstGeom prst="line">
            <a:avLst/>
          </a:prstGeom>
          <a:noFill/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567928" y="153619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E7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load_rules()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E7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decide()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E7E6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known_attributes()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10149840" y="114300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222992" y="121615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EngineResult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10241280" y="1453896"/>
            <a:ext cx="1389888" cy="0"/>
          </a:xfrm>
          <a:prstGeom prst="line">
            <a:avLst/>
          </a:prstGeom>
          <a:noFill/>
          <a:ln w="12700">
            <a:solidFill>
              <a:srgbClr val="CED4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59568" y="153619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verdict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missing_attributes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citations</a:t>
            </a:r>
            <a:endParaRPr lang="en-US" sz="670" dirty="0"/>
          </a:p>
        </p:txBody>
      </p:sp>
      <p:sp>
        <p:nvSpPr>
          <p:cNvPr id="39" name="Shape 37"/>
          <p:cNvSpPr/>
          <p:nvPr/>
        </p:nvSpPr>
        <p:spPr>
          <a:xfrm>
            <a:off x="411480" y="393192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Citation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502920" y="4242816"/>
            <a:ext cx="1389888" cy="0"/>
          </a:xfrm>
          <a:prstGeom prst="line">
            <a:avLst/>
          </a:prstGeom>
          <a:noFill/>
          <a:ln w="12700">
            <a:solidFill>
              <a:srgbClr val="CED4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1208" y="432511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clause_id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quote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plain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</a:t>
            </a:r>
            <a:endParaRPr lang="en-US" sz="670" dirty="0"/>
          </a:p>
        </p:txBody>
      </p:sp>
      <p:sp>
        <p:nvSpPr>
          <p:cNvPr id="43" name="Shape 41"/>
          <p:cNvSpPr/>
          <p:nvPr/>
        </p:nvSpPr>
        <p:spPr>
          <a:xfrm>
            <a:off x="2423160" y="393192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96312" y="400507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LanguageService</a:t>
            </a:r>
            <a:endParaRPr lang="en-US" sz="880" dirty="0"/>
          </a:p>
        </p:txBody>
      </p:sp>
      <p:sp>
        <p:nvSpPr>
          <p:cNvPr id="45" name="Shape 43"/>
          <p:cNvSpPr/>
          <p:nvPr/>
        </p:nvSpPr>
        <p:spPr>
          <a:xfrm>
            <a:off x="2514600" y="4242816"/>
            <a:ext cx="1389888" cy="0"/>
          </a:xfrm>
          <a:prstGeom prst="line">
            <a:avLst/>
          </a:prstGeom>
          <a:noFill/>
          <a:ln w="12700">
            <a:solidFill>
              <a:srgbClr val="CED4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32888" y="432511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translate()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transcribe()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plan_speech()</a:t>
            </a:r>
            <a:endParaRPr lang="en-US" sz="670" dirty="0"/>
          </a:p>
        </p:txBody>
      </p:sp>
      <p:sp>
        <p:nvSpPr>
          <p:cNvPr id="47" name="Shape 45"/>
          <p:cNvSpPr/>
          <p:nvPr/>
        </p:nvSpPr>
        <p:spPr>
          <a:xfrm>
            <a:off x="4434840" y="393192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07992" y="400507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LLMProvider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4526280" y="4242816"/>
            <a:ext cx="1389888" cy="0"/>
          </a:xfrm>
          <a:prstGeom prst="line">
            <a:avLst/>
          </a:prstGeom>
          <a:noFill/>
          <a:ln w="12700">
            <a:solidFill>
              <a:srgbClr val="CED4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44568" y="432511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complete(prompt)</a:t>
            </a:r>
            <a:endParaRPr lang="en-US" sz="670" dirty="0"/>
          </a:p>
        </p:txBody>
      </p:sp>
      <p:sp>
        <p:nvSpPr>
          <p:cNvPr id="51" name="Shape 49"/>
          <p:cNvSpPr/>
          <p:nvPr/>
        </p:nvSpPr>
        <p:spPr>
          <a:xfrm>
            <a:off x="6446520" y="393192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19672" y="400507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Composer</a:t>
            </a:r>
            <a:endParaRPr lang="en-US" sz="880" dirty="0"/>
          </a:p>
        </p:txBody>
      </p:sp>
      <p:sp>
        <p:nvSpPr>
          <p:cNvPr id="53" name="Shape 51"/>
          <p:cNvSpPr/>
          <p:nvPr/>
        </p:nvSpPr>
        <p:spPr>
          <a:xfrm>
            <a:off x="6537960" y="4242816"/>
            <a:ext cx="1389888" cy="0"/>
          </a:xfrm>
          <a:prstGeom prst="line">
            <a:avLst/>
          </a:prstGeom>
          <a:noFill/>
          <a:ln w="12700">
            <a:solidFill>
              <a:srgbClr val="CED4C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56248" y="432511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draft_answer()</a:t>
            </a:r>
            <a:endParaRPr lang="en-US" sz="670" dirty="0"/>
          </a:p>
        </p:txBody>
      </p:sp>
      <p:sp>
        <p:nvSpPr>
          <p:cNvPr id="55" name="Shape 53"/>
          <p:cNvSpPr/>
          <p:nvPr/>
        </p:nvSpPr>
        <p:spPr>
          <a:xfrm>
            <a:off x="8458200" y="393192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31352" y="400507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Verifier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8549640" y="4242816"/>
            <a:ext cx="1389888" cy="0"/>
          </a:xfrm>
          <a:prstGeom prst="line">
            <a:avLst/>
          </a:prstGeom>
          <a:noFill/>
          <a:ln w="12700">
            <a:solidFill>
              <a:srgbClr val="CED4C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67928" y="432511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verify()</a:t>
            </a:r>
            <a:endParaRPr lang="en-US" sz="670" dirty="0"/>
          </a:p>
        </p:txBody>
      </p:sp>
      <p:sp>
        <p:nvSpPr>
          <p:cNvPr id="59" name="Shape 57"/>
          <p:cNvSpPr/>
          <p:nvPr/>
        </p:nvSpPr>
        <p:spPr>
          <a:xfrm>
            <a:off x="10149840" y="3931920"/>
            <a:ext cx="1572768" cy="941832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22992" y="4005072"/>
            <a:ext cx="14264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AuthUser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10241280" y="4242816"/>
            <a:ext cx="1389888" cy="0"/>
          </a:xfrm>
          <a:prstGeom prst="line">
            <a:avLst/>
          </a:prstGeom>
          <a:noFill/>
          <a:ln w="12700">
            <a:solidFill>
              <a:srgbClr val="CED4C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259568" y="4325112"/>
            <a:ext cx="1353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password_hash</a:t>
            </a:r>
            <a:endParaRPr lang="en-US" sz="670" dirty="0"/>
          </a:p>
          <a:p>
            <a:pPr algn="ctr" indent="0" marL="0">
              <a:buNone/>
            </a:pPr>
            <a:r>
              <a:rPr lang="en-US" sz="67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saved_profile</a:t>
            </a:r>
            <a:endParaRPr lang="en-US" sz="670" dirty="0"/>
          </a:p>
        </p:txBody>
      </p:sp>
      <p:sp>
        <p:nvSpPr>
          <p:cNvPr id="63" name="Text 61"/>
          <p:cNvSpPr/>
          <p:nvPr/>
        </p:nvSpPr>
        <p:spPr>
          <a:xfrm>
            <a:off x="11384280" y="644652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6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1"/>
          </a:solidFill>
          <a:ln w="12700">
            <a:solidFill>
              <a:srgbClr val="F2F3F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28600"/>
            <a:ext cx="1097280" cy="0"/>
          </a:xfrm>
          <a:prstGeom prst="line">
            <a:avLst/>
          </a:prstGeom>
          <a:noFill/>
          <a:ln w="12700">
            <a:solidFill>
              <a:srgbClr val="E0E2DE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35640" y="6446520"/>
            <a:ext cx="914400" cy="0"/>
          </a:xfrm>
          <a:prstGeom prst="line">
            <a:avLst/>
          </a:prstGeom>
          <a:noFill/>
          <a:ln w="12700">
            <a:solidFill>
              <a:srgbClr val="E0E2DE">
                <a:alpha val="6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108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B2A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integration and evidence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76072" y="841248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C96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DEMO SHOULD PROVE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281160" y="4206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30" dirty="0">
                <a:solidFill>
                  <a:srgbClr val="8C96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GovAssist · UCS503 Prototype</a:t>
            </a:r>
            <a:endParaRPr lang="en-US" sz="830" dirty="0"/>
          </a:p>
        </p:txBody>
      </p:sp>
      <p:sp>
        <p:nvSpPr>
          <p:cNvPr id="8" name="Text 6"/>
          <p:cNvSpPr/>
          <p:nvPr/>
        </p:nvSpPr>
        <p:spPr>
          <a:xfrm>
            <a:off x="777240" y="111556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strongest claim is not “we used AI”. It is: the system still returns verdicts and citations without any LLM key.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" y="1947672"/>
            <a:ext cx="99669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Frontend ↔ API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075688" y="189280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Next.js typed client calls FastAPI /chat and /transcribe.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4572000" y="187452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1947672"/>
            <a:ext cx="99669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↔ Corpus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870448" y="189280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 engine loads committed PMFME rules and clauses.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8366760" y="187452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8EB"/>
          </a:solidFill>
          <a:ln w="12700">
            <a:solidFill>
              <a:srgbClr val="8F6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39912" y="1947672"/>
            <a:ext cx="99669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6F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↔ Evidence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665208" y="189280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decisive condition resolves to source citations.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777240" y="329184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3364992"/>
            <a:ext cx="99669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↔ Verifier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075688" y="33101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Explanations are drafted, checked, recomposed once, then fallback if unverified.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4572000" y="329184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45152" y="3364992"/>
            <a:ext cx="99669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 ↔ DB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70448" y="33101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profile saving; /chat remains open for everyone.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8366760" y="329184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ED4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39912" y="3364992"/>
            <a:ext cx="996696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665208" y="33101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5563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Latest commits report 324 tests after user-facing question fixes.</a:t>
            </a:r>
            <a:endParaRPr lang="en-US" sz="1020" dirty="0"/>
          </a:p>
        </p:txBody>
      </p:sp>
      <p:sp>
        <p:nvSpPr>
          <p:cNvPr id="27" name="Shape 25"/>
          <p:cNvSpPr/>
          <p:nvPr/>
        </p:nvSpPr>
        <p:spPr>
          <a:xfrm>
            <a:off x="2011680" y="5349240"/>
            <a:ext cx="8183880" cy="512064"/>
          </a:xfrm>
          <a:prstGeom prst="roundRect">
            <a:avLst>
              <a:gd name="adj" fmla="val 10714"/>
            </a:avLst>
          </a:prstGeom>
          <a:solidFill>
            <a:srgbClr val="2F6B45"/>
          </a:solidFill>
          <a:ln w="12700">
            <a:solidFill>
              <a:srgbClr val="2F6B45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67712" y="5522976"/>
            <a:ext cx="7680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standard: show actual input, processing state, result, citation panel and at least one negative-path verdict.</a:t>
            </a:r>
            <a:endParaRPr lang="en-US" sz="1040" dirty="0"/>
          </a:p>
        </p:txBody>
      </p:sp>
      <p:sp>
        <p:nvSpPr>
          <p:cNvPr id="29" name="Text 27"/>
          <p:cNvSpPr/>
          <p:nvPr/>
        </p:nvSpPr>
        <p:spPr>
          <a:xfrm>
            <a:off x="11384280" y="6446520"/>
            <a:ext cx="228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C96A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93192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44"/>
                </a:solidFill>
                <a:latin typeface="Georgia"/>
              </a:rPr>
              <a:t>Status and next slice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804672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8C96AA"/>
                </a:solidFill>
                <a:latin typeface="Aptos"/>
              </a:rPr>
              <a:t>HONEST SCOPE · WHAT WORKS, WHAT DOES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08592" y="39319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80" b="0" i="0">
                <a:solidFill>
                  <a:srgbClr val="8C96AA"/>
                </a:solidFill>
                <a:latin typeface="Aptos"/>
              </a:rPr>
              <a:t>GovAssist · UCS503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0080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8C96AA"/>
                </a:solidFill>
                <a:latin typeface="Apto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B2A44"/>
                </a:solidFill>
                <a:latin typeface="Aptos"/>
              </a:rPr>
              <a:t>The prototype is strong when we show the integrated eligibility path. The clean boundary to state: one real scheme works; broader domains are future 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288036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2880360" cy="100584"/>
          </a:xfrm>
          <a:prstGeom prst="rect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B2A44"/>
                </a:solidFill>
                <a:latin typeface="Georgia"/>
              </a:rPr>
              <a:t>Complete 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" y="2770632"/>
            <a:ext cx="82296" cy="82296"/>
          </a:xfrm>
          <a:prstGeom prst="roundRect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269748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PMFME rule pack built from official guidelines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" y="3273552"/>
            <a:ext cx="82296" cy="82296"/>
          </a:xfrm>
          <a:prstGeom prst="roundRect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1288" y="320040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Question-by-question eligibility flow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" y="3776472"/>
            <a:ext cx="82296" cy="82296"/>
          </a:xfrm>
          <a:prstGeom prst="roundRect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61288" y="370332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Verdict + clause citations from committed 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" y="4279392"/>
            <a:ext cx="82296" cy="82296"/>
          </a:xfrm>
          <a:prstGeom prst="roundRect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1288" y="420624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Next.js frontend and FastAPI backend deployed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0520" y="1874519"/>
            <a:ext cx="288036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60520" y="1874519"/>
            <a:ext cx="2880360" cy="100584"/>
          </a:xfrm>
          <a:prstGeom prst="rect">
            <a:avLst/>
          </a:prstGeom>
          <a:solidFill>
            <a:srgbClr val="8F6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21488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B2A44"/>
                </a:solidFill>
                <a:latin typeface="Georgia"/>
              </a:rPr>
              <a:t>Limited now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3128" y="2770632"/>
            <a:ext cx="82296" cy="82296"/>
          </a:xfrm>
          <a:prstGeom prst="roundRect">
            <a:avLst/>
          </a:prstGeom>
          <a:solidFill>
            <a:srgbClr val="8F6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269748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Only one live scheme is wired into the demo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53128" y="3273552"/>
            <a:ext cx="82296" cy="82296"/>
          </a:xfrm>
          <a:prstGeom prst="roundRect">
            <a:avLst/>
          </a:prstGeom>
          <a:solidFill>
            <a:srgbClr val="8F6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320040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ITR/GST are intentionally not part of this MVP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53128" y="3776472"/>
            <a:ext cx="82296" cy="82296"/>
          </a:xfrm>
          <a:prstGeom prst="roundRect">
            <a:avLst/>
          </a:prstGeom>
          <a:solidFill>
            <a:srgbClr val="8F6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70332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Advanced graph retrieval paths are designed, not fully surfaced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53128" y="4279392"/>
            <a:ext cx="82296" cy="82296"/>
          </a:xfrm>
          <a:prstGeom prst="roundRect">
            <a:avLst/>
          </a:prstGeom>
          <a:solidFill>
            <a:srgbClr val="8F6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36008" y="420624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Provider-backed speech/explanation can degrade without keys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1874519"/>
            <a:ext cx="288036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35240" y="1874519"/>
            <a:ext cx="2880360" cy="100584"/>
          </a:xfrm>
          <a:prstGeom prst="rect">
            <a:avLst/>
          </a:prstGeom>
          <a:solidFill>
            <a:srgbClr val="A83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0" y="21488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B2A44"/>
                </a:solidFill>
                <a:latin typeface="Georgia"/>
              </a:rPr>
              <a:t>Next build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27848" y="2770632"/>
            <a:ext cx="82296" cy="82296"/>
          </a:xfrm>
          <a:prstGeom prst="roundRect">
            <a:avLst/>
          </a:prstGeom>
          <a:solidFill>
            <a:srgbClr val="A83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10727" y="269748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Add a second scheme and shared attribute registry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27848" y="3273552"/>
            <a:ext cx="82296" cy="82296"/>
          </a:xfrm>
          <a:prstGeom prst="roundRect">
            <a:avLst/>
          </a:prstGeom>
          <a:solidFill>
            <a:srgbClr val="A83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10727" y="320040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Route more question types through graph retrieval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27848" y="3776472"/>
            <a:ext cx="82296" cy="82296"/>
          </a:xfrm>
          <a:prstGeom prst="roundRect">
            <a:avLst/>
          </a:prstGeom>
          <a:solidFill>
            <a:srgbClr val="A83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10727" y="370332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Add document upload with PII redaction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27848" y="4279392"/>
            <a:ext cx="82296" cy="82296"/>
          </a:xfrm>
          <a:prstGeom prst="roundRect">
            <a:avLst/>
          </a:prstGeom>
          <a:solidFill>
            <a:srgbClr val="A83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10727" y="4206240"/>
            <a:ext cx="2057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37D"/>
                </a:solidFill>
                <a:latin typeface="Aptos"/>
              </a:rPr>
              <a:t>Improve provider reliability and demo caches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5715000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B2A44"/>
                </a:solidFill>
                <a:latin typeface="Aptos"/>
              </a:rPr>
              <a:t>Say this plainly in Q&amp;A: the demo proves one complete integrated path; it does not claim every future domain is already implemented.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3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9184" y="228600"/>
            <a:ext cx="475488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8046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B2A44"/>
                </a:solidFill>
                <a:latin typeface="Georgia"/>
              </a:rPr>
              <a:t>Member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868680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8C96AA"/>
                </a:solidFill>
                <a:latin typeface="Aptos"/>
              </a:rPr>
              <a:t>LOCATE YOUR CODE + THE EVIDENCE OF YOUR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402336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19" b="0" i="0">
                <a:solidFill>
                  <a:srgbClr val="8C96AA"/>
                </a:solidFill>
                <a:latin typeface="Aptos"/>
              </a:rPr>
              <a:t>GovAssist · UCS503 Prototype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6236208"/>
            <a:ext cx="502920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71048" y="6291072"/>
            <a:ext cx="320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830" b="0" i="0">
                <a:solidFill>
                  <a:srgbClr val="8C96AA"/>
                </a:solidFill>
                <a:latin typeface="Aptos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444752"/>
            <a:ext cx="2697480" cy="2852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38528" y="1664208"/>
            <a:ext cx="530352" cy="530352"/>
          </a:xfrm>
          <a:prstGeom prst="ellipse">
            <a:avLst/>
          </a:prstGeom>
          <a:solidFill>
            <a:srgbClr val="B83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2267712"/>
            <a:ext cx="23591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50" b="1" i="0">
                <a:solidFill>
                  <a:srgbClr val="1B2A44"/>
                </a:solidFill>
                <a:latin typeface="Georgia"/>
              </a:rPr>
              <a:t>Ronit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67004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5637D"/>
                </a:solidFill>
                <a:latin typeface="Aptos"/>
              </a:rPr>
              <a:t>Corpus, rule engine, agents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52728" y="3054096"/>
            <a:ext cx="1920240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3236976"/>
            <a:ext cx="23591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60" b="0" i="0">
                <a:solidFill>
                  <a:srgbClr val="8C96AA"/>
                </a:solidFill>
                <a:latin typeface="Aptos"/>
              </a:rPr>
              <a:t>data/scripts · api/rules · api/agents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1" y="3675887"/>
            <a:ext cx="23591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30" b="0" i="1">
                <a:solidFill>
                  <a:srgbClr val="55637D"/>
                </a:solidFill>
                <a:latin typeface="Aptos"/>
              </a:rPr>
              <a:t>Evidence: rule packs, agent flow, tests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0248" y="1444752"/>
            <a:ext cx="2697480" cy="2852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40096" y="1664208"/>
            <a:ext cx="530352" cy="530352"/>
          </a:xfrm>
          <a:prstGeom prst="ellipse">
            <a:avLst/>
          </a:prstGeom>
          <a:solidFill>
            <a:srgbClr val="1B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67712"/>
            <a:ext cx="23591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50" b="1" i="0">
                <a:solidFill>
                  <a:srgbClr val="1B2A44"/>
                </a:solidFill>
                <a:latin typeface="Georgia"/>
              </a:rPr>
              <a:t>Bhavneet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67004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5637D"/>
                </a:solidFill>
                <a:latin typeface="Aptos"/>
              </a:rPr>
              <a:t>Backend, auth, deployment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54296" y="3054096"/>
            <a:ext cx="1920240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236976"/>
            <a:ext cx="23591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60" b="0" i="0">
                <a:solidFill>
                  <a:srgbClr val="8C96AA"/>
                </a:solidFill>
                <a:latin typeface="Aptos"/>
              </a:rPr>
              <a:t>api/main.py · api/auth · api/db · docs/deploy.md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3675887"/>
            <a:ext cx="23591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30" b="0" i="1">
                <a:solidFill>
                  <a:srgbClr val="55637D"/>
                </a:solidFill>
                <a:latin typeface="Aptos"/>
              </a:rPr>
              <a:t>Evidence: auth routes, DB config, deploy docs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71816" y="1444752"/>
            <a:ext cx="2697480" cy="2852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F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741664" y="1664208"/>
            <a:ext cx="530352" cy="530352"/>
          </a:xfrm>
          <a:prstGeom prst="ellipse">
            <a:avLst/>
          </a:prstGeom>
          <a:solidFill>
            <a:srgbClr val="8F6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6408" y="2267712"/>
            <a:ext cx="23591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50" b="1" i="0">
                <a:solidFill>
                  <a:srgbClr val="1B2A44"/>
                </a:solidFill>
                <a:latin typeface="Georgia"/>
              </a:rPr>
              <a:t>Shreyas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72984" y="267004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5637D"/>
                </a:solidFill>
                <a:latin typeface="Aptos"/>
              </a:rPr>
              <a:t>Frontend, UX, integration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55864" y="3054096"/>
            <a:ext cx="1920240" cy="12700"/>
          </a:xfrm>
          <a:prstGeom prst="rect">
            <a:avLst/>
          </a:prstGeom>
          <a:solidFill>
            <a:srgbClr val="C9C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6408" y="3236976"/>
            <a:ext cx="23591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60" b="0" i="0">
                <a:solidFill>
                  <a:srgbClr val="8C96AA"/>
                </a:solidFill>
                <a:latin typeface="Aptos"/>
              </a:rPr>
              <a:t>web/components · web/lib/api.ts · demo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6408" y="3675887"/>
            <a:ext cx="23591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30" b="0" i="1">
                <a:solidFill>
                  <a:srgbClr val="55637D"/>
                </a:solidFill>
                <a:latin typeface="Aptos"/>
              </a:rPr>
              <a:t>Evidence: UI flow, API wiring, live demo path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468112"/>
            <a:ext cx="8503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19" b="1" i="0">
                <a:solidFill>
                  <a:srgbClr val="1B2A44"/>
                </a:solidFill>
                <a:latin typeface="Aptos"/>
              </a:rPr>
              <a:t>During Q&amp;A: each member should point to the relevant code, commits/tests/docs, and the deployed feature they worked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80467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8F6F27"/>
                </a:solidFill>
                <a:latin typeface="Aptos"/>
              </a:rPr>
              <a:t>CLOSING ARGUMENT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097280"/>
            <a:ext cx="1051560" cy="17780"/>
          </a:xfrm>
          <a:prstGeom prst="rect">
            <a:avLst/>
          </a:prstGeom>
          <a:solidFill>
            <a:srgbClr val="A837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572768"/>
            <a:ext cx="48006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Plain answers.
Deterministic decisions.
Traceable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3246120"/>
            <a:ext cx="4526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C6CCD8"/>
                </a:solidFill>
                <a:latin typeface="Aptos"/>
              </a:rPr>
              <a:t>GovAssist turns scheme eligibility from a PDF hunt into a checked conversation: ask, answer, verify, cite.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24528"/>
            <a:ext cx="4389120" cy="603504"/>
          </a:xfrm>
          <a:prstGeom prst="roundRect">
            <a:avLst/>
          </a:prstGeom>
          <a:solidFill>
            <a:srgbClr val="161C26"/>
          </a:solidFill>
          <a:ln w="12700">
            <a:solidFill>
              <a:srgbClr val="2B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41655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E7E3D7"/>
                </a:solidFill>
                <a:latin typeface="Aptos"/>
              </a:rPr>
              <a:t>The model explains. The rule pack decides. The citation proves.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960120"/>
            <a:ext cx="3703320" cy="4526280"/>
          </a:xfrm>
          <a:prstGeom prst="roundRect">
            <a:avLst/>
          </a:prstGeom>
          <a:solidFill>
            <a:srgbClr val="161C26"/>
          </a:solidFill>
          <a:ln w="12700">
            <a:solidFill>
              <a:srgbClr val="2B3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2984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1" i="0">
                <a:solidFill>
                  <a:srgbClr val="8C96AA"/>
                </a:solidFill>
                <a:latin typeface="Aptos"/>
              </a:rPr>
              <a:t>LIVE DEMO CHECK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1810512"/>
            <a:ext cx="164592" cy="164592"/>
          </a:xfrm>
          <a:prstGeom prst="roundRect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9480" y="177393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D9DEE8"/>
                </a:solidFill>
                <a:latin typeface="Aptos"/>
              </a:rPr>
              <a:t>Signed-out website opens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2286000"/>
            <a:ext cx="164592" cy="164592"/>
          </a:xfrm>
          <a:prstGeom prst="roundRect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2249424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D9DEE8"/>
                </a:solidFill>
                <a:latin typeface="Aptos"/>
              </a:rPr>
              <a:t>API health route responds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2761488"/>
            <a:ext cx="164592" cy="164592"/>
          </a:xfrm>
          <a:prstGeom prst="roundRect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24912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D9DEE8"/>
                </a:solidFill>
                <a:latin typeface="Aptos"/>
              </a:rPr>
              <a:t>One eligible flow completes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3236976"/>
            <a:ext cx="164592" cy="164592"/>
          </a:xfrm>
          <a:prstGeom prst="roundRect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20040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D9DEE8"/>
                </a:solidFill>
                <a:latin typeface="Aptos"/>
              </a:rPr>
              <a:t>One not-eligible flow completes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3712463"/>
            <a:ext cx="164592" cy="164592"/>
          </a:xfrm>
          <a:prstGeom prst="roundRect">
            <a:avLst/>
          </a:prstGeom>
          <a:solidFill>
            <a:srgbClr val="2F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675888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D9DEE8"/>
                </a:solidFill>
                <a:latin typeface="Aptos"/>
              </a:rPr>
              <a:t>Citations stay visible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4370832"/>
            <a:ext cx="2971800" cy="15240"/>
          </a:xfrm>
          <a:prstGeom prst="rect">
            <a:avLst/>
          </a:prstGeom>
          <a:solidFill>
            <a:srgbClr val="2B34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461772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E7E3D7"/>
                </a:solidFill>
                <a:latin typeface="Georgia"/>
              </a:rPr>
              <a:t>Q&amp;A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4965192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8C96AA"/>
                </a:solidFill>
                <a:latin typeface="Aptos"/>
              </a:rPr>
              <a:t>Show the code. Name the limits. Defend the architecture.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0080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8C96AA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TIET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GovAssist Prototype Pitch</dc:title>
  <dc:subject>UCS503 Prototype Presentation</dc:subject>
  <dc:creator>GovAssist Team</dc:creator>
  <cp:lastModifiedBy>GovAssist Team</cp:lastModifiedBy>
  <cp:revision>1</cp:revision>
  <dcterms:created xsi:type="dcterms:W3CDTF">2026-09-17T03:43:52Z</dcterms:created>
  <dcterms:modified xsi:type="dcterms:W3CDTF">2026-09-17T03:43:52Z</dcterms:modified>
</cp:coreProperties>
</file>