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3c7052b204585" /><Relationship Type="http://schemas.openxmlformats.org/officeDocument/2006/relationships/extended-properties" Target="/docProps/app.xml" Id="R0ad908ff6c9c4071" /><Relationship Type="http://schemas.openxmlformats.org/officeDocument/2006/relationships/officeDocument" Target="/ppt/presentation.xml" Id="Rb8a3e86a9c5749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6e6d4a52db4388"/>
  </p:sldMasterIdLst>
  <p:notesMasterIdLst>
    <p:notesMasterId xmlns:r="http://schemas.openxmlformats.org/officeDocument/2006/relationships" r:id="R82d1cb5e17ea4f1d"/>
  </p:notesMasterIdLst>
  <p:sldIdLst>
    <p:sldId xmlns:r="http://schemas.openxmlformats.org/officeDocument/2006/relationships" id="256" r:id="R231ba053762b418c"/>
    <p:sldId xmlns:r="http://schemas.openxmlformats.org/officeDocument/2006/relationships" id="257" r:id="R41c36b00aebf48bc"/>
    <p:sldId xmlns:r="http://schemas.openxmlformats.org/officeDocument/2006/relationships" id="258" r:id="Rbafae4a59e0e4b44"/>
    <p:sldId xmlns:r="http://schemas.openxmlformats.org/officeDocument/2006/relationships" id="259" r:id="R0b3243df8e8b4063"/>
    <p:sldId xmlns:r="http://schemas.openxmlformats.org/officeDocument/2006/relationships" id="260" r:id="R0f9c4e349e2b443c"/>
    <p:sldId xmlns:r="http://schemas.openxmlformats.org/officeDocument/2006/relationships" id="261" r:id="Rf92abd5f8c2b4af3"/>
    <p:sldId xmlns:r="http://schemas.openxmlformats.org/officeDocument/2006/relationships" id="262" r:id="R9012100d9e1747a2"/>
    <p:sldId xmlns:r="http://schemas.openxmlformats.org/officeDocument/2006/relationships" id="263" r:id="R192f7b5333fa4742"/>
    <p:sldId xmlns:r="http://schemas.openxmlformats.org/officeDocument/2006/relationships" id="264" r:id="R4f03e54b36154303"/>
    <p:sldId xmlns:r="http://schemas.openxmlformats.org/officeDocument/2006/relationships" id="265" r:id="Rfe751b875c794640"/>
    <p:sldId xmlns:r="http://schemas.openxmlformats.org/officeDocument/2006/relationships" id="266" r:id="R73c8507ff16945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656214bcfa405b" /><Relationship Type="http://schemas.openxmlformats.org/officeDocument/2006/relationships/slideMaster" Target="/ppt/slideMasters/slideMaster1.xml" Id="Rcd6e6d4a52db4388" /><Relationship Type="http://schemas.openxmlformats.org/officeDocument/2006/relationships/notesMaster" Target="/ppt/notesMasters/notesMaster1.xml" Id="R82d1cb5e17ea4f1d" /><Relationship Type="http://schemas.openxmlformats.org/officeDocument/2006/relationships/presProps" Target="/ppt/presProps.xml" Id="R3acec0be1cec4ed6" /><Relationship Type="http://schemas.openxmlformats.org/officeDocument/2006/relationships/viewProps" Target="/ppt/viewProps.xml" Id="Rae88c8b5d30b4967" /><Relationship Type="http://schemas.openxmlformats.org/officeDocument/2006/relationships/tableStyles" Target="/ppt/tableStyles.xml" Id="R37066140c4184c19" /><Relationship Type="http://schemas.openxmlformats.org/officeDocument/2006/relationships/slide" Target="/ppt/slides/slide1.xml" Id="R231ba053762b418c" /><Relationship Type="http://schemas.openxmlformats.org/officeDocument/2006/relationships/slide" Target="/ppt/slides/slide2.xml" Id="R41c36b00aebf48bc" /><Relationship Type="http://schemas.openxmlformats.org/officeDocument/2006/relationships/slide" Target="/ppt/slides/slide3.xml" Id="Rbafae4a59e0e4b44" /><Relationship Type="http://schemas.openxmlformats.org/officeDocument/2006/relationships/slide" Target="/ppt/slides/slide4.xml" Id="R0b3243df8e8b4063" /><Relationship Type="http://schemas.openxmlformats.org/officeDocument/2006/relationships/slide" Target="/ppt/slides/slide5.xml" Id="R0f9c4e349e2b443c" /><Relationship Type="http://schemas.openxmlformats.org/officeDocument/2006/relationships/slide" Target="/ppt/slides/slide6.xml" Id="Rf92abd5f8c2b4af3" /><Relationship Type="http://schemas.openxmlformats.org/officeDocument/2006/relationships/slide" Target="/ppt/slides/slide7.xml" Id="R9012100d9e1747a2" /><Relationship Type="http://schemas.openxmlformats.org/officeDocument/2006/relationships/slide" Target="/ppt/slides/slide8.xml" Id="R192f7b5333fa4742" /><Relationship Type="http://schemas.openxmlformats.org/officeDocument/2006/relationships/slide" Target="/ppt/slides/slide9.xml" Id="R4f03e54b36154303" /><Relationship Type="http://schemas.openxmlformats.org/officeDocument/2006/relationships/slide" Target="/ppt/slides/slide10.xml" Id="Rfe751b875c794640" /><Relationship Type="http://schemas.openxmlformats.org/officeDocument/2006/relationships/slide" Target="/ppt/slides/slide11.xml" Id="R73c8507ff16945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0d92d4610843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15da44a9e4d47" /><Relationship Type="http://schemas.openxmlformats.org/officeDocument/2006/relationships/notesMaster" Target="/ppt/notesMasters/notesMaster1.xml" Id="Rbeedddf4e634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f3573f72344e72" /><Relationship Type="http://schemas.openxmlformats.org/officeDocument/2006/relationships/notesMaster" Target="/ppt/notesMasters/notesMaster1.xml" Id="Rf9a679d1cd2a41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48e425eed740f9" /><Relationship Type="http://schemas.openxmlformats.org/officeDocument/2006/relationships/notesMaster" Target="/ppt/notesMasters/notesMaster1.xml" Id="R89e04078338c4e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eae8b1536b4f91" /><Relationship Type="http://schemas.openxmlformats.org/officeDocument/2006/relationships/notesMaster" Target="/ppt/notesMasters/notesMaster1.xml" Id="R1c63da9134cf49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682e23acc4f2e" /><Relationship Type="http://schemas.openxmlformats.org/officeDocument/2006/relationships/notesMaster" Target="/ppt/notesMasters/notesMaster1.xml" Id="Rf2ba111fccde42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73f3de8da74cd6" /><Relationship Type="http://schemas.openxmlformats.org/officeDocument/2006/relationships/notesMaster" Target="/ppt/notesMasters/notesMaster1.xml" Id="Rb978cbd85d7b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8409e28c8b47df" /><Relationship Type="http://schemas.openxmlformats.org/officeDocument/2006/relationships/notesMaster" Target="/ppt/notesMasters/notesMaster1.xml" Id="Ra5c7880847bf48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6ab22661154de6" /><Relationship Type="http://schemas.openxmlformats.org/officeDocument/2006/relationships/notesMaster" Target="/ppt/notesMasters/notesMaster1.xml" Id="Rb784bbf0469343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2ea7c886fe410c" /><Relationship Type="http://schemas.openxmlformats.org/officeDocument/2006/relationships/notesMaster" Target="/ppt/notesMasters/notesMaster1.xml" Id="R18b4e85630b749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ae89566943427b" /><Relationship Type="http://schemas.openxmlformats.org/officeDocument/2006/relationships/notesMaster" Target="/ppt/notesMasters/notesMaster1.xml" Id="Ra9926c3e33114c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4baad5f7ad42a6" /><Relationship Type="http://schemas.openxmlformats.org/officeDocument/2006/relationships/notesMaster" Target="/ppt/notesMasters/notesMaster1.xml" Id="R53a91ad8983949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Combined Software Grid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Four original project proposal decks supplied by the team.</a:t>
            </a:r>
          </a:p>
          <a:p xmlns:a="http://schemas.openxmlformats.org/drawingml/2006/main">
            <a:r>
              <a:t>- Teacher-provided Software Grid requirements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roles are leadership areas, not silos; requirements, testing, documentation, and demo are shared.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GovAssist.pptx, team slide.</a:t>
            </a:r>
          </a:p>
          <a:p xmlns:a="http://schemas.openxmlformats.org/drawingml/2006/main">
            <a:r>
              <a:t>- Teacher-provided Software Grid requirements screenshot, point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2. Problem and users; 3. What we will do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GovAssist.pptx, slides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4. Proposed system; 5. Validation; 6. Feasibility and risk. Language-model use is optional for wording; versioned rules and verification remain the source of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GovAssist.pptx, slides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2. Problem and users; 3. What we will do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SemesterWorkloadBalancer.pptx, slides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4. Proposed system; 5. Validation; 6. Feasibility and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SemesterWorkloadBalancer.pptx, slides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2. Problem and users; 3. What we will do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PlacementReadinessPlatform.pptx, slides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4. Proposed system; 5. Validation; 6. Feasibility and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PlacementReadinessPlatform.pptx, slides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2. Problem and users; 3. What we will do better.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LostAndFoundPortal.pptx, slides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4. Proposed system; 5. Validation; 6. Feasibility and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LostAndFoundPortal.pptx, slides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Software Grid coverage: 7. Ranking and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Four original project proposal decks supplied by the team.</a:t>
            </a:r>
          </a:p>
          <a:p xmlns:a="http://schemas.openxmlformats.org/drawingml/2006/main">
            <a:r>
              <a:t>- Teacher-provided Software Grid requirements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433d4d3f64d8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809b61315a4abc" /><Relationship Type="http://schemas.openxmlformats.org/officeDocument/2006/relationships/slideLayout" Target="/ppt/slideLayouts/slideLayout1.xml" Id="R2f55dbf8c55e4f2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55dbf8c55e4f2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83679f3ae46d0" /><Relationship Type="http://schemas.openxmlformats.org/officeDocument/2006/relationships/image" Target="/ppt/media/image.png" Id="R96dcfaffca09476d" /><Relationship Type="http://schemas.openxmlformats.org/officeDocument/2006/relationships/notesSlide" Target="/ppt/notesSlides/notesSlide1.xml" Id="Rfde685d5edcc49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78c07a0e14fbb" /><Relationship Type="http://schemas.openxmlformats.org/officeDocument/2006/relationships/image" Target="/ppt/media/image2.png" Id="R91d6305f3f374d07" /><Relationship Type="http://schemas.openxmlformats.org/officeDocument/2006/relationships/notesSlide" Target="/ppt/notesSlides/notesSlide2.xml" Id="R7722866a4fd642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ce520cc564f9e" /><Relationship Type="http://schemas.openxmlformats.org/officeDocument/2006/relationships/notesSlide" Target="/ppt/notesSlides/notesSlide3.xml" Id="Ref73c9878ca8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2b3e889c44ef1" /><Relationship Type="http://schemas.openxmlformats.org/officeDocument/2006/relationships/notesSlide" Target="/ppt/notesSlides/notesSlide4.xml" Id="Ra109f7c50c1641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93eca6485420e" /><Relationship Type="http://schemas.openxmlformats.org/officeDocument/2006/relationships/notesSlide" Target="/ppt/notesSlides/notesSlide5.xml" Id="R00bfac663eff4c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ac396540f4ce6" /><Relationship Type="http://schemas.openxmlformats.org/officeDocument/2006/relationships/notesSlide" Target="/ppt/notesSlides/notesSlide6.xml" Id="R6f82f3f2c3ba44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624c9a8744348" /><Relationship Type="http://schemas.openxmlformats.org/officeDocument/2006/relationships/notesSlide" Target="/ppt/notesSlides/notesSlide7.xml" Id="Rfb90bb4d5f4646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8009c3b6f4aa8" /><Relationship Type="http://schemas.openxmlformats.org/officeDocument/2006/relationships/notesSlide" Target="/ppt/notesSlides/notesSlide8.xml" Id="Rfd609fea8cc84f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1ec99c9dc4bbd" /><Relationship Type="http://schemas.openxmlformats.org/officeDocument/2006/relationships/notesSlide" Target="/ppt/notesSlides/notesSlide9.xml" Id="R85ee4003f9a74e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8d76ade174321" /><Relationship Type="http://schemas.openxmlformats.org/officeDocument/2006/relationships/notesSlide" Target="/ppt/notesSlides/notesSlide10.xml" Id="R81e5b6524a6b45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44695899d47a1" /><Relationship Type="http://schemas.openxmlformats.org/officeDocument/2006/relationships/image" Target="/ppt/media/image3.png" Id="R81d6c489a9f44ccf" /><Relationship Type="http://schemas.openxmlformats.org/officeDocument/2006/relationships/image" Target="/ppt/media/image4.png" Id="R8653200a25ae4748" /><Relationship Type="http://schemas.openxmlformats.org/officeDocument/2006/relationships/image" Target="/ppt/media/image5.png" Id="Rba0874a281564b85" /><Relationship Type="http://schemas.openxmlformats.org/officeDocument/2006/relationships/notesSlide" Target="/ppt/notesSlides/notesSlide11.xml" Id="R913cd994b69e46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C8BDA58-7725-4D43-A306-39B41EF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95A6B09-6D79-40A0-84A1-59FBED0E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55448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05A"/>
          </a:solidFill>
        </p:spPr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cfaffca0947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814" y="2172614"/>
            <a:ext cx="1141171" cy="1141171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F01313-25AA-4610-A967-6E1DB977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Software Grid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DBE2B59-AD10-406E-BC32-357C5921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78638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Four project proposals ranked for a one-semester build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677BCDF-18CF-47AF-9A3E-8D5E5BEE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9FB0DC"/>
                </a:solidFill>
                <a:latin typeface="Calibri"/>
                <a:ea typeface="Calibri"/>
                <a:cs typeface="Calibri"/>
              </a:rPr>
              <a:t>Software Engineering Course Project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026FB2F-C881-414A-876F-3E3E603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68112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Ronit   ·   Bhavneet   ·   Shreyas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F861F18-51D5-4233-8BEF-232D285A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9"/>
                </a:solidFill>
                <a:latin typeface="Calibri"/>
                <a:ea typeface="Calibri"/>
                <a:cs typeface="Calibri"/>
              </a:rPr>
              <a:t>Project Grid  |  1</a:t>
            </a:r>
          </a:p>
        </p:txBody>
      </p:sp>
    </p:spTree>
    <p:extLst>
      <p:ext uri="{BB962C8B-B14F-4D97-AF65-F5344CB8AC3E}">
        <p14:creationId xmlns:p14="http://schemas.microsoft.com/office/powerpoint/2010/main" val="1506720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99D07A-32EF-488F-AD38-2C59C3B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Our Team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73052D-FCDF-4A16-BD80-93F6C2AF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5156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Strengths, learning goals, ownership, and semester constraints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4A56CE2-17E1-4628-A328-BB60E84E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3520440" cy="338328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9FC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FC9023-BCED-4055-A958-123C7762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6305f3f37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0844" y="229514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C8FF25D-F0C2-4B7E-910F-BC6BFA7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Ronit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8E54BAF-3D3B-4A6A-ACA3-BEA1D17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616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Strength</a:t>
            </a:r>
          </a:p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Algorithms, AI/ML, retrieval, and evaluation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C3E766-1BA1-4255-83C2-BCC49540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971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Learning goal</a:t>
            </a:r>
          </a:p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Full-stack integration and reliable web delivery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33EB76C-5EB2-4ECF-92B4-337389CF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37360"/>
            <a:ext cx="3520440" cy="338328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9FC"/>
          </a:solidFill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D44CBCF-C03C-4574-B16C-C431E85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8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6305f3f37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1324" y="229514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D03086C-1C89-48CB-A6F0-5A5DD14D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15468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Bhavneet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2056CCA-9FF7-4894-979D-2ABA2CFD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6616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Strength</a:t>
            </a:r>
          </a:p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Backend engineering, databases, and APIs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F4AFE8E-5518-44EB-BB56-7C9F1112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343400"/>
            <a:ext cx="2971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Learning goal</a:t>
            </a:r>
          </a:p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Cloud deployment, CI/CD, and observability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43FA1CF-1B93-4E7E-A54E-636BDA51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737360"/>
            <a:ext cx="3520440" cy="338328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9FC"/>
          </a:solidFill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52712DE-0C23-4825-BEDF-AC31F93E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2057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6305f3f37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61804" y="229514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A5836158-5D44-4B43-93D7-EF73F0BF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15468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Shreyas</a:t>
            </a:r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E5D6094-A507-4B9F-A201-FEB422C8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2971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Strength</a:t>
            </a:r>
          </a:p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Frontend engineering, UI/UX, and requirements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17EE41C3-8871-40EC-BE18-27D394BA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343400"/>
            <a:ext cx="2971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Learning goal</a:t>
            </a:r>
          </a:p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Document extraction, evaluation, and system integration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739EBE50-7319-48C7-BAD2-10B30E09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7220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Constraint: three members · one semester · free-tier deployment · no dedicated GPU. Each lead owns a vertical slice; testing, documentation, and demo are shared.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BB84462-FD37-4079-9100-9E9025A7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Project Grid  |  2</a:t>
            </a:r>
          </a:p>
        </p:txBody>
      </p:sp>
    </p:spTree>
    <p:extLst>
      <p:ext uri="{BB962C8B-B14F-4D97-AF65-F5344CB8AC3E}">
        <p14:creationId xmlns:p14="http://schemas.microsoft.com/office/powerpoint/2010/main" val="133133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84CD19-424C-4CFD-97CB-F019449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1. GovAssist — Problem and New Work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2C5809-87AB-4E83-B379-DE61801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7F9F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F6F2B1B-D99E-43A6-9F9F-EBC8565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5919D2-651A-4015-9DC8-84344B3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Problem and users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9E7A1F4-C45F-477A-AF3B-6B38C5F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Citizens and small businesses struggle to map personal facts to current ITR, GST, and scheme rules.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Rules are fragmented, versioned, and difficult to interpret.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Users need an answer with evidence—not a confident guess.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B7286D-223E-4181-A10A-0D94C0F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New engineering and expected result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D15EC6-AC9D-4D11-ABDF-8A05F53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Versioned rule store with deterministic eligibility and ITR checks.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Router and retrieval pipeline locate the applicable clause.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Verification gate blocks unsupported answers.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Result: decision, reasoning, citation, and confidence.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D69A7C-5DCC-456B-B73D-7985B2F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GovAssist  |  3</a:t>
            </a:r>
          </a:p>
        </p:txBody>
      </p:sp>
    </p:spTree>
    <p:extLst>
      <p:ext uri="{BB962C8B-B14F-4D97-AF65-F5344CB8AC3E}">
        <p14:creationId xmlns:p14="http://schemas.microsoft.com/office/powerpoint/2010/main" val="1585659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13598B-DDAC-4049-9C4B-1849DEA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GovAssist — System, Validation and Risk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55ABBE6-A72F-443B-A16C-D7C3F8A0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GovAssist  |  4</a:t>
            </a:r>
          </a:p>
        </p:txBody>
      </p:sp>
      <p:sp>
        <p:nvSpPr>
          <p:cNvPr id="24" name="govassist-flow-label">
            <a:extLst xmlns:a="http://schemas.openxmlformats.org/drawingml/2006/main">
              <a:ext uri="{FF2B5EF4-FFF2-40B4-BE49-F238E27FC236}">
                <a16:creationId xmlns:a16="http://schemas.microsoft.com/office/drawing/2014/main" id="{0409DA3A-FB12-4D3C-BFCF-47DDE989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PROPOSED SYSTEM</a:t>
            </a:r>
          </a:p>
        </p:txBody>
      </p:sp>
      <p:sp>
        <p:nvSpPr>
          <p:cNvPr id="25" name="govassist-flow-anchor-1">
            <a:extLst xmlns:a="http://schemas.openxmlformats.org/drawingml/2006/main">
              <a:ext uri="{FF2B5EF4-FFF2-40B4-BE49-F238E27FC236}">
                <a16:creationId xmlns:a16="http://schemas.microsoft.com/office/drawing/2014/main" id="{CEF66FB9-C25F-45BF-B36B-22E6E875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govassist-flow-anchor-2">
            <a:extLst xmlns:a="http://schemas.openxmlformats.org/drawingml/2006/main">
              <a:ext uri="{FF2B5EF4-FFF2-40B4-BE49-F238E27FC236}">
                <a16:creationId xmlns:a16="http://schemas.microsoft.com/office/drawing/2014/main" id="{1DA644C2-B8F5-44EA-B78E-A3AD5D99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govassist-flow-anchor-3">
            <a:extLst xmlns:a="http://schemas.openxmlformats.org/drawingml/2006/main">
              <a:ext uri="{FF2B5EF4-FFF2-40B4-BE49-F238E27FC236}">
                <a16:creationId xmlns:a16="http://schemas.microsoft.com/office/drawing/2014/main" id="{FB4E6E5F-B107-4738-83DF-781ED1AD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govassist-flow-anchor-4">
            <a:extLst xmlns:a="http://schemas.openxmlformats.org/drawingml/2006/main">
              <a:ext uri="{FF2B5EF4-FFF2-40B4-BE49-F238E27FC236}">
                <a16:creationId xmlns:a16="http://schemas.microsoft.com/office/drawing/2014/main" id="{01D10436-5C78-4441-A5EC-3732DCB6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govassist-flow-anchor-5">
            <a:extLst xmlns:a="http://schemas.openxmlformats.org/drawingml/2006/main">
              <a:ext uri="{FF2B5EF4-FFF2-40B4-BE49-F238E27FC236}">
                <a16:creationId xmlns:a16="http://schemas.microsoft.com/office/drawing/2014/main" id="{CC9FB950-D575-4584-8B25-70C75536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4574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6863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9151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1440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sp>
        <p:nvSpPr>
          <p:cNvPr id="34" name="govassist-flow-step-1">
            <a:extLst xmlns:a="http://schemas.openxmlformats.org/drawingml/2006/main">
              <a:ext uri="{FF2B5EF4-FFF2-40B4-BE49-F238E27FC236}">
                <a16:creationId xmlns:a16="http://schemas.microsoft.com/office/drawing/2014/main" id="{012752DA-D9B8-4698-997E-C49EF84F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Question 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document</a:t>
            </a:r>
          </a:p>
        </p:txBody>
      </p:sp>
      <p:sp>
        <p:nvSpPr>
          <p:cNvPr id="35" name="govassist-flow-step-2">
            <a:extLst xmlns:a="http://schemas.openxmlformats.org/drawingml/2006/main">
              <a:ext uri="{FF2B5EF4-FFF2-40B4-BE49-F238E27FC236}">
                <a16:creationId xmlns:a16="http://schemas.microsoft.com/office/drawing/2014/main" id="{53624358-A39D-4F20-B675-21C90BC9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Extract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user facts</a:t>
            </a:r>
          </a:p>
        </p:txBody>
      </p:sp>
      <p:sp>
        <p:nvSpPr>
          <p:cNvPr id="36" name="govassist-flow-step-3">
            <a:extLst xmlns:a="http://schemas.openxmlformats.org/drawingml/2006/main">
              <a:ext uri="{FF2B5EF4-FFF2-40B4-BE49-F238E27FC236}">
                <a16:creationId xmlns:a16="http://schemas.microsoft.com/office/drawing/2014/main" id="{9F9897AC-F1CE-45F4-A6BE-81F0D78D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Route 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policy domain</a:t>
            </a:r>
          </a:p>
        </p:txBody>
      </p:sp>
      <p:sp>
        <p:nvSpPr>
          <p:cNvPr id="37" name="govassist-flow-step-4">
            <a:extLst xmlns:a="http://schemas.openxmlformats.org/drawingml/2006/main">
              <a:ext uri="{FF2B5EF4-FFF2-40B4-BE49-F238E27FC236}">
                <a16:creationId xmlns:a16="http://schemas.microsoft.com/office/drawing/2014/main" id="{7FD73346-AD31-4D69-9E18-42C3DB8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Apply versioned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rules</a:t>
            </a:r>
          </a:p>
        </p:txBody>
      </p:sp>
      <p:sp>
        <p:nvSpPr>
          <p:cNvPr id="38" name="govassist-flow-step-5">
            <a:extLst xmlns:a="http://schemas.openxmlformats.org/drawingml/2006/main">
              <a:ext uri="{FF2B5EF4-FFF2-40B4-BE49-F238E27FC236}">
                <a16:creationId xmlns:a16="http://schemas.microsoft.com/office/drawing/2014/main" id="{8C00ECCB-1DE9-4BCE-9EBD-C0FD40E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68"/>
          </a:solidFill>
          <a:ln xmlns:a="http://schemas.openxmlformats.org/drawingml/2006/main" w="11430">
            <a:solidFill>
              <a:srgbClr val="202B68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 and cite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answer</a:t>
            </a:r>
          </a:p>
        </p:txBody>
      </p:sp>
      <p:sp>
        <p:nvSpPr>
          <p:cNvPr id="39" name="govassist-flow-divider">
            <a:extLst xmlns:a="http://schemas.openxmlformats.org/drawingml/2006/main">
              <a:ext uri="{FF2B5EF4-FFF2-40B4-BE49-F238E27FC236}">
                <a16:creationId xmlns:a16="http://schemas.microsoft.com/office/drawing/2014/main" id="{D45CC884-E530-4AB1-8D6C-17839509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CE6"/>
            </a:solidFill>
            <a:prstDash val="solid"/>
          </a:ln>
        </p:spPr>
      </p:sp>
      <p:sp>
        <p:nvSpPr>
          <p:cNvPr id="40" name="govassist-column-divider-1">
            <a:extLst xmlns:a="http://schemas.openxmlformats.org/drawingml/2006/main">
              <a:ext uri="{FF2B5EF4-FFF2-40B4-BE49-F238E27FC236}">
                <a16:creationId xmlns:a16="http://schemas.microsoft.com/office/drawing/2014/main" id="{C7D826A2-936B-4C86-B9BE-96008D7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1" name="govassist-column-divider-2">
            <a:extLst xmlns:a="http://schemas.openxmlformats.org/drawingml/2006/main">
              <a:ext uri="{FF2B5EF4-FFF2-40B4-BE49-F238E27FC236}">
                <a16:creationId xmlns:a16="http://schemas.microsoft.com/office/drawing/2014/main" id="{F3308573-B31E-4293-A0C5-CFF323CD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2" name="govassist-accent-1">
            <a:extLst xmlns:a="http://schemas.openxmlformats.org/drawingml/2006/main">
              <a:ext uri="{FF2B5EF4-FFF2-40B4-BE49-F238E27FC236}">
                <a16:creationId xmlns:a16="http://schemas.microsoft.com/office/drawing/2014/main" id="{5AA1114F-4C7E-4CF5-B22B-E2DC101D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3" name="govassist-heading-1">
            <a:extLst xmlns:a="http://schemas.openxmlformats.org/drawingml/2006/main">
              <a:ext uri="{FF2B5EF4-FFF2-40B4-BE49-F238E27FC236}">
                <a16:creationId xmlns:a16="http://schemas.microsoft.com/office/drawing/2014/main" id="{18CFAD12-F58E-404D-9A0D-4B0F8AC1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Roles and deployment</a:t>
            </a:r>
          </a:p>
        </p:txBody>
      </p:sp>
      <p:sp>
        <p:nvSpPr>
          <p:cNvPr id="44" name="govassist-body-1">
            <a:extLst xmlns:a="http://schemas.openxmlformats.org/drawingml/2006/main">
              <a:ext uri="{FF2B5EF4-FFF2-40B4-BE49-F238E27FC236}">
                <a16:creationId xmlns:a16="http://schemas.microsoft.com/office/drawing/2014/main" id="{175AB30C-CF5A-439F-854A-448DC0EC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Ronit — rule engine and verifier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Bhavneet — APIs, data and security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Shreyas — UI, uploads and OCR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Responsive web app with a versioned rule repository.</a:t>
            </a:r>
          </a:p>
        </p:txBody>
      </p:sp>
      <p:sp>
        <p:nvSpPr>
          <p:cNvPr id="45" name="govassist-accent-2">
            <a:extLst xmlns:a="http://schemas.openxmlformats.org/drawingml/2006/main">
              <a:ext uri="{FF2B5EF4-FFF2-40B4-BE49-F238E27FC236}">
                <a16:creationId xmlns:a16="http://schemas.microsoft.com/office/drawing/2014/main" id="{3CF32970-9833-4CAD-AFD0-E6D3102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6" name="govassist-heading-2">
            <a:extLst xmlns:a="http://schemas.openxmlformats.org/drawingml/2006/main">
              <a:ext uri="{FF2B5EF4-FFF2-40B4-BE49-F238E27FC236}">
                <a16:creationId xmlns:a16="http://schemas.microsoft.com/office/drawing/2014/main" id="{7142688D-D2B3-491B-A216-FD8880D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Validation</a:t>
            </a:r>
          </a:p>
        </p:txBody>
      </p:sp>
      <p:sp>
        <p:nvSpPr>
          <p:cNvPr id="47" name="govassist-body-2">
            <a:extLst xmlns:a="http://schemas.openxmlformats.org/drawingml/2006/main">
              <a:ext uri="{FF2B5EF4-FFF2-40B4-BE49-F238E27FC236}">
                <a16:creationId xmlns:a16="http://schemas.microsoft.com/office/drawing/2014/main" id="{F8D60C3F-AD86-430A-911F-691885F0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Labelled ITR and scheme cases plus extraction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Measure decision accuracy, citation correctness and unsupported-claim rate; compare verifier on versus off.</a:t>
            </a:r>
          </a:p>
        </p:txBody>
      </p:sp>
      <p:sp>
        <p:nvSpPr>
          <p:cNvPr id="48" name="govassist-accent-3">
            <a:extLst xmlns:a="http://schemas.openxmlformats.org/drawingml/2006/main">
              <a:ext uri="{FF2B5EF4-FFF2-40B4-BE49-F238E27FC236}">
                <a16:creationId xmlns:a16="http://schemas.microsoft.com/office/drawing/2014/main" id="{8B049268-8AC7-48CC-BAE5-1F514909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9" name="govassist-heading-3">
            <a:extLst xmlns:a="http://schemas.openxmlformats.org/drawingml/2006/main">
              <a:ext uri="{FF2B5EF4-FFF2-40B4-BE49-F238E27FC236}">
                <a16:creationId xmlns:a16="http://schemas.microsoft.com/office/drawing/2014/main" id="{E0414402-E165-48E7-9FC4-7B958E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Feasibility, privacy and fallback</a:t>
            </a:r>
          </a:p>
        </p:txBody>
      </p:sp>
      <p:sp>
        <p:nvSpPr>
          <p:cNvPr id="50" name="govassist-body-3">
            <a:extLst xmlns:a="http://schemas.openxmlformats.org/drawingml/2006/main">
              <a:ext uri="{FF2B5EF4-FFF2-40B4-BE49-F238E27FC236}">
                <a16:creationId xmlns:a16="http://schemas.microsoft.com/office/drawing/2014/main" id="{98B69EB0-D795-4B48-A3A3-238A2515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3390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Risks: changing rules, sensitive data, poor scans and API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MVP: typed inputs, ITR selection and two schemes. If uncertain, abstain and link the official source.</a:t>
            </a:r>
          </a:p>
        </p:txBody>
      </p:sp>
    </p:spTree>
    <p:extLst>
      <p:ext uri="{BB962C8B-B14F-4D97-AF65-F5344CB8AC3E}">
        <p14:creationId xmlns:p14="http://schemas.microsoft.com/office/powerpoint/2010/main" val="672484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84CD19-424C-4CFD-97CB-F019449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2. Foresight — Problem and New Work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2C5809-87AB-4E83-B379-DE61801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7F9F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F6F2B1B-D99E-43A6-9F9F-EBC8565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5919D2-651A-4015-9DC8-84344B3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Problem and users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9E7A1F4-C45F-477A-AF3B-6B38C5F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Students manage parallel courses, but calendars show dates—not effort or capacity.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Deadlines collide and senior experience is lost each year.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Users: students planning work and coordinators reviewing cohort load.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B7286D-223E-4181-A10A-0D94C0F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New engineering and expected result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D15EC6-AC9D-4D11-ABDF-8A05F53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Historical effort dataset using medians and confidence.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Weekly load forecast and collision-risk score.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Constraint-aware scheduler moves only advanceable work.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Result: heatmap plus a feasible early-work plan.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D69A7C-5DCC-456B-B73D-7985B2F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Foresight  |  5</a:t>
            </a:r>
          </a:p>
        </p:txBody>
      </p:sp>
    </p:spTree>
    <p:extLst>
      <p:ext uri="{BB962C8B-B14F-4D97-AF65-F5344CB8AC3E}">
        <p14:creationId xmlns:p14="http://schemas.microsoft.com/office/powerpoint/2010/main" val="1585659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13598B-DDAC-4049-9C4B-1849DEA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Foresight — System, Validation and Risk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55ABBE6-A72F-443B-A16C-D7C3F8A0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Foresight  |  6</a:t>
            </a:r>
          </a:p>
        </p:txBody>
      </p:sp>
      <p:sp>
        <p:nvSpPr>
          <p:cNvPr id="24" name="foresight-flow-label">
            <a:extLst xmlns:a="http://schemas.openxmlformats.org/drawingml/2006/main">
              <a:ext uri="{FF2B5EF4-FFF2-40B4-BE49-F238E27FC236}">
                <a16:creationId xmlns:a16="http://schemas.microsoft.com/office/drawing/2014/main" id="{29F9E01C-F0ED-45C7-BB54-09ECDBE6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PROPOSED SYSTEM</a:t>
            </a:r>
          </a:p>
        </p:txBody>
      </p:sp>
      <p:sp>
        <p:nvSpPr>
          <p:cNvPr id="25" name="foresight-flow-anchor-1">
            <a:extLst xmlns:a="http://schemas.openxmlformats.org/drawingml/2006/main">
              <a:ext uri="{FF2B5EF4-FFF2-40B4-BE49-F238E27FC236}">
                <a16:creationId xmlns:a16="http://schemas.microsoft.com/office/drawing/2014/main" id="{9B6A8990-E846-4FFB-9B55-08F77C4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foresight-flow-anchor-2">
            <a:extLst xmlns:a="http://schemas.openxmlformats.org/drawingml/2006/main">
              <a:ext uri="{FF2B5EF4-FFF2-40B4-BE49-F238E27FC236}">
                <a16:creationId xmlns:a16="http://schemas.microsoft.com/office/drawing/2014/main" id="{7EBCC2AF-A8FF-46FE-8030-4A21C09E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foresight-flow-anchor-3">
            <a:extLst xmlns:a="http://schemas.openxmlformats.org/drawingml/2006/main">
              <a:ext uri="{FF2B5EF4-FFF2-40B4-BE49-F238E27FC236}">
                <a16:creationId xmlns:a16="http://schemas.microsoft.com/office/drawing/2014/main" id="{0888BC0C-EEB3-49E4-9554-51BF86A1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oresight-flow-anchor-4">
            <a:extLst xmlns:a="http://schemas.openxmlformats.org/drawingml/2006/main">
              <a:ext uri="{FF2B5EF4-FFF2-40B4-BE49-F238E27FC236}">
                <a16:creationId xmlns:a16="http://schemas.microsoft.com/office/drawing/2014/main" id="{B5E11290-D741-4EC2-8508-2459AF18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foresight-flow-anchor-5">
            <a:extLst xmlns:a="http://schemas.openxmlformats.org/drawingml/2006/main">
              <a:ext uri="{FF2B5EF4-FFF2-40B4-BE49-F238E27FC236}">
                <a16:creationId xmlns:a16="http://schemas.microsoft.com/office/drawing/2014/main" id="{0A491944-24F7-44CE-81A8-6A0EFD38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4574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6863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9151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1440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sp>
        <p:nvSpPr>
          <p:cNvPr id="34" name="foresight-flow-step-1">
            <a:extLst xmlns:a="http://schemas.openxmlformats.org/drawingml/2006/main">
              <a:ext uri="{FF2B5EF4-FFF2-40B4-BE49-F238E27FC236}">
                <a16:creationId xmlns:a16="http://schemas.microsoft.com/office/drawing/2014/main" id="{5772CD66-8822-4F03-B8E8-4637E18F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Courses, deadlines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and capacity</a:t>
            </a:r>
          </a:p>
        </p:txBody>
      </p:sp>
      <p:sp>
        <p:nvSpPr>
          <p:cNvPr id="35" name="foresight-flow-step-2">
            <a:extLst xmlns:a="http://schemas.openxmlformats.org/drawingml/2006/main">
              <a:ext uri="{FF2B5EF4-FFF2-40B4-BE49-F238E27FC236}">
                <a16:creationId xmlns:a16="http://schemas.microsoft.com/office/drawing/2014/main" id="{2D9E9FAA-4A76-42E7-A1CF-A462290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Historical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effort data</a:t>
            </a:r>
          </a:p>
        </p:txBody>
      </p:sp>
      <p:sp>
        <p:nvSpPr>
          <p:cNvPr id="36" name="foresight-flow-step-3">
            <a:extLst xmlns:a="http://schemas.openxmlformats.org/drawingml/2006/main">
              <a:ext uri="{FF2B5EF4-FFF2-40B4-BE49-F238E27FC236}">
                <a16:creationId xmlns:a16="http://schemas.microsoft.com/office/drawing/2014/main" id="{436EF253-35AC-457E-8560-420D3E21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Forecast weekly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workload</a:t>
            </a:r>
          </a:p>
        </p:txBody>
      </p:sp>
      <p:sp>
        <p:nvSpPr>
          <p:cNvPr id="37" name="foresight-flow-step-4">
            <a:extLst xmlns:a="http://schemas.openxmlformats.org/drawingml/2006/main">
              <a:ext uri="{FF2B5EF4-FFF2-40B4-BE49-F238E27FC236}">
                <a16:creationId xmlns:a16="http://schemas.microsoft.com/office/drawing/2014/main" id="{BAC5B99A-5ADC-40F9-9B90-DD29FE2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Detect overload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weeks</a:t>
            </a:r>
          </a:p>
        </p:txBody>
      </p:sp>
      <p:sp>
        <p:nvSpPr>
          <p:cNvPr id="38" name="foresight-flow-step-5">
            <a:extLst xmlns:a="http://schemas.openxmlformats.org/drawingml/2006/main">
              <a:ext uri="{FF2B5EF4-FFF2-40B4-BE49-F238E27FC236}">
                <a16:creationId xmlns:a16="http://schemas.microsoft.com/office/drawing/2014/main" id="{5DA57B5C-623D-4298-B2A4-7ADD7DF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68"/>
          </a:solidFill>
          <a:ln xmlns:a="http://schemas.openxmlformats.org/drawingml/2006/main" w="11430">
            <a:solidFill>
              <a:srgbClr val="202B68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 feasible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study plan</a:t>
            </a:r>
          </a:p>
        </p:txBody>
      </p:sp>
      <p:sp>
        <p:nvSpPr>
          <p:cNvPr id="39" name="foresight-flow-divider">
            <a:extLst xmlns:a="http://schemas.openxmlformats.org/drawingml/2006/main">
              <a:ext uri="{FF2B5EF4-FFF2-40B4-BE49-F238E27FC236}">
                <a16:creationId xmlns:a16="http://schemas.microsoft.com/office/drawing/2014/main" id="{9432836F-CAC2-449D-BA2E-5E7B6557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CE6"/>
            </a:solidFill>
            <a:prstDash val="solid"/>
          </a:ln>
        </p:spPr>
      </p:sp>
      <p:sp>
        <p:nvSpPr>
          <p:cNvPr id="40" name="foresight-column-divider-1">
            <a:extLst xmlns:a="http://schemas.openxmlformats.org/drawingml/2006/main">
              <a:ext uri="{FF2B5EF4-FFF2-40B4-BE49-F238E27FC236}">
                <a16:creationId xmlns:a16="http://schemas.microsoft.com/office/drawing/2014/main" id="{80370837-C76D-4A75-BD21-3103528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1" name="foresight-column-divider-2">
            <a:extLst xmlns:a="http://schemas.openxmlformats.org/drawingml/2006/main">
              <a:ext uri="{FF2B5EF4-FFF2-40B4-BE49-F238E27FC236}">
                <a16:creationId xmlns:a16="http://schemas.microsoft.com/office/drawing/2014/main" id="{15E9A155-1D72-4D8B-B6E7-18A507C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2" name="foresight-accent-1">
            <a:extLst xmlns:a="http://schemas.openxmlformats.org/drawingml/2006/main">
              <a:ext uri="{FF2B5EF4-FFF2-40B4-BE49-F238E27FC236}">
                <a16:creationId xmlns:a16="http://schemas.microsoft.com/office/drawing/2014/main" id="{F7A5C75F-5F85-40E9-9354-540E400A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3" name="foresight-heading-1">
            <a:extLst xmlns:a="http://schemas.openxmlformats.org/drawingml/2006/main">
              <a:ext uri="{FF2B5EF4-FFF2-40B4-BE49-F238E27FC236}">
                <a16:creationId xmlns:a16="http://schemas.microsoft.com/office/drawing/2014/main" id="{68B5DF55-94B2-444C-A2C1-C8A5D831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Roles and deployment</a:t>
            </a:r>
          </a:p>
        </p:txBody>
      </p:sp>
      <p:sp>
        <p:nvSpPr>
          <p:cNvPr id="44" name="foresight-body-1">
            <a:extLst xmlns:a="http://schemas.openxmlformats.org/drawingml/2006/main">
              <a:ext uri="{FF2B5EF4-FFF2-40B4-BE49-F238E27FC236}">
                <a16:creationId xmlns:a16="http://schemas.microsoft.com/office/drawing/2014/main" id="{375024D5-7A9D-487C-AC6C-B7D319DC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Ronit — predictor and scheduler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Bhavneet — course data and APIs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Shreyas — survey and heatmap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Web app with survey input and calendar import.</a:t>
            </a:r>
          </a:p>
        </p:txBody>
      </p:sp>
      <p:sp>
        <p:nvSpPr>
          <p:cNvPr id="45" name="foresight-accent-2">
            <a:extLst xmlns:a="http://schemas.openxmlformats.org/drawingml/2006/main">
              <a:ext uri="{FF2B5EF4-FFF2-40B4-BE49-F238E27FC236}">
                <a16:creationId xmlns:a16="http://schemas.microsoft.com/office/drawing/2014/main" id="{60836633-5339-4EF5-814F-65EFC3D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6" name="foresight-heading-2">
            <a:extLst xmlns:a="http://schemas.openxmlformats.org/drawingml/2006/main">
              <a:ext uri="{FF2B5EF4-FFF2-40B4-BE49-F238E27FC236}">
                <a16:creationId xmlns:a16="http://schemas.microsoft.com/office/drawing/2014/main" id="{C9D10FDA-7BF7-460C-BB3D-AE6F99FD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Validation</a:t>
            </a:r>
          </a:p>
        </p:txBody>
      </p:sp>
      <p:sp>
        <p:nvSpPr>
          <p:cNvPr id="47" name="foresight-body-2">
            <a:extLst xmlns:a="http://schemas.openxmlformats.org/drawingml/2006/main">
              <a:ext uri="{FF2B5EF4-FFF2-40B4-BE49-F238E27FC236}">
                <a16:creationId xmlns:a16="http://schemas.microsoft.com/office/drawing/2014/main" id="{F793ED73-865C-460B-865E-7131BAF0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Use 30–40 senior surveys and live effort logs.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Measure MAE in hours, overload precision/recall and workload reduction against a credit-hours baseline.</a:t>
            </a:r>
          </a:p>
        </p:txBody>
      </p:sp>
      <p:sp>
        <p:nvSpPr>
          <p:cNvPr id="48" name="foresight-accent-3">
            <a:extLst xmlns:a="http://schemas.openxmlformats.org/drawingml/2006/main">
              <a:ext uri="{FF2B5EF4-FFF2-40B4-BE49-F238E27FC236}">
                <a16:creationId xmlns:a16="http://schemas.microsoft.com/office/drawing/2014/main" id="{524B362F-E1F9-4913-B267-73C200D3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9" name="foresight-heading-3">
            <a:extLst xmlns:a="http://schemas.openxmlformats.org/drawingml/2006/main">
              <a:ext uri="{FF2B5EF4-FFF2-40B4-BE49-F238E27FC236}">
                <a16:creationId xmlns:a16="http://schemas.microsoft.com/office/drawing/2014/main" id="{DC548B92-4454-42A2-9D6D-F941556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Feasibility, privacy and fallback</a:t>
            </a:r>
          </a:p>
        </p:txBody>
      </p:sp>
      <p:sp>
        <p:nvSpPr>
          <p:cNvPr id="50" name="foresight-body-3">
            <a:extLst xmlns:a="http://schemas.openxmlformats.org/drawingml/2006/main">
              <a:ext uri="{FF2B5EF4-FFF2-40B4-BE49-F238E27FC236}">
                <a16:creationId xmlns:a16="http://schemas.microsoft.com/office/drawing/2014/main" id="{452CD4BE-A3E1-4399-AAF4-6F555999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3390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Risks: cold start, recall bias and year-to-year variation.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Use anonymous, versioned data and confidence labels. Fall back to credit hours or show insufficient data.</a:t>
            </a:r>
          </a:p>
        </p:txBody>
      </p:sp>
    </p:spTree>
    <p:extLst>
      <p:ext uri="{BB962C8B-B14F-4D97-AF65-F5344CB8AC3E}">
        <p14:creationId xmlns:p14="http://schemas.microsoft.com/office/powerpoint/2010/main" val="672484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84CD19-424C-4CFD-97CB-F019449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3. LaunchPad — Problem and New Work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2C5809-87AB-4E83-B379-DE61801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7F9F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F6F2B1B-D99E-43A6-9F9F-EBC8565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5919D2-651A-4015-9DC8-84344B3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Problem and users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9E7A1F4-C45F-477A-AF3B-6B38C5F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Students cannot clearly see company eligibility or evidence-backed skill gaps.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Placement cells lack a current cohort readiness view.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Company criteria change, while resumes remain static and inconsistent.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B7286D-223E-4181-A10A-0D94C0F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New engineering and expected result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D15EC6-AC9D-4D11-ABDF-8A05F53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Structured profile and skill-evidence model.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Versioned company criteria and deterministic eligibility checks.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Gap-derived roadmap and cohort analytics.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Mock-interview scoring remains a stretch feature.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D69A7C-5DCC-456B-B73D-7985B2F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LaunchPad  |  7</a:t>
            </a:r>
          </a:p>
        </p:txBody>
      </p:sp>
    </p:spTree>
    <p:extLst>
      <p:ext uri="{BB962C8B-B14F-4D97-AF65-F5344CB8AC3E}">
        <p14:creationId xmlns:p14="http://schemas.microsoft.com/office/powerpoint/2010/main" val="1585659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13598B-DDAC-4049-9C4B-1849DEA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LaunchPad — System, Validation &amp; Risk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55ABBE6-A72F-443B-A16C-D7C3F8A0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LaunchPad  |  8</a:t>
            </a:r>
          </a:p>
        </p:txBody>
      </p:sp>
      <p:sp>
        <p:nvSpPr>
          <p:cNvPr id="24" name="launchpad-flow-label">
            <a:extLst xmlns:a="http://schemas.openxmlformats.org/drawingml/2006/main">
              <a:ext uri="{FF2B5EF4-FFF2-40B4-BE49-F238E27FC236}">
                <a16:creationId xmlns:a16="http://schemas.microsoft.com/office/drawing/2014/main" id="{61804D94-C654-4F7E-8E02-49171ABC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PROPOSED SYSTEM</a:t>
            </a:r>
          </a:p>
        </p:txBody>
      </p:sp>
      <p:sp>
        <p:nvSpPr>
          <p:cNvPr id="25" name="launchpad-flow-anchor-1">
            <a:extLst xmlns:a="http://schemas.openxmlformats.org/drawingml/2006/main">
              <a:ext uri="{FF2B5EF4-FFF2-40B4-BE49-F238E27FC236}">
                <a16:creationId xmlns:a16="http://schemas.microsoft.com/office/drawing/2014/main" id="{8A5F9774-2519-429B-A4B8-A3763225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launchpad-flow-anchor-2">
            <a:extLst xmlns:a="http://schemas.openxmlformats.org/drawingml/2006/main">
              <a:ext uri="{FF2B5EF4-FFF2-40B4-BE49-F238E27FC236}">
                <a16:creationId xmlns:a16="http://schemas.microsoft.com/office/drawing/2014/main" id="{3E130176-0724-4D4F-89AC-3A1980A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launchpad-flow-anchor-3">
            <a:extLst xmlns:a="http://schemas.openxmlformats.org/drawingml/2006/main">
              <a:ext uri="{FF2B5EF4-FFF2-40B4-BE49-F238E27FC236}">
                <a16:creationId xmlns:a16="http://schemas.microsoft.com/office/drawing/2014/main" id="{15B96B7D-A4D0-4281-A45C-64DF0714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launchpad-flow-anchor-4">
            <a:extLst xmlns:a="http://schemas.openxmlformats.org/drawingml/2006/main">
              <a:ext uri="{FF2B5EF4-FFF2-40B4-BE49-F238E27FC236}">
                <a16:creationId xmlns:a16="http://schemas.microsoft.com/office/drawing/2014/main" id="{953A4C18-6650-4D0B-BABE-2277BFD8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launchpad-flow-anchor-5">
            <a:extLst xmlns:a="http://schemas.openxmlformats.org/drawingml/2006/main">
              <a:ext uri="{FF2B5EF4-FFF2-40B4-BE49-F238E27FC236}">
                <a16:creationId xmlns:a16="http://schemas.microsoft.com/office/drawing/2014/main" id="{6EEE66D1-6890-4DD2-B9A8-445E9C6D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4574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6863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9151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1440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sp>
        <p:nvSpPr>
          <p:cNvPr id="34" name="launchpad-flow-step-1">
            <a:extLst xmlns:a="http://schemas.openxmlformats.org/drawingml/2006/main">
              <a:ext uri="{FF2B5EF4-FFF2-40B4-BE49-F238E27FC236}">
                <a16:creationId xmlns:a16="http://schemas.microsoft.com/office/drawing/2014/main" id="{D09CB97B-E45F-49A2-A7D4-DBA24F04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Student profile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and résumé</a:t>
            </a:r>
          </a:p>
        </p:txBody>
      </p:sp>
      <p:sp>
        <p:nvSpPr>
          <p:cNvPr id="35" name="launchpad-flow-step-2">
            <a:extLst xmlns:a="http://schemas.openxmlformats.org/drawingml/2006/main">
              <a:ext uri="{FF2B5EF4-FFF2-40B4-BE49-F238E27FC236}">
                <a16:creationId xmlns:a16="http://schemas.microsoft.com/office/drawing/2014/main" id="{B98A87A0-220D-4FFE-83A7-7B72A52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Map skill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36" name="launchpad-flow-step-3">
            <a:extLst xmlns:a="http://schemas.openxmlformats.org/drawingml/2006/main">
              <a:ext uri="{FF2B5EF4-FFF2-40B4-BE49-F238E27FC236}">
                <a16:creationId xmlns:a16="http://schemas.microsoft.com/office/drawing/2014/main" id="{61EF5645-9E80-491D-9FE0-216AB69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Apply company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criteria</a:t>
            </a:r>
          </a:p>
        </p:txBody>
      </p:sp>
      <p:sp>
        <p:nvSpPr>
          <p:cNvPr id="37" name="launchpad-flow-step-4">
            <a:extLst xmlns:a="http://schemas.openxmlformats.org/drawingml/2006/main">
              <a:ext uri="{FF2B5EF4-FFF2-40B4-BE49-F238E27FC236}">
                <a16:creationId xmlns:a16="http://schemas.microsoft.com/office/drawing/2014/main" id="{07AA9CCB-A7DC-4C33-8963-A2E74B57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Find eligibility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and gaps</a:t>
            </a:r>
          </a:p>
        </p:txBody>
      </p:sp>
      <p:sp>
        <p:nvSpPr>
          <p:cNvPr id="38" name="launchpad-flow-step-5">
            <a:extLst xmlns:a="http://schemas.openxmlformats.org/drawingml/2006/main">
              <a:ext uri="{FF2B5EF4-FFF2-40B4-BE49-F238E27FC236}">
                <a16:creationId xmlns:a16="http://schemas.microsoft.com/office/drawing/2014/main" id="{0533F851-923A-4413-9D59-B5E91331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68"/>
          </a:solidFill>
          <a:ln xmlns:a="http://schemas.openxmlformats.org/drawingml/2006/main" w="11430">
            <a:solidFill>
              <a:srgbClr val="202B68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 roadmap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 cohort view</a:t>
            </a:r>
          </a:p>
        </p:txBody>
      </p:sp>
      <p:sp>
        <p:nvSpPr>
          <p:cNvPr id="39" name="launchpad-flow-divider">
            <a:extLst xmlns:a="http://schemas.openxmlformats.org/drawingml/2006/main">
              <a:ext uri="{FF2B5EF4-FFF2-40B4-BE49-F238E27FC236}">
                <a16:creationId xmlns:a16="http://schemas.microsoft.com/office/drawing/2014/main" id="{4FA58076-776D-4E1D-A11F-F6DFD926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CE6"/>
            </a:solidFill>
            <a:prstDash val="solid"/>
          </a:ln>
        </p:spPr>
      </p:sp>
      <p:sp>
        <p:nvSpPr>
          <p:cNvPr id="40" name="launchpad-column-divider-1">
            <a:extLst xmlns:a="http://schemas.openxmlformats.org/drawingml/2006/main">
              <a:ext uri="{FF2B5EF4-FFF2-40B4-BE49-F238E27FC236}">
                <a16:creationId xmlns:a16="http://schemas.microsoft.com/office/drawing/2014/main" id="{3C7697F3-2907-4522-A7AB-F540A5C1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1" name="launchpad-column-divider-2">
            <a:extLst xmlns:a="http://schemas.openxmlformats.org/drawingml/2006/main">
              <a:ext uri="{FF2B5EF4-FFF2-40B4-BE49-F238E27FC236}">
                <a16:creationId xmlns:a16="http://schemas.microsoft.com/office/drawing/2014/main" id="{2B573E9E-5F41-4D23-8DE5-4AE2CBEC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2" name="launchpad-accent-1">
            <a:extLst xmlns:a="http://schemas.openxmlformats.org/drawingml/2006/main">
              <a:ext uri="{FF2B5EF4-FFF2-40B4-BE49-F238E27FC236}">
                <a16:creationId xmlns:a16="http://schemas.microsoft.com/office/drawing/2014/main" id="{5BDF1F4D-952A-413E-A963-20EA3963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3" name="launchpad-heading-1">
            <a:extLst xmlns:a="http://schemas.openxmlformats.org/drawingml/2006/main">
              <a:ext uri="{FF2B5EF4-FFF2-40B4-BE49-F238E27FC236}">
                <a16:creationId xmlns:a16="http://schemas.microsoft.com/office/drawing/2014/main" id="{F733D7C0-A24D-4090-B1D2-9B22F16A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Roles and deployment</a:t>
            </a:r>
          </a:p>
        </p:txBody>
      </p:sp>
      <p:sp>
        <p:nvSpPr>
          <p:cNvPr id="44" name="launchpad-body-1">
            <a:extLst xmlns:a="http://schemas.openxmlformats.org/drawingml/2006/main">
              <a:ext uri="{FF2B5EF4-FFF2-40B4-BE49-F238E27FC236}">
                <a16:creationId xmlns:a16="http://schemas.microsoft.com/office/drawing/2014/main" id="{C64BDAE7-7A17-4956-BFD3-27ABC7E5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Ronit — rules and evaluation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Bhavneet — backend and criteria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Shreyas — dashboards and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Department-hosted web application.</a:t>
            </a:r>
          </a:p>
        </p:txBody>
      </p:sp>
      <p:sp>
        <p:nvSpPr>
          <p:cNvPr id="45" name="launchpad-accent-2">
            <a:extLst xmlns:a="http://schemas.openxmlformats.org/drawingml/2006/main">
              <a:ext uri="{FF2B5EF4-FFF2-40B4-BE49-F238E27FC236}">
                <a16:creationId xmlns:a16="http://schemas.microsoft.com/office/drawing/2014/main" id="{49B90DC9-720C-4B02-AFE2-424C26F7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6" name="launchpad-heading-2">
            <a:extLst xmlns:a="http://schemas.openxmlformats.org/drawingml/2006/main">
              <a:ext uri="{FF2B5EF4-FFF2-40B4-BE49-F238E27FC236}">
                <a16:creationId xmlns:a16="http://schemas.microsoft.com/office/drawing/2014/main" id="{003EB7D5-90A9-45BF-94F4-1FAA7953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Validation</a:t>
            </a:r>
          </a:p>
        </p:txBody>
      </p:sp>
      <p:sp>
        <p:nvSpPr>
          <p:cNvPr id="47" name="launchpad-body-2">
            <a:extLst xmlns:a="http://schemas.openxmlformats.org/drawingml/2006/main">
              <a:ext uri="{FF2B5EF4-FFF2-40B4-BE49-F238E27FC236}">
                <a16:creationId xmlns:a16="http://schemas.microsoft.com/office/drawing/2014/main" id="{5941BA77-2B74-40E7-B28D-657E6DEB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Use anonymized résumés and past company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Compare decisions with placement-cell judgement; measure accuracy, false-eligible rate and user checks.</a:t>
            </a:r>
          </a:p>
        </p:txBody>
      </p:sp>
      <p:sp>
        <p:nvSpPr>
          <p:cNvPr id="48" name="launchpad-accent-3">
            <a:extLst xmlns:a="http://schemas.openxmlformats.org/drawingml/2006/main">
              <a:ext uri="{FF2B5EF4-FFF2-40B4-BE49-F238E27FC236}">
                <a16:creationId xmlns:a16="http://schemas.microsoft.com/office/drawing/2014/main" id="{713C8106-B84C-4B71-93BC-828253C9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9" name="launchpad-heading-3">
            <a:extLst xmlns:a="http://schemas.openxmlformats.org/drawingml/2006/main">
              <a:ext uri="{FF2B5EF4-FFF2-40B4-BE49-F238E27FC236}">
                <a16:creationId xmlns:a16="http://schemas.microsoft.com/office/drawing/2014/main" id="{95F7E735-E0B8-4854-ADDD-3F8118A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Feasibility, privacy and fallback</a:t>
            </a:r>
          </a:p>
        </p:txBody>
      </p:sp>
      <p:sp>
        <p:nvSpPr>
          <p:cNvPr id="50" name="launchpad-body-3">
            <a:extLst xmlns:a="http://schemas.openxmlformats.org/drawingml/2006/main">
              <a:ext uri="{FF2B5EF4-FFF2-40B4-BE49-F238E27FC236}">
                <a16:creationId xmlns:a16="http://schemas.microsoft.com/office/drawing/2014/main" id="{39A4BE61-8F95-4375-9F04-03CB86B9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3390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Risks: criteria access, subjective scoring, breadth and résumé privacy.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MVP: eligibility and gaps only, manual criteria import and no stored recordings.</a:t>
            </a:r>
          </a:p>
        </p:txBody>
      </p:sp>
    </p:spTree>
    <p:extLst>
      <p:ext uri="{BB962C8B-B14F-4D97-AF65-F5344CB8AC3E}">
        <p14:creationId xmlns:p14="http://schemas.microsoft.com/office/powerpoint/2010/main" val="672484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84CD19-424C-4CFD-97CB-F019449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4. FoundIt — Problem and New Work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2C5809-87AB-4E83-B379-DE61801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7F9FC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F6F2B1B-D99E-43A6-9F9F-EBC8565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5212080" cy="484632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5919D2-651A-4015-9DC8-84344B35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Problem and users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9E7A1F4-C45F-477A-AF3B-6B38C5F4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Students, hostel staff, and admins handle scattered lost/found reports and uncertain claims.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Vague descriptions make matching difficult.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Existing campus alternatives create a differentiation and adoption challenge.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B7286D-223E-4181-A10A-0D94C0F6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1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New engineering and expected result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D15EC6-AC9D-4D11-ABDF-8A05F53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0280"/>
            <a:ext cx="457200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Structured reports with category, keywords, place, time, and photos.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Transparent ranked matching and notifications.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State machine: reported → matched → verified → returned.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One controlled handover per item.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D69A7C-5DCC-456B-B73D-7985B2F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FoundIt  |  9</a:t>
            </a:r>
          </a:p>
        </p:txBody>
      </p:sp>
    </p:spTree>
    <p:extLst>
      <p:ext uri="{BB962C8B-B14F-4D97-AF65-F5344CB8AC3E}">
        <p14:creationId xmlns:p14="http://schemas.microsoft.com/office/powerpoint/2010/main" val="1585659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13598B-DDAC-4049-9C4B-1849DEA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FoundIt — System, Validation and Risk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55ABBE6-A72F-443B-A16C-D7C3F8A0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AA5B1"/>
                </a:solidFill>
                <a:latin typeface="Calibri"/>
                <a:ea typeface="Calibri"/>
                <a:cs typeface="Calibri"/>
              </a:rPr>
              <a:t>FoundIt  |  10</a:t>
            </a:r>
          </a:p>
        </p:txBody>
      </p:sp>
      <p:sp>
        <p:nvSpPr>
          <p:cNvPr id="24" name="foundit-flow-label">
            <a:extLst xmlns:a="http://schemas.openxmlformats.org/drawingml/2006/main">
              <a:ext uri="{FF2B5EF4-FFF2-40B4-BE49-F238E27FC236}">
                <a16:creationId xmlns:a16="http://schemas.microsoft.com/office/drawing/2014/main" id="{626CBA7E-7CA1-4BAE-ADBA-27368AA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PROPOSED SYSTEM</a:t>
            </a:r>
          </a:p>
        </p:txBody>
      </p:sp>
      <p:sp>
        <p:nvSpPr>
          <p:cNvPr id="25" name="foundit-flow-anchor-1">
            <a:extLst xmlns:a="http://schemas.openxmlformats.org/drawingml/2006/main">
              <a:ext uri="{FF2B5EF4-FFF2-40B4-BE49-F238E27FC236}">
                <a16:creationId xmlns:a16="http://schemas.microsoft.com/office/drawing/2014/main" id="{AE8D4956-02A3-499D-8773-69178D2D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foundit-flow-anchor-2">
            <a:extLst xmlns:a="http://schemas.openxmlformats.org/drawingml/2006/main">
              <a:ext uri="{FF2B5EF4-FFF2-40B4-BE49-F238E27FC236}">
                <a16:creationId xmlns:a16="http://schemas.microsoft.com/office/drawing/2014/main" id="{7EB4842B-6C7D-45C3-AE2E-57A6C93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foundit-flow-anchor-3">
            <a:extLst xmlns:a="http://schemas.openxmlformats.org/drawingml/2006/main">
              <a:ext uri="{FF2B5EF4-FFF2-40B4-BE49-F238E27FC236}">
                <a16:creationId xmlns:a16="http://schemas.microsoft.com/office/drawing/2014/main" id="{9FE0A863-7F5C-48D9-85DF-407E594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oundit-flow-anchor-4">
            <a:extLst xmlns:a="http://schemas.openxmlformats.org/drawingml/2006/main">
              <a:ext uri="{FF2B5EF4-FFF2-40B4-BE49-F238E27FC236}">
                <a16:creationId xmlns:a16="http://schemas.microsoft.com/office/drawing/2014/main" id="{30D3E51B-58CA-41A9-9BBF-405EFEB6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foundit-flow-anchor-5">
            <a:extLst xmlns:a="http://schemas.openxmlformats.org/drawingml/2006/main">
              <a:ext uri="{FF2B5EF4-FFF2-40B4-BE49-F238E27FC236}">
                <a16:creationId xmlns:a16="http://schemas.microsoft.com/office/drawing/2014/main" id="{92E767C2-4EC6-46DB-A374-9A9893C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4574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6863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91515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144000" y="21240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E879D"/>
            </a:solidFill>
            <a:prstDash val="solid"/>
            <a:tailEnd type="triangle" w="sm" len="sm"/>
          </a:ln>
        </p:spPr>
      </p:cxnSp>
      <p:sp>
        <p:nvSpPr>
          <p:cNvPr id="34" name="foundit-flow-step-1">
            <a:extLst xmlns:a="http://schemas.openxmlformats.org/drawingml/2006/main">
              <a:ext uri="{FF2B5EF4-FFF2-40B4-BE49-F238E27FC236}">
                <a16:creationId xmlns:a16="http://schemas.microsoft.com/office/drawing/2014/main" id="{B8F66250-C71C-4673-808E-41342340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Post lost 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found item</a:t>
            </a:r>
          </a:p>
        </p:txBody>
      </p:sp>
      <p:sp>
        <p:nvSpPr>
          <p:cNvPr id="35" name="foundit-flow-step-2">
            <a:extLst xmlns:a="http://schemas.openxmlformats.org/drawingml/2006/main">
              <a:ext uri="{FF2B5EF4-FFF2-40B4-BE49-F238E27FC236}">
                <a16:creationId xmlns:a16="http://schemas.microsoft.com/office/drawing/2014/main" id="{5D68D6A6-B591-41BB-9EB5-111F01DF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Normalize details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and location</a:t>
            </a:r>
          </a:p>
        </p:txBody>
      </p:sp>
      <p:sp>
        <p:nvSpPr>
          <p:cNvPr id="36" name="foundit-flow-step-3">
            <a:extLst xmlns:a="http://schemas.openxmlformats.org/drawingml/2006/main">
              <a:ext uri="{FF2B5EF4-FFF2-40B4-BE49-F238E27FC236}">
                <a16:creationId xmlns:a16="http://schemas.microsoft.com/office/drawing/2014/main" id="{D1B885E5-27E4-4D76-84EA-585E0935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Rank likely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matches</a:t>
            </a:r>
          </a:p>
        </p:txBody>
      </p:sp>
      <p:sp>
        <p:nvSpPr>
          <p:cNvPr id="37" name="foundit-flow-step-4">
            <a:extLst xmlns:a="http://schemas.openxmlformats.org/drawingml/2006/main">
              <a:ext uri="{FF2B5EF4-FFF2-40B4-BE49-F238E27FC236}">
                <a16:creationId xmlns:a16="http://schemas.microsoft.com/office/drawing/2014/main" id="{C37762D9-BFAB-488B-ABE3-C463DF4E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1430">
            <a:solidFill>
              <a:srgbClr val="D7DCE6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Notify and verify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7235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7235B"/>
                </a:solidFill>
                <a:latin typeface="Calibri"/>
                <a:ea typeface="Calibri"/>
                <a:cs typeface="Calibri"/>
              </a:rPr>
              <a:t>the claimant</a:t>
            </a:r>
          </a:p>
        </p:txBody>
      </p:sp>
      <p:sp>
        <p:nvSpPr>
          <p:cNvPr id="38" name="foundit-flow-step-5">
            <a:extLst xmlns:a="http://schemas.openxmlformats.org/drawingml/2006/main">
              <a:ext uri="{FF2B5EF4-FFF2-40B4-BE49-F238E27FC236}">
                <a16:creationId xmlns:a16="http://schemas.microsoft.com/office/drawing/2014/main" id="{9BFA4172-ABC7-4734-950E-18B56DE2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526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68"/>
          </a:solidFill>
          <a:ln xmlns:a="http://schemas.openxmlformats.org/drawingml/2006/main" w="11430">
            <a:solidFill>
              <a:srgbClr val="202B68"/>
            </a:solidFill>
            <a:prstDash val="solid"/>
          </a:ln>
        </p:spPr>
        <p:txBody>
          <a:bodyPr xmlns:a="http://schemas.openxmlformats.org/drawingml/2006/main" wrap="square" lIns="95250" tIns="85725" rIns="95250" bIns="85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Return item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 close case</a:t>
            </a:r>
          </a:p>
        </p:txBody>
      </p:sp>
      <p:sp>
        <p:nvSpPr>
          <p:cNvPr id="39" name="foundit-flow-divider">
            <a:extLst xmlns:a="http://schemas.openxmlformats.org/drawingml/2006/main">
              <a:ext uri="{FF2B5EF4-FFF2-40B4-BE49-F238E27FC236}">
                <a16:creationId xmlns:a16="http://schemas.microsoft.com/office/drawing/2014/main" id="{DBF8F625-3F77-4450-A57C-8DA468D0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7DCE6"/>
            </a:solidFill>
            <a:prstDash val="solid"/>
          </a:ln>
        </p:spPr>
      </p:sp>
      <p:sp>
        <p:nvSpPr>
          <p:cNvPr id="40" name="foundit-column-divider-1">
            <a:extLst xmlns:a="http://schemas.openxmlformats.org/drawingml/2006/main">
              <a:ext uri="{FF2B5EF4-FFF2-40B4-BE49-F238E27FC236}">
                <a16:creationId xmlns:a16="http://schemas.microsoft.com/office/drawing/2014/main" id="{A3BCDAE0-29C4-4A97-BEA0-6C799821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1" name="foundit-column-divider-2">
            <a:extLst xmlns:a="http://schemas.openxmlformats.org/drawingml/2006/main">
              <a:ext uri="{FF2B5EF4-FFF2-40B4-BE49-F238E27FC236}">
                <a16:creationId xmlns:a16="http://schemas.microsoft.com/office/drawing/2014/main" id="{B4FC145F-6005-43A9-B4C6-3F666F1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0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6"/>
            </a:solidFill>
            <a:prstDash val="solid"/>
          </a:ln>
        </p:spPr>
      </p:sp>
      <p:sp>
        <p:nvSpPr>
          <p:cNvPr id="42" name="foundit-accent-1">
            <a:extLst xmlns:a="http://schemas.openxmlformats.org/drawingml/2006/main">
              <a:ext uri="{FF2B5EF4-FFF2-40B4-BE49-F238E27FC236}">
                <a16:creationId xmlns:a16="http://schemas.microsoft.com/office/drawing/2014/main" id="{1E246E6B-14F8-4A0E-BFDF-349A7554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3" name="foundit-heading-1">
            <a:extLst xmlns:a="http://schemas.openxmlformats.org/drawingml/2006/main">
              <a:ext uri="{FF2B5EF4-FFF2-40B4-BE49-F238E27FC236}">
                <a16:creationId xmlns:a16="http://schemas.microsoft.com/office/drawing/2014/main" id="{8DFB5268-59B3-470C-898D-326C2DCF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Roles and deployment</a:t>
            </a:r>
          </a:p>
        </p:txBody>
      </p:sp>
      <p:sp>
        <p:nvSpPr>
          <p:cNvPr id="44" name="foundit-body-1">
            <a:extLst xmlns:a="http://schemas.openxmlformats.org/drawingml/2006/main">
              <a:ext uri="{FF2B5EF4-FFF2-40B4-BE49-F238E27FC236}">
                <a16:creationId xmlns:a16="http://schemas.microsoft.com/office/drawing/2014/main" id="{F0B881B8-1525-46FF-A33C-F8A7902B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Ronit — matching logic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Bhavneet — data, auth and alerts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Shreyas — posting, search and claims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Mobile web app with image storage and email notifications.</a:t>
            </a:r>
          </a:p>
        </p:txBody>
      </p:sp>
      <p:sp>
        <p:nvSpPr>
          <p:cNvPr id="45" name="foundit-accent-2">
            <a:extLst xmlns:a="http://schemas.openxmlformats.org/drawingml/2006/main">
              <a:ext uri="{FF2B5EF4-FFF2-40B4-BE49-F238E27FC236}">
                <a16:creationId xmlns:a16="http://schemas.microsoft.com/office/drawing/2014/main" id="{D6F4C321-41FE-478B-B9E0-3380143A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6" name="foundit-heading-2">
            <a:extLst xmlns:a="http://schemas.openxmlformats.org/drawingml/2006/main">
              <a:ext uri="{FF2B5EF4-FFF2-40B4-BE49-F238E27FC236}">
                <a16:creationId xmlns:a16="http://schemas.microsoft.com/office/drawing/2014/main" id="{14645C17-660E-46AD-80EB-A2B187BE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Validation</a:t>
            </a:r>
          </a:p>
        </p:txBody>
      </p:sp>
      <p:sp>
        <p:nvSpPr>
          <p:cNvPr id="47" name="foundit-body-2">
            <a:extLst xmlns:a="http://schemas.openxmlformats.org/drawingml/2006/main">
              <a:ext uri="{FF2B5EF4-FFF2-40B4-BE49-F238E27FC236}">
                <a16:creationId xmlns:a16="http://schemas.microsoft.com/office/drawing/2014/main" id="{B07F19C6-06A2-4132-8685-6CFC4D55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3238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Use synthetic edge cases followed by a campus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Measure precision@k, false-match rate, claim time and satisfaction; test every state transition and concurrent claim.</a:t>
            </a:r>
          </a:p>
        </p:txBody>
      </p:sp>
      <p:sp>
        <p:nvSpPr>
          <p:cNvPr id="48" name="foundit-accent-3">
            <a:extLst xmlns:a="http://schemas.openxmlformats.org/drawingml/2006/main">
              <a:ext uri="{FF2B5EF4-FFF2-40B4-BE49-F238E27FC236}">
                <a16:creationId xmlns:a16="http://schemas.microsoft.com/office/drawing/2014/main" id="{E0D51261-41C7-4767-A7A7-98BD444B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00"/>
          </a:solidFill>
          <a:ln xmlns:a="http://schemas.openxmlformats.org/drawingml/2006/main" w="0">
            <a:solidFill>
              <a:srgbClr val="D89B00"/>
            </a:solidFill>
            <a:prstDash val="solid"/>
          </a:ln>
        </p:spPr>
      </p:sp>
      <p:sp>
        <p:nvSpPr>
          <p:cNvPr id="49" name="foundit-heading-3">
            <a:extLst xmlns:a="http://schemas.openxmlformats.org/drawingml/2006/main">
              <a:ext uri="{FF2B5EF4-FFF2-40B4-BE49-F238E27FC236}">
                <a16:creationId xmlns:a16="http://schemas.microsoft.com/office/drawing/2014/main" id="{2FC81A9B-8FA2-4458-B2D6-4FE4F8F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35B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7235B"/>
                </a:solidFill>
                <a:latin typeface="Cambria"/>
                <a:ea typeface="Cambria"/>
                <a:cs typeface="Cambria"/>
              </a:rPr>
              <a:t>Feasibility, privacy and fallback</a:t>
            </a:r>
          </a:p>
        </p:txBody>
      </p:sp>
      <p:sp>
        <p:nvSpPr>
          <p:cNvPr id="50" name="foundit-body-3">
            <a:extLst xmlns:a="http://schemas.openxmlformats.org/drawingml/2006/main">
              <a:ext uri="{FF2B5EF4-FFF2-40B4-BE49-F238E27FC236}">
                <a16:creationId xmlns:a16="http://schemas.microsoft.com/office/drawing/2014/main" id="{7AB5B4B5-4C44-4172-AD2F-13AE052C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3390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Risks: adoption, false claims, vague descriptions and existing alternatives.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D303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D3038"/>
                </a:solidFill>
                <a:latin typeface="Calibri"/>
                <a:ea typeface="Calibri"/>
                <a:cs typeface="Calibri"/>
              </a:rPr>
              <a:t>Hide contact details, require admin approval and retain manual search as fallback.</a:t>
            </a:r>
          </a:p>
        </p:txBody>
      </p:sp>
    </p:spTree>
    <p:extLst>
      <p:ext uri="{BB962C8B-B14F-4D97-AF65-F5344CB8AC3E}">
        <p14:creationId xmlns:p14="http://schemas.microsoft.com/office/powerpoint/2010/main" val="6724848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43CCFEF-CFE2-47FF-A968-66B8BA34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5F1C64E-7FBF-456D-8FE2-3B279D54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05A"/>
          </a:solidFill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6c489a9f4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740664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4C13BD0-74FE-4EFC-AA07-05A1557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8640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Ranking — GovAssist First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9A28CD2-411A-42ED-A82D-DD64F2FA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1. GovAssist — selected: versioned rules, deterministic checks, verification, and a clear end-to-end demo.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E446156-DA2F-4071-A23C-4BB051C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05A"/>
          </a:solidFill>
        </p:spPr>
      </p:sp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3200a25ae4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501" y="2315261"/>
            <a:ext cx="307238" cy="307238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44DA9B6-788E-4A3D-BA82-E402EF3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4884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Foresight — strongest algorithmic alternative; ranked lower because the historical dataset must be created first.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D73C205-F878-4BB4-A169-D60EF750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05A"/>
          </a:solidFill>
        </p:spPr>
      </p:sp>
      <p:pic>
        <p:nvPicPr>
          <p:cNvPr id="3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874a281564b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501" y="3229661"/>
            <a:ext cx="307238" cy="307238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D477032-BDD1-4DA1-AD7E-150658AF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06324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LaunchPad — measurable user value, but institutional data access and original feature breadth create delivery risk.</a:t>
            </a: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6392D128-9E2C-4C91-A68F-B06D88F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05A"/>
          </a:solidFill>
        </p:spPr>
      </p:sp>
      <p:pic>
        <p:nvPicPr>
          <p:cNvPr id="3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6c489a9f4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501" y="4144061"/>
            <a:ext cx="307238" cy="30723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C1964837-C8F9-45CE-B26A-36EDBABB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97764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FoundIt — easiest to build and test, but lowest differentiation and highest adoption risk at our campus.</a:t>
            </a:r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C782D8B9-6885-47E2-9ADE-0DE125C4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Choose GovAssist: it gives all three members distinct engineering ownership and supports a convincing demo—source input → versioned rule → decision → verification → cited evidence.</a:t>
            </a:r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BD13140A-758A-43CC-8700-7DD72DA3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64739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8FA3D9"/>
                </a:solidFill>
                <a:latin typeface="Calibri"/>
                <a:ea typeface="Calibri"/>
                <a:cs typeface="Calibri"/>
              </a:rPr>
              <a:t>Project Grid  |  11</a:t>
            </a:r>
          </a:p>
        </p:txBody>
      </p:sp>
    </p:spTree>
    <p:extLst>
      <p:ext uri="{BB962C8B-B14F-4D97-AF65-F5344CB8AC3E}">
        <p14:creationId xmlns:p14="http://schemas.microsoft.com/office/powerpoint/2010/main" val="14166976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2026-08-05T05:35:01.3690000Z</dcterms:created>
  <dcterms:modified xsi:type="dcterms:W3CDTF">2026-08-05T05:35:01.3700000Z</dcterms:modified>
</coreProperties>
</file>